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version: Apex Flow is a full-stack transport &amp; logistics system — Flask REST API, vanilla-JS front end, dual-engine SQL database — that I used as a vehicle for two things beyond CRUD: a documented 15-finding security remediation, and a CI agent that observes my Render deployments and diagnoses failures. I verified every claim in this deck by running the code in a sandbox, not by reading the README.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here: the repository contains no user research or market analysis. The problem statement is derived from the module set and the RBAC roles, and the motivation is engineering-led. Say that plainly — a professor rewards it more than an invented startup story.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boxes left to right in one breath: a person picks a role, the browser calls a JSON API, the service layer turns a request into four coherent writes, and the outputs are a KPI dashboard, live telemetry and an OTP-gated delivery event. Do not oversell: the telemetry at the end of this chain is simulated.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layer at a time. Say what is real: five layers in one process — there is no separate API server, no cache, no queue, no worker. The only external service is Render's API, called by CI (never by the app). Point at the red dashed arrow: the observer reads the same log stream the logger writes, which is the closed loop of the ops automation.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item, give the reason visible in the code, not the generic reason. Flask: because 26 routes and a session are all that was needed, and it also serves the static client. Vanilla JS: zero build step, so the repo can be served by any static host. secrets module: it is the only correct way to make an OTP. Gunicorn: Render's Procfile. psycopg2: optional, behind a runtime branch. dotenv: config.py imports it inside try/except so the app still boots without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to make: the layering is real and visible in the file list — routes contain no SQL, services contain no HTTP, logger is the only module that formats anything for humans. Also own the imbalance: 1,914 lines of backend against 3,241 lines of ops automation, docs and configuration — and zero lines of tests.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POST /api/shipments end to end — it is the only flow that touches every layer. Emphasise steps 3 and 5: authorisation is decorator-based and the cost/status fields are re-derived server-side, which is the F-02 fix. Then mention the second flow (PUT /shipments/:id/status) is only 4 steps long, which is why it has no state-machine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decisions to defend. (1) Authorisation is decorator-based, so protection is a property of the route definition rather than of handler discipline — and the Semgrep rule enforces it on routes.py. (2) Client input is filtered through an explicit field allowlist, and status/payment/cost are then re-derived — the classic mass-assignment fix. If asked 'why not a serialiser library?', answer: the repo chose zero-dependency validation and pays for it with hand-written checks (slide 14 shows the bug that creates).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complete feature in the repo: generation, storage, transport-invisible, verification, brute-force limits, expiry, and a cross-table cascade. Walk the four boxes, then the code, then read the measured output verbatim. If asked 'how does the customer learn the OTP?', answer honestly: there is no delivery channel — in this build the code is shown to the ops staff on the Deliveries page, which is why the API must not return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pieces of logic, and I label which are real. (1) The lifecycle: legal values are enforced by a SQL CHECK, but there is no transition table — I measured Delivered → Booked returning 200. (2) Pricing: real formula, but hash() is salted per process, so the invoice is not reproducible — 7 runs, ₹21 845 to ₹23 042. (3) Tracking: a clock-driven interpolation, proven by 10 % → 14 % in 4 s across all trucks. (4) Route 'optimisation': a table lookup then a string-length heuristic, 430 km for Ludhiana → Chennai. Say 'simulation' out loud for 3 and 4; do not let the audience discover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of the repo that is not a CRUD app: 1,121 lines of stdlib-only Python that read a deployment's logs and classify them. Present it as an experiment in bounded automation. Be explicit that the 'fix' stage currently only classifies and reports — I verified no code path mutates a file, so the PR branch never triggers. The escalation half does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as a feature list — read it as a three-column verdict: what the code claims, what I could prove by running it, and what is genuinely missing. The three amber rows are where the audit's fixes are incomplete, and those are the ones worth discussing with the professor.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headline: there are zero automated tests in this repository. What exists instead is a strong static-analysis pipeline — that is a real engineering choice, but it is not testing, and the CI job that looks like a test job exits 0 when tests/ is missing. Say this before the professor finds it; it converts a weakness into evidence of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separates me from a student who only read the README. Every row was executed against a live instance. Read three rows out loud: the mass-assignment neutralisation (works), the login rate limit (documented but not enforced), and the FK-then-lock cascade (a real bug with a real root cause). Offer the reproduction script if asked.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decisions, each with the cost named. The rule I want to leave with the committee: every one of these was chosen to keep the dependency count and the moving parts low, and in three cases that choice is exactly what produced the bug I found.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buckets of real gaps, each with a reproduction or a line reference. The fourth card separates scope decisions from defects — a simulation you label is a choice, a simulation you present as live data is a lie. If challenged on any single bullet, give the file, the command, and what came back.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item is scoped so it can be finished, and each one removes a bullet from the previous slide — that is the point of the pairing. If asked 'why that order?', answer: user-visible breakage, then verifiability, then hardening, then scale. Item 6 is the honest one: my own ops agent has a stage that cannot succeed, and I would rather delete it than describe it as working.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 seconds, four sentences, then stop. (1) What it is: a Flask API, a 15-page vanilla client and a dual-engine database for one logistics lifecycle. (2) What it is not: a dispatch system with live telemetry — the tracking is a clock and the pricing is a formula, and I labelled both. (3) What the measurements bought: they converted a feature list into evidence, and they found three bugs I could not have seen by reading — a customer booking that 500s, a rate limit that never fires, and a write path that locks itself after one failure. (4) What I take away: documentation is not enforcement; a control I have not made fail is a control I have not tested. If asked ‘what did you learn?’, give the second half of that sentence, not a general lesson about full-stack development. Then say: ‘I can reproduce any number on these slides in about two minutes’ — and mean it: docs/PRESENTATION-NOTES.md § 9 is the script. Do not add a fifth sentence.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1B39"/>
        </a:solidFill>
        <a:effectLst/>
      </p:bgPr>
    </p:bg>
    <p:spTree>
      <p:nvGrpSpPr>
        <p:cNvPr id="1" name=""/>
        <p:cNvGrpSpPr/>
        <p:nvPr/>
      </p:nvGrpSpPr>
      <p:grpSpPr/>
      <p:sp>
        <p:nvSpPr>
          <p:cNvPr id="2" name="Rounded Rectangle 1"/>
          <p:cNvSpPr/>
          <p:nvPr/>
        </p:nvSpPr>
        <p:spPr>
          <a:xfrm>
            <a:off x="457200" y="566928"/>
            <a:ext cx="11277295"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1000" b="0">
                <a:solidFill>
                  <a:srgbClr val="8FC4F5"/>
                </a:solidFill>
                <a:latin typeface="Segoe UI"/>
              </a:rPr>
              <a:t>TECHNICAL PROJECT PRESENTATION · ACADEMIC DEFENCE</a:t>
            </a:r>
          </a:p>
        </p:txBody>
      </p:sp>
      <p:sp>
        <p:nvSpPr>
          <p:cNvPr id="3" name="Rounded Rectangle 2"/>
          <p:cNvSpPr/>
          <p:nvPr/>
        </p:nvSpPr>
        <p:spPr>
          <a:xfrm>
            <a:off x="457200" y="932688"/>
            <a:ext cx="11277295" cy="120700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ctr">
              <a:lnSpc>
                <a:spcPct val="95000"/>
              </a:lnSpc>
            </a:pPr>
            <a:r>
              <a:rPr sz="6400" b="1">
                <a:solidFill>
                  <a:srgbClr val="FFFFFF"/>
                </a:solidFill>
                <a:latin typeface="Segoe UI"/>
              </a:rPr>
              <a:t>APEX </a:t>
            </a:r>
            <a:r>
              <a:rPr sz="6400" b="1">
                <a:solidFill>
                  <a:srgbClr val="0789FF"/>
                </a:solidFill>
                <a:latin typeface="Segoe UI"/>
              </a:rPr>
              <a:t>FLOW</a:t>
            </a:r>
          </a:p>
        </p:txBody>
      </p:sp>
      <p:sp>
        <p:nvSpPr>
          <p:cNvPr id="4" name="Rounded Rectangle 3"/>
          <p:cNvSpPr/>
          <p:nvPr/>
        </p:nvSpPr>
        <p:spPr>
          <a:xfrm>
            <a:off x="457200" y="2212848"/>
            <a:ext cx="9692640" cy="60502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24000"/>
              </a:lnSpc>
              <a:spcBef>
                <a:spcPts val="0"/>
              </a:spcBef>
              <a:spcAft>
                <a:spcPts val="0"/>
              </a:spcAft>
            </a:pPr>
            <a:r>
              <a:rPr sz="1500" b="0">
                <a:solidFill>
                  <a:srgbClr val="C5D8EE"/>
                </a:solidFill>
                <a:latin typeface="Segoe UI"/>
              </a:rPr>
              <a:t>Smart Transport &amp; Logistics System — a Flask REST API, a framework-free web client,</a:t>
            </a:r>
          </a:p>
          <a:p>
            <a:pPr algn="l">
              <a:lnSpc>
                <a:spcPct val="124000"/>
              </a:lnSpc>
              <a:spcBef>
                <a:spcPts val="0"/>
              </a:spcBef>
              <a:spcAft>
                <a:spcPts val="0"/>
              </a:spcAft>
            </a:pPr>
            <a:r>
              <a:rPr sz="1500" b="0">
                <a:solidFill>
                  <a:srgbClr val="C5D8EE"/>
                </a:solidFill>
                <a:latin typeface="Segoe UI"/>
              </a:rPr>
              <a:t> and a self-diagnosing deployment pipeline.</a:t>
            </a:r>
          </a:p>
        </p:txBody>
      </p:sp>
      <p:sp>
        <p:nvSpPr>
          <p:cNvPr id="5" name="Rounded Rectangle 4"/>
          <p:cNvSpPr/>
          <p:nvPr/>
        </p:nvSpPr>
        <p:spPr>
          <a:xfrm>
            <a:off x="457200" y="3000755"/>
            <a:ext cx="1042416" cy="274320"/>
          </a:xfrm>
          <a:prstGeom prst="roundRect">
            <a:avLst>
              <a:gd name="adj" fmla="val 42000"/>
            </a:avLst>
          </a:prstGeom>
          <a:solidFill>
            <a:srgbClr val="0E2C4E"/>
          </a:solidFill>
          <a:ln w="9525">
            <a:solidFill>
              <a:srgbClr val="254A7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r>
              <a:rPr sz="950">
                <a:solidFill>
                  <a:srgbClr val="BFD9F2"/>
                </a:solidFill>
                <a:latin typeface="Segoe UI"/>
              </a:rPr>
              <a:t>Flask 2.3+</a:t>
            </a:r>
          </a:p>
        </p:txBody>
      </p:sp>
      <p:sp>
        <p:nvSpPr>
          <p:cNvPr id="6" name="Rounded Rectangle 5"/>
          <p:cNvSpPr/>
          <p:nvPr/>
        </p:nvSpPr>
        <p:spPr>
          <a:xfrm>
            <a:off x="1600200" y="3000755"/>
            <a:ext cx="1042416" cy="274320"/>
          </a:xfrm>
          <a:prstGeom prst="roundRect">
            <a:avLst>
              <a:gd name="adj" fmla="val 42000"/>
            </a:avLst>
          </a:prstGeom>
          <a:solidFill>
            <a:srgbClr val="0E2C4E"/>
          </a:solidFill>
          <a:ln w="9525">
            <a:solidFill>
              <a:srgbClr val="254A7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r>
              <a:rPr sz="950">
                <a:solidFill>
                  <a:srgbClr val="BFD9F2"/>
                </a:solidFill>
                <a:latin typeface="Segoe UI"/>
              </a:rPr>
              <a:t>Vanilla JS</a:t>
            </a:r>
          </a:p>
        </p:txBody>
      </p:sp>
      <p:sp>
        <p:nvSpPr>
          <p:cNvPr id="7" name="Rounded Rectangle 6"/>
          <p:cNvSpPr/>
          <p:nvPr/>
        </p:nvSpPr>
        <p:spPr>
          <a:xfrm>
            <a:off x="2743200" y="3000755"/>
            <a:ext cx="1717243" cy="274320"/>
          </a:xfrm>
          <a:prstGeom prst="roundRect">
            <a:avLst>
              <a:gd name="adj" fmla="val 42000"/>
            </a:avLst>
          </a:prstGeom>
          <a:solidFill>
            <a:srgbClr val="0E2C4E"/>
          </a:solidFill>
          <a:ln w="9525">
            <a:solidFill>
              <a:srgbClr val="254A7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r>
              <a:rPr sz="950">
                <a:solidFill>
                  <a:srgbClr val="BFD9F2"/>
                </a:solidFill>
                <a:latin typeface="Segoe UI"/>
              </a:rPr>
              <a:t>SQLite · PostgreSQL</a:t>
            </a:r>
          </a:p>
        </p:txBody>
      </p:sp>
      <p:sp>
        <p:nvSpPr>
          <p:cNvPr id="8" name="Rounded Rectangle 7"/>
          <p:cNvSpPr/>
          <p:nvPr/>
        </p:nvSpPr>
        <p:spPr>
          <a:xfrm>
            <a:off x="4561027" y="3000755"/>
            <a:ext cx="1342339" cy="274320"/>
          </a:xfrm>
          <a:prstGeom prst="roundRect">
            <a:avLst>
              <a:gd name="adj" fmla="val 42000"/>
            </a:avLst>
          </a:prstGeom>
          <a:solidFill>
            <a:srgbClr val="0E2C4E"/>
          </a:solidFill>
          <a:ln w="9525">
            <a:solidFill>
              <a:srgbClr val="254A7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r>
              <a:rPr sz="950">
                <a:solidFill>
                  <a:srgbClr val="BFD9F2"/>
                </a:solidFill>
                <a:latin typeface="Segoe UI"/>
              </a:rPr>
              <a:t>GitHub Actions</a:t>
            </a:r>
          </a:p>
        </p:txBody>
      </p:sp>
      <p:sp>
        <p:nvSpPr>
          <p:cNvPr id="9" name="Rounded Rectangle 8"/>
          <p:cNvSpPr/>
          <p:nvPr/>
        </p:nvSpPr>
        <p:spPr>
          <a:xfrm>
            <a:off x="6003950" y="3000755"/>
            <a:ext cx="742492" cy="274320"/>
          </a:xfrm>
          <a:prstGeom prst="roundRect">
            <a:avLst>
              <a:gd name="adj" fmla="val 42000"/>
            </a:avLst>
          </a:prstGeom>
          <a:solidFill>
            <a:srgbClr val="0E2C4E"/>
          </a:solidFill>
          <a:ln w="9525">
            <a:solidFill>
              <a:srgbClr val="254A7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r>
              <a:rPr sz="950">
                <a:solidFill>
                  <a:srgbClr val="BFD9F2"/>
                </a:solidFill>
                <a:latin typeface="Segoe UI"/>
              </a:rPr>
              <a:t>Render</a:t>
            </a:r>
          </a:p>
        </p:txBody>
      </p:sp>
      <p:sp>
        <p:nvSpPr>
          <p:cNvPr id="10" name="Rounded Rectangle 9"/>
          <p:cNvSpPr/>
          <p:nvPr/>
        </p:nvSpPr>
        <p:spPr>
          <a:xfrm>
            <a:off x="457200" y="3494531"/>
            <a:ext cx="2599867" cy="56692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0"/>
          <a:lstStyle/>
          <a:p>
            <a:pPr algn="l">
              <a:lnSpc>
                <a:spcPct val="100000"/>
              </a:lnSpc>
              <a:spcBef>
                <a:spcPts val="0"/>
              </a:spcBef>
              <a:spcAft>
                <a:spcPts val="0"/>
              </a:spcAft>
            </a:pPr>
            <a:r>
              <a:rPr sz="860" b="0">
                <a:solidFill>
                  <a:srgbClr val="7FA6CC"/>
                </a:solidFill>
                <a:latin typeface="Segoe UI"/>
              </a:rPr>
              <a:t>REPOSITORY</a:t>
            </a:r>
          </a:p>
          <a:p>
            <a:pPr algn="l">
              <a:lnSpc>
                <a:spcPct val="100000"/>
              </a:lnSpc>
              <a:spcBef>
                <a:spcPts val="250"/>
              </a:spcBef>
              <a:spcAft>
                <a:spcPts val="0"/>
              </a:spcAft>
            </a:pPr>
            <a:r>
              <a:rPr sz="1150" b="0">
                <a:solidFill>
                  <a:srgbClr val="FFFFFF"/>
                </a:solidFill>
                <a:latin typeface="Segoe UI"/>
              </a:rPr>
              <a:t>nandan503/Apex-Flow</a:t>
            </a:r>
          </a:p>
        </p:txBody>
      </p:sp>
      <p:sp>
        <p:nvSpPr>
          <p:cNvPr id="11" name="Rounded Rectangle 10"/>
          <p:cNvSpPr/>
          <p:nvPr/>
        </p:nvSpPr>
        <p:spPr>
          <a:xfrm>
            <a:off x="3276523" y="3494531"/>
            <a:ext cx="2599867" cy="56692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0"/>
          <a:lstStyle/>
          <a:p>
            <a:pPr algn="l">
              <a:lnSpc>
                <a:spcPct val="100000"/>
              </a:lnSpc>
              <a:spcBef>
                <a:spcPts val="0"/>
              </a:spcBef>
              <a:spcAft>
                <a:spcPts val="0"/>
              </a:spcAft>
            </a:pPr>
            <a:r>
              <a:rPr sz="860" b="0">
                <a:solidFill>
                  <a:srgbClr val="7FA6CC"/>
                </a:solidFill>
                <a:latin typeface="Segoe UI"/>
              </a:rPr>
              <a:t>STUDENT</a:t>
            </a:r>
          </a:p>
          <a:p>
            <a:pPr algn="l">
              <a:lnSpc>
                <a:spcPct val="100000"/>
              </a:lnSpc>
              <a:spcBef>
                <a:spcPts val="250"/>
              </a:spcBef>
              <a:spcAft>
                <a:spcPts val="0"/>
              </a:spcAft>
            </a:pPr>
            <a:r>
              <a:rPr sz="1150" b="0">
                <a:solidFill>
                  <a:srgbClr val="F59E0B"/>
                </a:solidFill>
                <a:latin typeface="Segoe UI"/>
              </a:rPr>
              <a:t>&lt;your name&gt;</a:t>
            </a:r>
          </a:p>
        </p:txBody>
      </p:sp>
      <p:sp>
        <p:nvSpPr>
          <p:cNvPr id="12" name="Rounded Rectangle 11"/>
          <p:cNvSpPr/>
          <p:nvPr/>
        </p:nvSpPr>
        <p:spPr>
          <a:xfrm>
            <a:off x="6095847" y="3494531"/>
            <a:ext cx="2599867" cy="56692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0"/>
          <a:lstStyle/>
          <a:p>
            <a:pPr algn="l">
              <a:lnSpc>
                <a:spcPct val="100000"/>
              </a:lnSpc>
              <a:spcBef>
                <a:spcPts val="0"/>
              </a:spcBef>
              <a:spcAft>
                <a:spcPts val="0"/>
              </a:spcAft>
            </a:pPr>
            <a:r>
              <a:rPr sz="860" b="0">
                <a:solidFill>
                  <a:srgbClr val="7FA6CC"/>
                </a:solidFill>
                <a:latin typeface="Segoe UI"/>
              </a:rPr>
              <a:t>COURSE · INSTITUTION</a:t>
            </a:r>
          </a:p>
          <a:p>
            <a:pPr algn="l">
              <a:lnSpc>
                <a:spcPct val="100000"/>
              </a:lnSpc>
              <a:spcBef>
                <a:spcPts val="250"/>
              </a:spcBef>
              <a:spcAft>
                <a:spcPts val="0"/>
              </a:spcAft>
            </a:pPr>
            <a:r>
              <a:rPr sz="1150" b="0">
                <a:solidFill>
                  <a:srgbClr val="F59E0B"/>
                </a:solidFill>
                <a:latin typeface="Segoe UI"/>
              </a:rPr>
              <a:t>&lt;fill in&gt;</a:t>
            </a:r>
          </a:p>
        </p:txBody>
      </p:sp>
      <p:sp>
        <p:nvSpPr>
          <p:cNvPr id="13" name="Rounded Rectangle 12"/>
          <p:cNvSpPr/>
          <p:nvPr/>
        </p:nvSpPr>
        <p:spPr>
          <a:xfrm>
            <a:off x="8915171" y="3494531"/>
            <a:ext cx="2599867" cy="56692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0"/>
          <a:lstStyle/>
          <a:p>
            <a:pPr algn="l">
              <a:lnSpc>
                <a:spcPct val="100000"/>
              </a:lnSpc>
              <a:spcBef>
                <a:spcPts val="0"/>
              </a:spcBef>
              <a:spcAft>
                <a:spcPts val="0"/>
              </a:spcAft>
            </a:pPr>
            <a:r>
              <a:rPr sz="860" b="0">
                <a:solidFill>
                  <a:srgbClr val="7FA6CC"/>
                </a:solidFill>
                <a:latin typeface="Segoe UI"/>
              </a:rPr>
              <a:t>REVIEWER</a:t>
            </a:r>
          </a:p>
          <a:p>
            <a:pPr algn="l">
              <a:lnSpc>
                <a:spcPct val="100000"/>
              </a:lnSpc>
              <a:spcBef>
                <a:spcPts val="250"/>
              </a:spcBef>
              <a:spcAft>
                <a:spcPts val="0"/>
              </a:spcAft>
            </a:pPr>
            <a:r>
              <a:rPr sz="1150" b="0">
                <a:solidFill>
                  <a:srgbClr val="F59E0B"/>
                </a:solidFill>
                <a:latin typeface="Segoe UI"/>
              </a:rPr>
              <a:t>&lt;professor&gt;</a:t>
            </a:r>
          </a:p>
        </p:txBody>
      </p:sp>
      <p:sp>
        <p:nvSpPr>
          <p:cNvPr id="14" name="Rounded Rectangle 13"/>
          <p:cNvSpPr/>
          <p:nvPr/>
        </p:nvSpPr>
        <p:spPr>
          <a:xfrm>
            <a:off x="457200" y="4098036"/>
            <a:ext cx="932688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1">
                <a:solidFill>
                  <a:srgbClr val="F59E0B"/>
                </a:solidFill>
                <a:latin typeface="Segoe UI"/>
              </a:rPr>
              <a:t>⚠ placeholders still unfilled — set META at presentation/deck.js:10 before presenting</a:t>
            </a:r>
          </a:p>
        </p:txBody>
      </p:sp>
      <p:sp>
        <p:nvSpPr>
          <p:cNvPr id="15" name="Rounded Rectangle 14"/>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9BB6D2"/>
                </a:solidFill>
                <a:latin typeface="Segoe UI"/>
              </a:rPr>
              <a:t>Every technical claim in these slides was checked against the repository, and the runtime behaviour was measured against a live instance (12 Sep 2026).</a:t>
            </a:r>
            <a:r>
              <a:rPr sz="830" b="0">
                <a:solidFill>
                  <a:srgbClr val="7FA8D0"/>
                </a:solidFill>
                <a:latin typeface="Consolas"/>
              </a:rPr>
              <a:t>   ·   1,914</a:t>
            </a:r>
            <a:r>
              <a:rPr sz="830" b="0">
                <a:solidFill>
                  <a:srgbClr val="9BB6D2"/>
                </a:solidFill>
                <a:latin typeface="Segoe UI"/>
              </a:rPr>
              <a:t>backend LOC</a:t>
            </a:r>
            <a:r>
              <a:rPr sz="830" b="0">
                <a:solidFill>
                  <a:srgbClr val="7FA8D0"/>
                </a:solidFill>
                <a:latin typeface="Consolas"/>
              </a:rPr>
              <a:t>   ·   26</a:t>
            </a:r>
            <a:r>
              <a:rPr sz="830" b="0">
                <a:solidFill>
                  <a:srgbClr val="9BB6D2"/>
                </a:solidFill>
                <a:latin typeface="Segoe UI"/>
              </a:rPr>
              <a:t>API endpoints</a:t>
            </a:r>
            <a:r>
              <a:rPr sz="830" b="0">
                <a:solidFill>
                  <a:srgbClr val="7FA8D0"/>
                </a:solidFill>
                <a:latin typeface="Consolas"/>
              </a:rPr>
              <a:t>   ·   12</a:t>
            </a:r>
            <a:r>
              <a:rPr sz="830" b="0">
                <a:solidFill>
                  <a:srgbClr val="9BB6D2"/>
                </a:solidFill>
                <a:latin typeface="Segoe UI"/>
              </a:rPr>
              <a:t>tables</a:t>
            </a:r>
            <a:r>
              <a:rPr sz="830" b="0">
                <a:solidFill>
                  <a:srgbClr val="7FA8D0"/>
                </a:solidFill>
                <a:latin typeface="Consolas"/>
              </a:rPr>
              <a:t>   ·   15</a:t>
            </a:r>
            <a:r>
              <a:rPr sz="830" b="0">
                <a:solidFill>
                  <a:srgbClr val="9BB6D2"/>
                </a:solidFill>
                <a:latin typeface="Segoe UI"/>
              </a:rPr>
              <a:t>UI pages</a:t>
            </a:r>
          </a:p>
        </p:txBody>
      </p:sp>
      <p:sp>
        <p:nvSpPr>
          <p:cNvPr id="16" name="Rounded Rectangle 15"/>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493B4"/>
                </a:solidFill>
                <a:latin typeface="Consolas"/>
              </a:rPr>
              <a:t>01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01 · PROBLEM &amp; MOTIVATION</a:t>
            </a:r>
          </a:p>
        </p:txBody>
      </p:sp>
      <p:sp>
        <p:nvSpPr>
          <p:cNvPr id="3" name="Rounded Rectangle 2"/>
          <p:cNvSpPr/>
          <p:nvPr/>
        </p:nvSpPr>
        <p:spPr>
          <a:xfrm>
            <a:off x="457200" y="512064"/>
            <a:ext cx="11277295" cy="621792"/>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000" b="0">
                <a:solidFill>
                  <a:srgbClr val="062B57"/>
                </a:solidFill>
                <a:latin typeface="Segoe UI"/>
              </a:rPr>
              <a:t>Logistics operations are usually spread across a spreadsheet,</a:t>
            </a:r>
          </a:p>
          <a:p>
            <a:pPr algn="l">
              <a:lnSpc>
                <a:spcPct val="98000"/>
              </a:lnSpc>
              <a:spcBef>
                <a:spcPts val="0"/>
              </a:spcBef>
              <a:spcAft>
                <a:spcPts val="0"/>
              </a:spcAft>
            </a:pPr>
            <a:r>
              <a:rPr sz="2000" b="0">
                <a:solidFill>
                  <a:srgbClr val="062B57"/>
                </a:solidFill>
                <a:latin typeface="Segoe UI"/>
              </a:rPr>
              <a:t>a phone call, and someone's memory</a:t>
            </a:r>
          </a:p>
        </p:txBody>
      </p:sp>
      <p:sp>
        <p:nvSpPr>
          <p:cNvPr id="4" name="Rounded Rectangle 3"/>
          <p:cNvSpPr/>
          <p:nvPr/>
        </p:nvSpPr>
        <p:spPr>
          <a:xfrm>
            <a:off x="457200" y="1170432"/>
            <a:ext cx="11277295" cy="49783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22000"/>
              </a:lnSpc>
              <a:spcBef>
                <a:spcPts val="0"/>
              </a:spcBef>
              <a:spcAft>
                <a:spcPts val="0"/>
              </a:spcAft>
            </a:pPr>
            <a:r>
              <a:rPr sz="1250" b="0">
                <a:solidFill>
                  <a:srgbClr val="334C6B"/>
                </a:solidFill>
                <a:latin typeface="Segoe UI"/>
              </a:rPr>
              <a:t>The repository's module set defines the pain it targets: a shipment needs a </a:t>
            </a:r>
            <a:r>
              <a:rPr sz="1250" b="1">
                <a:solidFill>
                  <a:srgbClr val="334C6B"/>
                </a:solidFill>
                <a:latin typeface="Segoe UI"/>
              </a:rPr>
              <a:t>vehicle</a:t>
            </a:r>
            <a:r>
              <a:rPr sz="1250" b="0">
                <a:solidFill>
                  <a:srgbClr val="334C6B"/>
                </a:solidFill>
                <a:latin typeface="Segoe UI"/>
              </a:rPr>
              <a:t>, a </a:t>
            </a:r>
            <a:r>
              <a:rPr sz="1250" b="1">
                <a:solidFill>
                  <a:srgbClr val="334C6B"/>
                </a:solidFill>
                <a:latin typeface="Segoe UI"/>
              </a:rPr>
              <a:t>driver</a:t>
            </a:r>
            <a:r>
              <a:rPr sz="1250" b="0">
                <a:solidFill>
                  <a:srgbClr val="334C6B"/>
                </a:solidFill>
                <a:latin typeface="Segoe UI"/>
              </a:rPr>
              <a:t>, a </a:t>
            </a:r>
            <a:r>
              <a:rPr sz="1250" b="1">
                <a:solidFill>
                  <a:srgbClr val="334C6B"/>
                </a:solidFill>
                <a:latin typeface="Segoe UI"/>
              </a:rPr>
              <a:t>route</a:t>
            </a:r>
            <a:r>
              <a:rPr sz="1250" b="0">
                <a:solidFill>
                  <a:srgbClr val="334C6B"/>
                </a:solidFill>
                <a:latin typeface="Segoe UI"/>
              </a:rPr>
              <a:t>, a </a:t>
            </a:r>
            <a:r>
              <a:rPr sz="1250" b="1">
                <a:solidFill>
                  <a:srgbClr val="334C6B"/>
                </a:solidFill>
                <a:latin typeface="Segoe UI"/>
              </a:rPr>
              <a:t>proof of delivery</a:t>
            </a:r>
            <a:r>
              <a:rPr sz="1250" b="0">
                <a:solidFill>
                  <a:srgbClr val="334C6B"/>
                </a:solidFill>
                <a:latin typeface="Segoe UI"/>
              </a:rPr>
              <a:t>, an </a:t>
            </a:r>
            <a:r>
              <a:rPr sz="1250" b="1">
                <a:solidFill>
                  <a:srgbClr val="334C6B"/>
                </a:solidFill>
                <a:latin typeface="Segoe UI"/>
              </a:rPr>
              <a:t>invoice</a:t>
            </a:r>
            <a:r>
              <a:rPr sz="1250" b="0">
                <a:solidFill>
                  <a:srgbClr val="334C6B"/>
                </a:solidFill>
                <a:latin typeface="Segoe UI"/>
              </a:rPr>
              <a:t>, and a </a:t>
            </a:r>
            <a:r>
              <a:rPr sz="1250" b="1">
                <a:solidFill>
                  <a:srgbClr val="334C6B"/>
                </a:solidFill>
                <a:latin typeface="Segoe UI"/>
              </a:rPr>
              <a:t>status trail</a:t>
            </a:r>
            <a:r>
              <a:rPr sz="1250" b="0">
                <a:solidFill>
                  <a:srgbClr val="334C6B"/>
                </a:solidFill>
                <a:latin typeface="Segoe UI"/>
              </a:rPr>
              <a:t> — and those five artefacts normally live in five different places.</a:t>
            </a:r>
          </a:p>
        </p:txBody>
      </p:sp>
      <p:sp>
        <p:nvSpPr>
          <p:cNvPr id="5" name="Rounded Rectangle 4"/>
          <p:cNvSpPr/>
          <p:nvPr/>
        </p:nvSpPr>
        <p:spPr>
          <a:xfrm>
            <a:off x="457200" y="1723136"/>
            <a:ext cx="5638647" cy="99193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6" name="Rounded Rectangle 5"/>
          <p:cNvSpPr/>
          <p:nvPr/>
        </p:nvSpPr>
        <p:spPr>
          <a:xfrm>
            <a:off x="585216" y="1814576"/>
            <a:ext cx="5400903" cy="19110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PROBLEM 1</a:t>
            </a:r>
          </a:p>
        </p:txBody>
      </p:sp>
      <p:sp>
        <p:nvSpPr>
          <p:cNvPr id="7" name="Rounded Rectangle 6"/>
          <p:cNvSpPr/>
          <p:nvPr/>
        </p:nvSpPr>
        <p:spPr>
          <a:xfrm>
            <a:off x="585216" y="2058720"/>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t>
            </a:r>
            <a:r>
              <a:rPr sz="1180" b="0">
                <a:solidFill>
                  <a:srgbClr val="062B57"/>
                </a:solidFill>
                <a:latin typeface="Segoe UI"/>
              </a:rPr>
              <a:t>No shared status</a:t>
            </a:r>
          </a:p>
        </p:txBody>
      </p:sp>
      <p:sp>
        <p:nvSpPr>
          <p:cNvPr id="8" name="Rounded Rectangle 7"/>
          <p:cNvSpPr/>
          <p:nvPr/>
        </p:nvSpPr>
        <p:spPr>
          <a:xfrm>
            <a:off x="585216" y="2284653"/>
            <a:ext cx="5400903" cy="35021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“Where is my consignment?” is answered by calling the driver. The repo models this as an append-only </a:t>
            </a:r>
            <a:r>
              <a:rPr sz="1080" b="0">
                <a:solidFill>
                  <a:srgbClr val="056ECE"/>
                </a:solidFill>
                <a:latin typeface="Consolas"/>
              </a:rPr>
              <a:t>shipment_status_history</a:t>
            </a:r>
            <a:r>
              <a:rPr sz="1080" b="0">
                <a:solidFill>
                  <a:srgbClr val="0B1F3A"/>
                </a:solidFill>
                <a:latin typeface="Segoe UI"/>
              </a:rPr>
              <a:t> table instead.</a:t>
            </a:r>
          </a:p>
        </p:txBody>
      </p:sp>
      <p:sp>
        <p:nvSpPr>
          <p:cNvPr id="9" name="Rounded Rectangle 8"/>
          <p:cNvSpPr/>
          <p:nvPr/>
        </p:nvSpPr>
        <p:spPr>
          <a:xfrm>
            <a:off x="6242151" y="1723136"/>
            <a:ext cx="5638647" cy="99193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0" name="Rounded Rectangle 9"/>
          <p:cNvSpPr/>
          <p:nvPr/>
        </p:nvSpPr>
        <p:spPr>
          <a:xfrm>
            <a:off x="6370167" y="1814576"/>
            <a:ext cx="5400903" cy="19110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PROBLEM 2</a:t>
            </a:r>
          </a:p>
        </p:txBody>
      </p:sp>
      <p:sp>
        <p:nvSpPr>
          <p:cNvPr id="11" name="Rounded Rectangle 10"/>
          <p:cNvSpPr/>
          <p:nvPr/>
        </p:nvSpPr>
        <p:spPr>
          <a:xfrm>
            <a:off x="6370167" y="2058720"/>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t>
            </a:r>
            <a:r>
              <a:rPr sz="1180" b="0">
                <a:solidFill>
                  <a:srgbClr val="062B57"/>
                </a:solidFill>
                <a:latin typeface="Segoe UI"/>
              </a:rPr>
              <a:t>No proof of delivery</a:t>
            </a:r>
          </a:p>
        </p:txBody>
      </p:sp>
      <p:sp>
        <p:nvSpPr>
          <p:cNvPr id="12" name="Rounded Rectangle 11"/>
          <p:cNvSpPr/>
          <p:nvPr/>
        </p:nvSpPr>
        <p:spPr>
          <a:xfrm>
            <a:off x="6370167" y="2284653"/>
            <a:ext cx="5400903" cy="35021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Deliveries get disputed. The system gates the </a:t>
            </a:r>
            <a:r>
              <a:rPr sz="1080" b="1">
                <a:solidFill>
                  <a:srgbClr val="0B1F3A"/>
                </a:solidFill>
                <a:latin typeface="Segoe UI"/>
              </a:rPr>
              <a:t>Delivered</a:t>
            </a:r>
            <a:r>
              <a:rPr sz="1080" b="0">
                <a:solidFill>
                  <a:srgbClr val="0B1F3A"/>
                </a:solidFill>
                <a:latin typeface="Segoe UI"/>
              </a:rPr>
              <a:t> state behind a one-time code bound to the shipment, plus the receiver's name.</a:t>
            </a:r>
          </a:p>
        </p:txBody>
      </p:sp>
      <p:sp>
        <p:nvSpPr>
          <p:cNvPr id="13" name="Rounded Rectangle 12"/>
          <p:cNvSpPr/>
          <p:nvPr/>
        </p:nvSpPr>
        <p:spPr>
          <a:xfrm>
            <a:off x="457200" y="2861370"/>
            <a:ext cx="5638647" cy="1145733"/>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4" name="Rounded Rectangle 13"/>
          <p:cNvSpPr/>
          <p:nvPr/>
        </p:nvSpPr>
        <p:spPr>
          <a:xfrm>
            <a:off x="585216" y="2952810"/>
            <a:ext cx="5400903" cy="19110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PROBLEM 3</a:t>
            </a:r>
          </a:p>
        </p:txBody>
      </p:sp>
      <p:sp>
        <p:nvSpPr>
          <p:cNvPr id="15" name="Rounded Rectangle 14"/>
          <p:cNvSpPr/>
          <p:nvPr/>
        </p:nvSpPr>
        <p:spPr>
          <a:xfrm>
            <a:off x="585216" y="3196954"/>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t>
            </a:r>
            <a:r>
              <a:rPr sz="1180" b="0">
                <a:solidFill>
                  <a:srgbClr val="062B57"/>
                </a:solidFill>
                <a:latin typeface="Segoe UI"/>
              </a:rPr>
              <a:t>Fleet compliance drifts</a:t>
            </a:r>
          </a:p>
        </p:txBody>
      </p:sp>
      <p:sp>
        <p:nvSpPr>
          <p:cNvPr id="16" name="Rounded Rectangle 15"/>
          <p:cNvSpPr/>
          <p:nvPr/>
        </p:nvSpPr>
        <p:spPr>
          <a:xfrm>
            <a:off x="585216" y="3422887"/>
            <a:ext cx="5400903" cy="35021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Insurance, permit, fitness and service dates are per-vehicle columns (</a:t>
            </a:r>
            <a:r>
              <a:rPr sz="1080" b="0">
                <a:solidFill>
                  <a:srgbClr val="056ECE"/>
                </a:solidFill>
                <a:latin typeface="Consolas"/>
              </a:rPr>
              <a:t>insurance_expiry</a:t>
            </a:r>
            <a:r>
              <a:rPr sz="1080" b="0">
                <a:solidFill>
                  <a:srgbClr val="0B1F3A"/>
                </a:solidFill>
                <a:latin typeface="Segoe UI"/>
              </a:rPr>
              <a:t>, </a:t>
            </a:r>
            <a:r>
              <a:rPr sz="1080" b="0">
                <a:solidFill>
                  <a:srgbClr val="056ECE"/>
                </a:solidFill>
                <a:latin typeface="Consolas"/>
              </a:rPr>
              <a:t>fitness_expiry</a:t>
            </a:r>
            <a:r>
              <a:rPr sz="1080" b="0">
                <a:solidFill>
                  <a:srgbClr val="0B1F3A"/>
                </a:solidFill>
                <a:latin typeface="Segoe UI"/>
              </a:rPr>
              <a:t>) so they can be queried at all.</a:t>
            </a:r>
          </a:p>
        </p:txBody>
      </p:sp>
      <p:sp>
        <p:nvSpPr>
          <p:cNvPr id="17" name="Rounded Rectangle 16"/>
          <p:cNvSpPr/>
          <p:nvPr/>
        </p:nvSpPr>
        <p:spPr>
          <a:xfrm>
            <a:off x="6242151" y="2861370"/>
            <a:ext cx="5638647" cy="1145733"/>
          </a:xfrm>
          <a:prstGeom prst="roundRect">
            <a:avLst>
              <a:gd name="adj" fmla="val 5500"/>
            </a:avLst>
          </a:prstGeom>
          <a:solidFill>
            <a:srgbClr val="FEF4E2"/>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8" name="Rounded Rectangle 17"/>
          <p:cNvSpPr/>
          <p:nvPr/>
        </p:nvSpPr>
        <p:spPr>
          <a:xfrm>
            <a:off x="6253124" y="2943666"/>
            <a:ext cx="41148" cy="981141"/>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70167" y="2952810"/>
            <a:ext cx="5400903" cy="19110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PROBLEM 4</a:t>
            </a:r>
          </a:p>
        </p:txBody>
      </p:sp>
      <p:sp>
        <p:nvSpPr>
          <p:cNvPr id="20" name="Rounded Rectangle 19"/>
          <p:cNvSpPr/>
          <p:nvPr/>
        </p:nvSpPr>
        <p:spPr>
          <a:xfrm>
            <a:off x="6370167" y="3196954"/>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F59E0B"/>
                </a:solidFill>
                <a:latin typeface="Segoe UI"/>
              </a:rPr>
              <a:t>🔓</a:t>
            </a:r>
            <a:r>
              <a:rPr sz="1180" b="0">
                <a:solidFill>
                  <a:srgbClr val="F59E0B"/>
                </a:solidFill>
                <a:latin typeface="Segoe UI"/>
              </a:rPr>
              <a:t>“Student project” security</a:t>
            </a:r>
          </a:p>
        </p:txBody>
      </p:sp>
      <p:sp>
        <p:nvSpPr>
          <p:cNvPr id="21" name="Rounded Rectangle 20"/>
          <p:cNvSpPr/>
          <p:nvPr/>
        </p:nvSpPr>
        <p:spPr>
          <a:xfrm>
            <a:off x="6370167" y="3422887"/>
            <a:ext cx="5400903" cy="509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The interesting problem for this project: CRUD demos usually ship with open endpoints, </a:t>
            </a:r>
            <a:r>
              <a:rPr sz="1080" b="0">
                <a:solidFill>
                  <a:srgbClr val="056ECE"/>
                </a:solidFill>
                <a:latin typeface="Consolas"/>
              </a:rPr>
              <a:t>SELECT *</a:t>
            </a:r>
            <a:r>
              <a:rPr sz="1080" b="0">
                <a:solidFill>
                  <a:srgbClr val="0B1F3A"/>
                </a:solidFill>
                <a:latin typeface="Segoe UI"/>
              </a:rPr>
              <a:t>, weak OTPs and hardcoded secrets. The audit report attacks exactly that.</a:t>
            </a:r>
          </a:p>
        </p:txBody>
      </p:sp>
      <p:sp>
        <p:nvSpPr>
          <p:cNvPr id="22" name="Rounded Rectangle 21"/>
          <p:cNvSpPr/>
          <p:nvPr/>
        </p:nvSpPr>
        <p:spPr>
          <a:xfrm>
            <a:off x="457200" y="4153408"/>
            <a:ext cx="5638647" cy="1307853"/>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3" name="Rounded Rectangle 22"/>
          <p:cNvSpPr/>
          <p:nvPr/>
        </p:nvSpPr>
        <p:spPr>
          <a:xfrm>
            <a:off x="585216" y="4244848"/>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Why it is worth solving</a:t>
            </a:r>
          </a:p>
        </p:txBody>
      </p:sp>
      <p:sp>
        <p:nvSpPr>
          <p:cNvPr id="24" name="Rounded Rectangle 23"/>
          <p:cNvSpPr/>
          <p:nvPr/>
        </p:nvSpPr>
        <p:spPr>
          <a:xfrm>
            <a:off x="585216" y="4470781"/>
            <a:ext cx="5400903" cy="35021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The domain forces real engineering: multi-role authorisation, state machines, financial fields that must not be client-controlled, and time-based telemetry.</a:t>
            </a:r>
          </a:p>
        </p:txBody>
      </p:sp>
      <p:sp>
        <p:nvSpPr>
          <p:cNvPr id="25" name="Rounded Rectangle 24"/>
          <p:cNvSpPr/>
          <p:nvPr/>
        </p:nvSpPr>
        <p:spPr>
          <a:xfrm>
            <a:off x="6242151" y="4153408"/>
            <a:ext cx="5638647" cy="1307853"/>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6" name="Rounded Rectangle 25"/>
          <p:cNvSpPr/>
          <p:nvPr/>
        </p:nvSpPr>
        <p:spPr>
          <a:xfrm>
            <a:off x="6370167" y="4244848"/>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Why I built it (as evidenced)</a:t>
            </a:r>
          </a:p>
        </p:txBody>
      </p:sp>
      <p:sp>
        <p:nvSpPr>
          <p:cNvPr id="27" name="Rounded Rectangle 26"/>
          <p:cNvSpPr/>
          <p:nvPr/>
        </p:nvSpPr>
        <p:spPr>
          <a:xfrm>
            <a:off x="6370167" y="4470781"/>
            <a:ext cx="5400903" cy="82753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The repo is dominated by </a:t>
            </a:r>
            <a:r>
              <a:rPr sz="1080" b="1">
                <a:solidFill>
                  <a:srgbClr val="0B1F3A"/>
                </a:solidFill>
                <a:latin typeface="Segoe UI"/>
              </a:rPr>
              <a:t>quality machinery</a:t>
            </a:r>
            <a:r>
              <a:rPr sz="1080" b="0">
                <a:solidFill>
                  <a:srgbClr val="0B1F3A"/>
                </a:solidFill>
                <a:latin typeface="Segoe UI"/>
              </a:rPr>
              <a:t>: 15-finding security audit, custom SAST rules, a full CI pipeline, IaC and an ops agent — </a:t>
            </a:r>
            <a:r>
              <a:rPr sz="1080" b="1">
                <a:solidFill>
                  <a:srgbClr val="0B1F3A"/>
                </a:solidFill>
                <a:latin typeface="Segoe UI"/>
              </a:rPr>
              <a:t>3,791 lines</a:t>
            </a:r>
            <a:r>
              <a:rPr sz="1080" b="0">
                <a:solidFill>
                  <a:srgbClr val="0B1F3A"/>
                </a:solidFill>
                <a:latin typeface="Segoe UI"/>
              </a:rPr>
              <a:t> of docs (2,120), scripts (1,121) and workflow YAML (550) against </a:t>
            </a:r>
            <a:r>
              <a:rPr sz="1080" b="1">
                <a:solidFill>
                  <a:srgbClr val="0B1F3A"/>
                </a:solidFill>
                <a:latin typeface="Segoe UI"/>
              </a:rPr>
              <a:t>1,914</a:t>
            </a:r>
            <a:r>
              <a:rPr sz="1080" b="0">
                <a:solidFill>
                  <a:srgbClr val="0B1F3A"/>
                </a:solidFill>
                <a:latin typeface="Segoe UI"/>
              </a:rPr>
              <a:t> lines of API code (the client adds a further 4,327). Whatever the intent, the result is a repo where the evidence about the code is half the size of the code itself.</a:t>
            </a:r>
          </a:p>
        </p:txBody>
      </p:sp>
      <p:sp>
        <p:nvSpPr>
          <p:cNvPr id="28" name="Rounded Rectangle 27"/>
          <p:cNvSpPr/>
          <p:nvPr/>
        </p:nvSpPr>
        <p:spPr>
          <a:xfrm>
            <a:off x="457200" y="5607565"/>
            <a:ext cx="5638647" cy="82981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9" name="Rounded Rectangle 28"/>
          <p:cNvSpPr/>
          <p:nvPr/>
        </p:nvSpPr>
        <p:spPr>
          <a:xfrm>
            <a:off x="585216" y="5699005"/>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Who uses it</a:t>
            </a:r>
          </a:p>
        </p:txBody>
      </p:sp>
      <p:sp>
        <p:nvSpPr>
          <p:cNvPr id="30" name="Rounded Rectangle 29"/>
          <p:cNvSpPr/>
          <p:nvPr/>
        </p:nvSpPr>
        <p:spPr>
          <a:xfrm>
            <a:off x="585216" y="5924938"/>
            <a:ext cx="5400903" cy="35021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Four roles declared in the schema </a:t>
            </a:r>
            <a:r>
              <a:rPr sz="1080" b="0">
                <a:solidFill>
                  <a:srgbClr val="056ECE"/>
                </a:solidFill>
                <a:latin typeface="Consolas"/>
              </a:rPr>
              <a:t>CHECK</a:t>
            </a:r>
            <a:r>
              <a:rPr sz="1080" b="0">
                <a:solidFill>
                  <a:srgbClr val="0B1F3A"/>
                </a:solidFill>
                <a:latin typeface="Segoe UI"/>
              </a:rPr>
              <a:t>: ADMIN, MANAGER, DRIVER, CUSTOMER — with different visibility per endpoint.</a:t>
            </a:r>
          </a:p>
        </p:txBody>
      </p:sp>
      <p:sp>
        <p:nvSpPr>
          <p:cNvPr id="31" name="Rounded Rectangle 30"/>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5A6F88"/>
                </a:solidFill>
                <a:latin typeface="Segoe UI"/>
              </a:rPr>
              <a:t>Derived from</a:t>
            </a:r>
            <a:r>
              <a:rPr sz="830" b="0">
                <a:solidFill>
                  <a:srgbClr val="056ECE"/>
                </a:solidFill>
                <a:latin typeface="Consolas"/>
              </a:rPr>
              <a:t>   ·   backend/database.py · schema</a:t>
            </a:r>
            <a:r>
              <a:rPr sz="830" b="0">
                <a:solidFill>
                  <a:srgbClr val="056ECE"/>
                </a:solidFill>
                <a:latin typeface="Consolas"/>
              </a:rPr>
              <a:t>   ·   docs/SECURITY_AUDIT.md</a:t>
            </a:r>
            <a:r>
              <a:rPr sz="830" b="0">
                <a:solidFill>
                  <a:srgbClr val="056ECE"/>
                </a:solidFill>
                <a:latin typeface="Consolas"/>
              </a:rPr>
              <a:t>   ·   README.md · Overview</a:t>
            </a:r>
            <a:r>
              <a:rPr sz="860" b="1">
                <a:solidFill>
                  <a:srgbClr val="F59E0B"/>
                </a:solidFill>
                <a:latin typeface="Segoe UI"/>
              </a:rPr>
              <a:t>   ·   No user interviews or market research exist in the repo — the motivation is engineering-led, not customer-led.</a:t>
            </a:r>
          </a:p>
        </p:txBody>
      </p:sp>
      <p:sp>
        <p:nvSpPr>
          <p:cNvPr id="32" name="Rounded Rectangle 31"/>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02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02 · PROJECT OVERVIEW</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500" b="0">
                <a:solidFill>
                  <a:srgbClr val="062B57"/>
                </a:solidFill>
                <a:latin typeface="Segoe UI"/>
              </a:rPr>
              <a:t>One request path, five writes per booking</a:t>
            </a:r>
          </a:p>
        </p:txBody>
      </p:sp>
      <p:sp>
        <p:nvSpPr>
          <p:cNvPr id="4" name="Rounded Rectangle 3"/>
          <p:cNvSpPr/>
          <p:nvPr/>
        </p:nvSpPr>
        <p:spPr>
          <a:xfrm>
            <a:off x="457200" y="1042416"/>
            <a:ext cx="11277295" cy="49783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22000"/>
              </a:lnSpc>
              <a:spcBef>
                <a:spcPts val="0"/>
              </a:spcBef>
              <a:spcAft>
                <a:spcPts val="0"/>
              </a:spcAft>
            </a:pPr>
            <a:r>
              <a:rPr sz="1250" b="0">
                <a:solidFill>
                  <a:srgbClr val="334C6B"/>
                </a:solidFill>
                <a:latin typeface="Segoe UI"/>
              </a:rPr>
              <a:t>APEX FLOW is a single-origin web application: Flask serves the static client </a:t>
            </a:r>
            <a:r>
              <a:rPr sz="1250" b="0">
                <a:solidFill>
                  <a:srgbClr val="334C6B"/>
                </a:solidFill>
                <a:latin typeface="Segoe UI"/>
              </a:rPr>
              <a:t>and</a:t>
            </a:r>
            <a:r>
              <a:rPr sz="1250" b="0">
                <a:solidFill>
                  <a:srgbClr val="334C6B"/>
                </a:solidFill>
                <a:latin typeface="Segoe UI"/>
              </a:rPr>
              <a:t> the JSON API under </a:t>
            </a:r>
            <a:r>
              <a:rPr sz="1250" b="0">
                <a:solidFill>
                  <a:srgbClr val="056ECE"/>
                </a:solidFill>
                <a:latin typeface="Consolas"/>
              </a:rPr>
              <a:t>/api</a:t>
            </a:r>
            <a:r>
              <a:rPr sz="1250" b="0">
                <a:solidFill>
                  <a:srgbClr val="334C6B"/>
                </a:solidFill>
                <a:latin typeface="Segoe UI"/>
              </a:rPr>
              <a:t>, so there is no cross-origin hop in production.</a:t>
            </a:r>
          </a:p>
        </p:txBody>
      </p:sp>
      <p:sp>
        <p:nvSpPr>
          <p:cNvPr id="5" name="Rounded Rectangle 4"/>
          <p:cNvSpPr/>
          <p:nvPr/>
        </p:nvSpPr>
        <p:spPr>
          <a:xfrm>
            <a:off x="457200" y="1595120"/>
            <a:ext cx="2641015" cy="3239828"/>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 USER</a:t>
            </a:r>
          </a:p>
          <a:p>
            <a:pPr algn="l">
              <a:lnSpc>
                <a:spcPct val="105000"/>
              </a:lnSpc>
              <a:spcBef>
                <a:spcPts val="150"/>
              </a:spcBef>
              <a:spcAft>
                <a:spcPts val="0"/>
              </a:spcAft>
            </a:pPr>
            <a:r>
              <a:rPr sz="780" b="0">
                <a:solidFill>
                  <a:srgbClr val="056ECE"/>
                </a:solidFill>
                <a:latin typeface="Consolas"/>
              </a:rPr>
              <a:t>login.html · auth.js</a:t>
            </a:r>
          </a:p>
          <a:p>
            <a:pPr algn="l">
              <a:lnSpc>
                <a:spcPct val="112000"/>
              </a:lnSpc>
              <a:spcBef>
                <a:spcPts val="250"/>
              </a:spcBef>
              <a:spcAft>
                <a:spcPts val="0"/>
              </a:spcAft>
            </a:pPr>
            <a:r>
              <a:rPr sz="840" b="0">
                <a:solidFill>
                  <a:srgbClr val="5A6F88"/>
                </a:solidFill>
                <a:latin typeface="Segoe UI"/>
              </a:rPr>
              <a:t>One of four roles signs in. The session holds only </a:t>
            </a:r>
            <a:r>
              <a:rPr sz="840" b="0">
                <a:solidFill>
                  <a:srgbClr val="056ECE"/>
                </a:solidFill>
                <a:latin typeface="Consolas"/>
              </a:rPr>
              <a:t>user_id</a:t>
            </a:r>
            <a:r>
              <a:rPr sz="840" b="0">
                <a:solidFill>
                  <a:srgbClr val="5A6F88"/>
                </a:solidFill>
                <a:latin typeface="Segoe UI"/>
              </a:rPr>
              <a:t> and </a:t>
            </a:r>
            <a:r>
              <a:rPr sz="840" b="0">
                <a:solidFill>
                  <a:srgbClr val="056ECE"/>
                </a:solidFill>
                <a:latin typeface="Consolas"/>
              </a:rPr>
              <a:t>role</a:t>
            </a:r>
            <a:r>
              <a:rPr sz="840" b="0">
                <a:solidFill>
                  <a:srgbClr val="5A6F88"/>
                </a:solidFill>
                <a:latin typeface="Segoe UI"/>
              </a:rPr>
              <a:t>.</a:t>
            </a:r>
          </a:p>
        </p:txBody>
      </p:sp>
      <p:sp>
        <p:nvSpPr>
          <p:cNvPr id="6" name="TextBox 5"/>
          <p:cNvSpPr txBox="1"/>
          <p:nvPr/>
        </p:nvSpPr>
        <p:spPr>
          <a:xfrm>
            <a:off x="3107359" y="3105306"/>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7" name="Rounded Rectangle 6"/>
          <p:cNvSpPr/>
          <p:nvPr/>
        </p:nvSpPr>
        <p:spPr>
          <a:xfrm>
            <a:off x="3335959" y="1595120"/>
            <a:ext cx="2641015" cy="3239828"/>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 SYSTEM</a:t>
            </a:r>
          </a:p>
          <a:p>
            <a:pPr algn="l">
              <a:lnSpc>
                <a:spcPct val="105000"/>
              </a:lnSpc>
              <a:spcBef>
                <a:spcPts val="150"/>
              </a:spcBef>
              <a:spcAft>
                <a:spcPts val="0"/>
              </a:spcAft>
            </a:pPr>
            <a:r>
              <a:rPr sz="780" b="0">
                <a:solidFill>
                  <a:srgbClr val="056ECE"/>
                </a:solidFill>
                <a:latin typeface="Consolas"/>
              </a:rPr>
              <a:t>frontend/js/app.js</a:t>
            </a:r>
          </a:p>
          <a:p>
            <a:pPr algn="l">
              <a:lnSpc>
                <a:spcPct val="112000"/>
              </a:lnSpc>
              <a:spcBef>
                <a:spcPts val="250"/>
              </a:spcBef>
              <a:spcAft>
                <a:spcPts val="0"/>
              </a:spcAft>
            </a:pPr>
            <a:r>
              <a:rPr sz="840" b="0">
                <a:solidFill>
                  <a:srgbClr val="5A6F88"/>
                </a:solidFill>
                <a:latin typeface="Segoe UI"/>
              </a:rPr>
              <a:t>15 static pages, 14 JS modules. Every call goes through one helper, </a:t>
            </a:r>
            <a:r>
              <a:rPr sz="840" b="0">
                <a:solidFill>
                  <a:srgbClr val="056ECE"/>
                </a:solidFill>
                <a:latin typeface="Consolas"/>
              </a:rPr>
              <a:t>fetchAPI()</a:t>
            </a:r>
            <a:r>
              <a:rPr sz="840" b="0">
                <a:solidFill>
                  <a:srgbClr val="5A6F88"/>
                </a:solidFill>
                <a:latin typeface="Segoe UI"/>
              </a:rPr>
              <a:t>, with cookie credentials and one toast for errors.</a:t>
            </a:r>
          </a:p>
        </p:txBody>
      </p:sp>
      <p:sp>
        <p:nvSpPr>
          <p:cNvPr id="8" name="TextBox 7"/>
          <p:cNvSpPr txBox="1"/>
          <p:nvPr/>
        </p:nvSpPr>
        <p:spPr>
          <a:xfrm>
            <a:off x="5986119" y="3105306"/>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9" name="Rounded Rectangle 8"/>
          <p:cNvSpPr/>
          <p:nvPr/>
        </p:nvSpPr>
        <p:spPr>
          <a:xfrm>
            <a:off x="6214719" y="1595120"/>
            <a:ext cx="2641015" cy="3239828"/>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 PROCESSING</a:t>
            </a:r>
          </a:p>
          <a:p>
            <a:pPr algn="l">
              <a:lnSpc>
                <a:spcPct val="105000"/>
              </a:lnSpc>
              <a:spcBef>
                <a:spcPts val="150"/>
              </a:spcBef>
              <a:spcAft>
                <a:spcPts val="0"/>
              </a:spcAft>
            </a:pPr>
            <a:r>
              <a:rPr sz="780" b="0">
                <a:solidFill>
                  <a:srgbClr val="056ECE"/>
                </a:solidFill>
                <a:latin typeface="Consolas"/>
              </a:rPr>
              <a:t>routes.py → services.py</a:t>
            </a:r>
          </a:p>
          <a:p>
            <a:pPr algn="l">
              <a:lnSpc>
                <a:spcPct val="112000"/>
              </a:lnSpc>
              <a:spcBef>
                <a:spcPts val="250"/>
              </a:spcBef>
              <a:spcAft>
                <a:spcPts val="0"/>
              </a:spcAft>
            </a:pPr>
            <a:r>
              <a:rPr sz="840" b="0">
                <a:solidFill>
                  <a:srgbClr val="5A6F88"/>
                </a:solidFill>
                <a:latin typeface="Segoe UI"/>
              </a:rPr>
              <a:t>Blueprint routes → </a:t>
            </a:r>
            <a:r>
              <a:rPr sz="840" b="0">
                <a:solidFill>
                  <a:srgbClr val="056ECE"/>
                </a:solidFill>
                <a:latin typeface="Consolas"/>
              </a:rPr>
              <a:t>@login_required</a:t>
            </a:r>
            <a:r>
              <a:rPr sz="840" b="0">
                <a:solidFill>
                  <a:srgbClr val="5A6F88"/>
                </a:solidFill>
                <a:latin typeface="Segoe UI"/>
              </a:rPr>
              <a:t>/</a:t>
            </a:r>
            <a:r>
              <a:rPr sz="840" b="0">
                <a:solidFill>
                  <a:srgbClr val="056ECE"/>
                </a:solidFill>
                <a:latin typeface="Consolas"/>
              </a:rPr>
              <a:t>@require_role</a:t>
            </a:r>
            <a:r>
              <a:rPr sz="840" b="0">
                <a:solidFill>
                  <a:srgbClr val="5A6F88"/>
                </a:solidFill>
                <a:latin typeface="Segoe UI"/>
              </a:rPr>
              <a:t> → service layer, which fans one booking out into </a:t>
            </a:r>
            <a:r>
              <a:rPr sz="840" b="1">
                <a:solidFill>
                  <a:srgbClr val="5A6F88"/>
                </a:solidFill>
                <a:latin typeface="Segoe UI"/>
              </a:rPr>
              <a:t>5 INSERTs and one </a:t>
            </a:r>
            <a:r>
              <a:rPr sz="840" b="1">
                <a:solidFill>
                  <a:srgbClr val="056ECE"/>
                </a:solidFill>
                <a:latin typeface="Consolas"/>
              </a:rPr>
              <a:t>commit()</a:t>
            </a:r>
            <a:r>
              <a:rPr sz="840" b="0">
                <a:solidFill>
                  <a:srgbClr val="5A6F88"/>
                </a:solidFill>
                <a:latin typeface="Segoe UI"/>
              </a:rPr>
              <a:t>: shipment, status history, delivery+OTP, invoice, notification.</a:t>
            </a:r>
          </a:p>
        </p:txBody>
      </p:sp>
      <p:sp>
        <p:nvSpPr>
          <p:cNvPr id="10" name="TextBox 9"/>
          <p:cNvSpPr txBox="1"/>
          <p:nvPr/>
        </p:nvSpPr>
        <p:spPr>
          <a:xfrm>
            <a:off x="8864879" y="3105306"/>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11" name="Rounded Rectangle 10"/>
          <p:cNvSpPr/>
          <p:nvPr/>
        </p:nvSpPr>
        <p:spPr>
          <a:xfrm>
            <a:off x="9093479" y="1595120"/>
            <a:ext cx="2641015" cy="3239828"/>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 OUTPUT</a:t>
            </a:r>
          </a:p>
          <a:p>
            <a:pPr algn="l">
              <a:lnSpc>
                <a:spcPct val="105000"/>
              </a:lnSpc>
              <a:spcBef>
                <a:spcPts val="150"/>
              </a:spcBef>
              <a:spcAft>
                <a:spcPts val="0"/>
              </a:spcAft>
            </a:pPr>
            <a:r>
              <a:rPr sz="780" b="0">
                <a:solidFill>
                  <a:srgbClr val="056ECE"/>
                </a:solidFill>
                <a:latin typeface="Consolas"/>
              </a:rPr>
              <a:t>reports.py · tracking.py</a:t>
            </a:r>
          </a:p>
          <a:p>
            <a:pPr algn="l">
              <a:lnSpc>
                <a:spcPct val="112000"/>
              </a:lnSpc>
              <a:spcBef>
                <a:spcPts val="250"/>
              </a:spcBef>
              <a:spcAft>
                <a:spcPts val="0"/>
              </a:spcAft>
            </a:pPr>
            <a:r>
              <a:rPr sz="840" b="0">
                <a:solidFill>
                  <a:srgbClr val="5A6F88"/>
                </a:solidFill>
                <a:latin typeface="Segoe UI"/>
              </a:rPr>
              <a:t>Dashboard KPIs, live map telemetry, OTP confirmation, invoices/CSV-JSON export.</a:t>
            </a:r>
          </a:p>
        </p:txBody>
      </p:sp>
      <p:sp>
        <p:nvSpPr>
          <p:cNvPr id="12" name="Rounded Rectangle 11"/>
          <p:cNvSpPr/>
          <p:nvPr/>
        </p:nvSpPr>
        <p:spPr>
          <a:xfrm>
            <a:off x="457200" y="4981252"/>
            <a:ext cx="5638647" cy="6549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3" name="Rounded Rectangle 12"/>
          <p:cNvSpPr/>
          <p:nvPr/>
        </p:nvSpPr>
        <p:spPr>
          <a:xfrm>
            <a:off x="585216" y="5072692"/>
            <a:ext cx="5400903" cy="17068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040" b="0">
                <a:solidFill>
                  <a:srgbClr val="062B57"/>
                </a:solidFill>
                <a:latin typeface="Segoe UI"/>
              </a:rPr>
              <a:t>Single JSON envelope</a:t>
            </a:r>
          </a:p>
        </p:txBody>
      </p:sp>
      <p:sp>
        <p:nvSpPr>
          <p:cNvPr id="14" name="Rounded Rectangle 13"/>
          <p:cNvSpPr/>
          <p:nvPr/>
        </p:nvSpPr>
        <p:spPr>
          <a:xfrm>
            <a:off x="585216" y="5279956"/>
            <a:ext cx="5400903" cy="28305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40" b="0">
                <a:solidFill>
                  <a:srgbClr val="0B1F3A"/>
                </a:solidFill>
                <a:latin typeface="Segoe UI"/>
              </a:rPr>
              <a:t>Every endpoint returns </a:t>
            </a:r>
            <a:r>
              <a:rPr sz="940" b="0">
                <a:solidFill>
                  <a:srgbClr val="056ECE"/>
                </a:solidFill>
                <a:latin typeface="Consolas"/>
              </a:rPr>
              <a:t>{success, message, data}</a:t>
            </a:r>
            <a:r>
              <a:rPr sz="940" b="0">
                <a:solidFill>
                  <a:srgbClr val="0B1F3A"/>
                </a:solidFill>
                <a:latin typeface="Segoe UI"/>
              </a:rPr>
              <a:t> from one helper — so the client has one error path.</a:t>
            </a:r>
          </a:p>
        </p:txBody>
      </p:sp>
      <p:sp>
        <p:nvSpPr>
          <p:cNvPr id="15" name="Rounded Rectangle 14"/>
          <p:cNvSpPr/>
          <p:nvPr/>
        </p:nvSpPr>
        <p:spPr>
          <a:xfrm>
            <a:off x="6242151" y="4981252"/>
            <a:ext cx="5638647" cy="6549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6" name="Rounded Rectangle 15"/>
          <p:cNvSpPr/>
          <p:nvPr/>
        </p:nvSpPr>
        <p:spPr>
          <a:xfrm>
            <a:off x="6370167" y="5072692"/>
            <a:ext cx="5400903" cy="176022"/>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080" b="0">
                <a:solidFill>
                  <a:srgbClr val="062B57"/>
                </a:solidFill>
                <a:latin typeface="Segoe UI"/>
              </a:rPr>
              <a:t>Server owns the money</a:t>
            </a:r>
          </a:p>
        </p:txBody>
      </p:sp>
      <p:sp>
        <p:nvSpPr>
          <p:cNvPr id="17" name="Rounded Rectangle 16"/>
          <p:cNvSpPr/>
          <p:nvPr/>
        </p:nvSpPr>
        <p:spPr>
          <a:xfrm>
            <a:off x="6370167" y="5285290"/>
            <a:ext cx="5400903" cy="17637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80" b="0">
                <a:solidFill>
                  <a:srgbClr val="0B1F3A"/>
                </a:solidFill>
                <a:latin typeface="Segoe UI"/>
              </a:rPr>
              <a:t>Status, payment status and cost are set in the service layer, never read from the body.</a:t>
            </a:r>
          </a:p>
        </p:txBody>
      </p:sp>
      <p:sp>
        <p:nvSpPr>
          <p:cNvPr id="18" name="Rounded Rectangle 17"/>
          <p:cNvSpPr/>
          <p:nvPr/>
        </p:nvSpPr>
        <p:spPr>
          <a:xfrm>
            <a:off x="457200" y="5782466"/>
            <a:ext cx="5638647" cy="6549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9" name="Rounded Rectangle 18"/>
          <p:cNvSpPr/>
          <p:nvPr/>
        </p:nvSpPr>
        <p:spPr>
          <a:xfrm>
            <a:off x="585216" y="5873906"/>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Delivery is an event</a:t>
            </a:r>
          </a:p>
        </p:txBody>
      </p:sp>
      <p:sp>
        <p:nvSpPr>
          <p:cNvPr id="20" name="Rounded Rectangle 19"/>
          <p:cNvSpPr/>
          <p:nvPr/>
        </p:nvSpPr>
        <p:spPr>
          <a:xfrm>
            <a:off x="585216" y="6099839"/>
            <a:ext cx="5400903" cy="19110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OTP verification writes history, flips the delivery, and marks the invoice </a:t>
            </a:r>
            <a:r>
              <a:rPr sz="1080" b="0">
                <a:solidFill>
                  <a:srgbClr val="056ECE"/>
                </a:solidFill>
                <a:latin typeface="Consolas"/>
              </a:rPr>
              <a:t>Paid</a:t>
            </a:r>
            <a:r>
              <a:rPr sz="1080" b="0">
                <a:solidFill>
                  <a:srgbClr val="0B1F3A"/>
                </a:solidFill>
                <a:latin typeface="Segoe UI"/>
              </a:rPr>
              <a:t>.</a:t>
            </a:r>
          </a:p>
        </p:txBody>
      </p:sp>
      <p:sp>
        <p:nvSpPr>
          <p:cNvPr id="21" name="Rounded Rectangle 20"/>
          <p:cNvSpPr/>
          <p:nvPr/>
        </p:nvSpPr>
        <p:spPr>
          <a:xfrm>
            <a:off x="6242151" y="5782466"/>
            <a:ext cx="5638647" cy="654909"/>
          </a:xfrm>
          <a:prstGeom prst="roundRect">
            <a:avLst>
              <a:gd name="adj" fmla="val 5500"/>
            </a:avLst>
          </a:prstGeom>
          <a:solidFill>
            <a:srgbClr val="FEF4E2"/>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2" name="Rounded Rectangle 21"/>
          <p:cNvSpPr/>
          <p:nvPr/>
        </p:nvSpPr>
        <p:spPr>
          <a:xfrm>
            <a:off x="6253124" y="5864762"/>
            <a:ext cx="41148" cy="490317"/>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873906"/>
            <a:ext cx="5400903" cy="17068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040" b="0">
                <a:solidFill>
                  <a:srgbClr val="F59E0B"/>
                </a:solidFill>
                <a:latin typeface="Segoe UI"/>
              </a:rPr>
              <a:t>Honest scope limit</a:t>
            </a:r>
          </a:p>
        </p:txBody>
      </p:sp>
      <p:sp>
        <p:nvSpPr>
          <p:cNvPr id="24" name="Rounded Rectangle 23"/>
          <p:cNvSpPr/>
          <p:nvPr/>
        </p:nvSpPr>
        <p:spPr>
          <a:xfrm>
            <a:off x="6370167" y="6081170"/>
            <a:ext cx="5400903" cy="28305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40" b="0">
                <a:solidFill>
                  <a:srgbClr val="0B1F3A"/>
                </a:solidFill>
                <a:latin typeface="Segoe UI"/>
              </a:rPr>
              <a:t>GPS “live tracking” is an interpolation simulation, and no external map, SMS or payment provider is integrated.</a:t>
            </a:r>
          </a:p>
        </p:txBody>
      </p:sp>
      <p:sp>
        <p:nvSpPr>
          <p:cNvPr id="25" name="Rounded Rectangle 24"/>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backend/app.py · serve_static + api_bp</a:t>
            </a:r>
            <a:r>
              <a:rPr sz="830" b="0">
                <a:solidFill>
                  <a:srgbClr val="056ECE"/>
                </a:solidFill>
                <a:latin typeface="Consolas"/>
              </a:rPr>
              <a:t>   ·   backend/services.py · create_shipment()</a:t>
            </a:r>
            <a:r>
              <a:rPr sz="830" b="0">
                <a:solidFill>
                  <a:srgbClr val="056ECE"/>
                </a:solidFill>
                <a:latin typeface="Consolas"/>
              </a:rPr>
              <a:t>   ·   backend/utils.py · json_response()</a:t>
            </a:r>
          </a:p>
        </p:txBody>
      </p:sp>
      <p:sp>
        <p:nvSpPr>
          <p:cNvPr id="26" name="Rounded Rectangle 25"/>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03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03 · SYSTEM ARCHITECTURE</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500" b="0">
                <a:solidFill>
                  <a:srgbClr val="062B57"/>
                </a:solidFill>
                <a:latin typeface="Segoe UI"/>
              </a:rPr>
              <a:t>Five layers, one process — and one side-channel to CI</a:t>
            </a:r>
          </a:p>
        </p:txBody>
      </p:sp>
      <p:sp>
        <p:nvSpPr>
          <p:cNvPr id="4" name="Rounded Rectangle 3"/>
          <p:cNvSpPr/>
          <p:nvPr/>
        </p:nvSpPr>
        <p:spPr>
          <a:xfrm>
            <a:off x="457200" y="1042416"/>
            <a:ext cx="1204401" cy="539496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① Client — browser, no framework</a:t>
            </a:r>
          </a:p>
          <a:p>
            <a:pPr algn="l">
              <a:lnSpc>
                <a:spcPct val="112000"/>
              </a:lnSpc>
              <a:spcBef>
                <a:spcPts val="250"/>
              </a:spcBef>
              <a:spcAft>
                <a:spcPts val="0"/>
              </a:spcAft>
            </a:pPr>
            <a:r>
              <a:rPr sz="840" b="0">
                <a:solidFill>
                  <a:srgbClr val="5A6F88"/>
                </a:solidFill>
                <a:latin typeface="Segoe UI"/>
              </a:rPr>
              <a:t>15 HTML pages · 14 JS modules · 5 CSS files · </a:t>
            </a:r>
            <a:r>
              <a:rPr sz="840" b="0">
                <a:solidFill>
                  <a:srgbClr val="056ECE"/>
                </a:solidFill>
                <a:latin typeface="Consolas"/>
              </a:rPr>
              <a:t>fetchAPI()</a:t>
            </a:r>
            <a:r>
              <a:rPr sz="840" b="0">
                <a:solidFill>
                  <a:srgbClr val="5A6F88"/>
                </a:solidFill>
                <a:latin typeface="Segoe UI"/>
              </a:rPr>
              <a:t> + </a:t>
            </a:r>
            <a:r>
              <a:rPr sz="840" b="0">
                <a:solidFill>
                  <a:srgbClr val="056ECE"/>
                </a:solidFill>
                <a:latin typeface="Consolas"/>
              </a:rPr>
              <a:t>&lt;canvas&gt;</a:t>
            </a:r>
            <a:r>
              <a:rPr sz="840" b="0">
                <a:solidFill>
                  <a:srgbClr val="5A6F88"/>
                </a:solidFill>
                <a:latin typeface="Segoe UI"/>
              </a:rPr>
              <a:t> map · CSS media queries for mobile</a:t>
            </a:r>
          </a:p>
          <a:p>
            <a:pPr algn="l">
              <a:lnSpc>
                <a:spcPct val="110000"/>
              </a:lnSpc>
              <a:spcBef>
                <a:spcPts val="250"/>
              </a:spcBef>
              <a:spcAft>
                <a:spcPts val="0"/>
              </a:spcAft>
            </a:pPr>
            <a:r>
              <a:rPr sz="760" b="0">
                <a:solidFill>
                  <a:srgbClr val="056ECE"/>
                </a:solidFill>
                <a:latin typeface="Consolas"/>
              </a:rPr>
              <a:t>frontend/</a:t>
            </a:r>
          </a:p>
        </p:txBody>
      </p:sp>
      <p:sp>
        <p:nvSpPr>
          <p:cNvPr id="5" name="TextBox 4"/>
          <p:cNvSpPr txBox="1"/>
          <p:nvPr/>
        </p:nvSpPr>
        <p:spPr>
          <a:xfrm>
            <a:off x="1670745" y="3630168"/>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6" name="Rounded Rectangle 5"/>
          <p:cNvSpPr/>
          <p:nvPr/>
        </p:nvSpPr>
        <p:spPr>
          <a:xfrm>
            <a:off x="1899345" y="1042416"/>
            <a:ext cx="1204401" cy="539496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② HTTP edge — same Flask app, same origin</a:t>
            </a:r>
          </a:p>
          <a:p>
            <a:pPr algn="l">
              <a:lnSpc>
                <a:spcPct val="112000"/>
              </a:lnSpc>
              <a:spcBef>
                <a:spcPts val="250"/>
              </a:spcBef>
              <a:spcAft>
                <a:spcPts val="0"/>
              </a:spcAft>
            </a:pPr>
            <a:r>
              <a:rPr sz="840" b="0">
                <a:solidFill>
                  <a:srgbClr val="5A6F88"/>
                </a:solidFill>
                <a:latin typeface="Segoe UI"/>
              </a:rPr>
              <a:t>CORS allowlist · default rate limit 200/min · session cookies </a:t>
            </a:r>
            <a:r>
              <a:rPr sz="840" b="0">
                <a:solidFill>
                  <a:srgbClr val="056ECE"/>
                </a:solidFill>
                <a:latin typeface="Consolas"/>
              </a:rPr>
              <a:t>HttpOnly · SameSite=Lax · Secure</a:t>
            </a:r>
            <a:r>
              <a:rPr sz="840" b="0">
                <a:solidFill>
                  <a:srgbClr val="5A6F88"/>
                </a:solidFill>
                <a:latin typeface="Segoe UI"/>
              </a:rPr>
              <a:t> · gunicorn via Procfile</a:t>
            </a:r>
          </a:p>
          <a:p>
            <a:pPr algn="l">
              <a:lnSpc>
                <a:spcPct val="110000"/>
              </a:lnSpc>
              <a:spcBef>
                <a:spcPts val="250"/>
              </a:spcBef>
              <a:spcAft>
                <a:spcPts val="0"/>
              </a:spcAft>
            </a:pPr>
            <a:r>
              <a:rPr sz="760" b="0">
                <a:solidFill>
                  <a:srgbClr val="056ECE"/>
                </a:solidFill>
                <a:latin typeface="Consolas"/>
              </a:rPr>
              <a:t>backend/app.py</a:t>
            </a:r>
          </a:p>
        </p:txBody>
      </p:sp>
      <p:sp>
        <p:nvSpPr>
          <p:cNvPr id="7" name="TextBox 6"/>
          <p:cNvSpPr txBox="1"/>
          <p:nvPr/>
        </p:nvSpPr>
        <p:spPr>
          <a:xfrm>
            <a:off x="3112891" y="3630168"/>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8" name="Rounded Rectangle 7"/>
          <p:cNvSpPr/>
          <p:nvPr/>
        </p:nvSpPr>
        <p:spPr>
          <a:xfrm>
            <a:off x="3341491" y="1042416"/>
            <a:ext cx="1204401" cy="539496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③ API layer — one Blueprint, 26 routes</a:t>
            </a:r>
          </a:p>
          <a:p>
            <a:pPr algn="l">
              <a:lnSpc>
                <a:spcPct val="112000"/>
              </a:lnSpc>
              <a:spcBef>
                <a:spcPts val="250"/>
              </a:spcBef>
              <a:spcAft>
                <a:spcPts val="0"/>
              </a:spcAft>
            </a:pPr>
            <a:r>
              <a:rPr sz="840" b="0">
                <a:solidFill>
                  <a:srgbClr val="5A6F88"/>
                </a:solidFill>
                <a:latin typeface="Segoe UI"/>
              </a:rPr>
              <a:t>Auth / shipments / vehicles / drivers / customers / warehouses / routes / tracking / deliveries / payments / reports / notifications</a:t>
            </a:r>
          </a:p>
          <a:p>
            <a:pPr algn="l">
              <a:lnSpc>
                <a:spcPct val="110000"/>
              </a:lnSpc>
              <a:spcBef>
                <a:spcPts val="250"/>
              </a:spcBef>
              <a:spcAft>
                <a:spcPts val="0"/>
              </a:spcAft>
            </a:pPr>
            <a:r>
              <a:rPr sz="760" b="0">
                <a:solidFill>
                  <a:srgbClr val="056ECE"/>
                </a:solidFill>
                <a:latin typeface="Consolas"/>
              </a:rPr>
              <a:t>backend/routes.py + auth.py</a:t>
            </a:r>
          </a:p>
        </p:txBody>
      </p:sp>
      <p:sp>
        <p:nvSpPr>
          <p:cNvPr id="9" name="TextBox 8"/>
          <p:cNvSpPr txBox="1"/>
          <p:nvPr/>
        </p:nvSpPr>
        <p:spPr>
          <a:xfrm>
            <a:off x="4555036" y="3630168"/>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10" name="Rounded Rectangle 9"/>
          <p:cNvSpPr/>
          <p:nvPr/>
        </p:nvSpPr>
        <p:spPr>
          <a:xfrm>
            <a:off x="4783636" y="1042416"/>
            <a:ext cx="1204401" cy="539496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④ Domain services — where the rules live</a:t>
            </a:r>
          </a:p>
          <a:p>
            <a:pPr algn="l">
              <a:lnSpc>
                <a:spcPct val="112000"/>
              </a:lnSpc>
              <a:spcBef>
                <a:spcPts val="250"/>
              </a:spcBef>
              <a:spcAft>
                <a:spcPts val="0"/>
              </a:spcAft>
            </a:pPr>
            <a:r>
              <a:rPr sz="840" b="0">
                <a:solidFill>
                  <a:srgbClr val="056ECE"/>
                </a:solidFill>
                <a:latin typeface="Consolas"/>
              </a:rPr>
              <a:t>services.py</a:t>
            </a:r>
            <a:r>
              <a:rPr sz="840" b="0">
                <a:solidFill>
                  <a:srgbClr val="5A6F88"/>
                </a:solidFill>
                <a:latin typeface="Segoe UI"/>
              </a:rPr>
              <a:t> (526 lines: shipment, OTP, cascade) · </a:t>
            </a:r>
            <a:r>
              <a:rPr sz="840" b="0">
                <a:solidFill>
                  <a:srgbClr val="056ECE"/>
                </a:solidFill>
                <a:latin typeface="Consolas"/>
              </a:rPr>
              <a:t>tracking.py</a:t>
            </a:r>
            <a:r>
              <a:rPr sz="840" b="0">
                <a:solidFill>
                  <a:srgbClr val="5A6F88"/>
                </a:solidFill>
                <a:latin typeface="Segoe UI"/>
              </a:rPr>
              <a:t> (telemetry) · </a:t>
            </a:r>
            <a:r>
              <a:rPr sz="840" b="0">
                <a:solidFill>
                  <a:srgbClr val="056ECE"/>
                </a:solidFill>
                <a:latin typeface="Consolas"/>
              </a:rPr>
              <a:t>reports.py</a:t>
            </a:r>
            <a:r>
              <a:rPr sz="840" b="0">
                <a:solidFill>
                  <a:srgbClr val="5A6F88"/>
                </a:solidFill>
                <a:latin typeface="Segoe UI"/>
              </a:rPr>
              <a:t> (KPI SQL)</a:t>
            </a:r>
          </a:p>
          <a:p>
            <a:pPr algn="l">
              <a:lnSpc>
                <a:spcPct val="110000"/>
              </a:lnSpc>
              <a:spcBef>
                <a:spcPts val="250"/>
              </a:spcBef>
              <a:spcAft>
                <a:spcPts val="0"/>
              </a:spcAft>
            </a:pPr>
            <a:r>
              <a:rPr sz="760" b="0">
                <a:solidFill>
                  <a:srgbClr val="056ECE"/>
                </a:solidFill>
                <a:latin typeface="Consolas"/>
              </a:rPr>
              <a:t>backend/services.py</a:t>
            </a:r>
          </a:p>
        </p:txBody>
      </p:sp>
      <p:sp>
        <p:nvSpPr>
          <p:cNvPr id="11" name="TextBox 10"/>
          <p:cNvSpPr txBox="1"/>
          <p:nvPr/>
        </p:nvSpPr>
        <p:spPr>
          <a:xfrm>
            <a:off x="5997182" y="3630168"/>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12" name="Rounded Rectangle 11"/>
          <p:cNvSpPr/>
          <p:nvPr/>
        </p:nvSpPr>
        <p:spPr>
          <a:xfrm>
            <a:off x="6225782" y="1042416"/>
            <a:ext cx="1204401" cy="539496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⑤ Data — dual engine behind one wrapper</a:t>
            </a:r>
          </a:p>
          <a:p>
            <a:pPr algn="l">
              <a:lnSpc>
                <a:spcPct val="112000"/>
              </a:lnSpc>
              <a:spcBef>
                <a:spcPts val="250"/>
              </a:spcBef>
              <a:spcAft>
                <a:spcPts val="0"/>
              </a:spcAft>
            </a:pPr>
            <a:r>
              <a:rPr sz="840" b="0">
                <a:solidFill>
                  <a:srgbClr val="5A6F88"/>
                </a:solidFill>
                <a:latin typeface="Segoe UI"/>
              </a:rPr>
              <a:t>12 tables · </a:t>
            </a:r>
            <a:r>
              <a:rPr sz="840" b="0">
                <a:solidFill>
                  <a:srgbClr val="056ECE"/>
                </a:solidFill>
                <a:latin typeface="Consolas"/>
              </a:rPr>
              <a:t>PRAGMA foreign_keys = ON</a:t>
            </a:r>
            <a:r>
              <a:rPr sz="840" b="0">
                <a:solidFill>
                  <a:srgbClr val="5A6F88"/>
                </a:solidFill>
                <a:latin typeface="Segoe UI"/>
              </a:rPr>
              <a:t> · SQLite file in dev, PostgreSQL when </a:t>
            </a:r>
            <a:r>
              <a:rPr sz="840" b="0">
                <a:solidFill>
                  <a:srgbClr val="056ECE"/>
                </a:solidFill>
                <a:latin typeface="Consolas"/>
              </a:rPr>
              <a:t>DATABASE_URL</a:t>
            </a:r>
            <a:r>
              <a:rPr sz="840" b="0">
                <a:solidFill>
                  <a:srgbClr val="5A6F88"/>
                </a:solidFill>
                <a:latin typeface="Segoe UI"/>
              </a:rPr>
              <a:t> is set</a:t>
            </a:r>
          </a:p>
          <a:p>
            <a:pPr algn="l">
              <a:lnSpc>
                <a:spcPct val="110000"/>
              </a:lnSpc>
              <a:spcBef>
                <a:spcPts val="250"/>
              </a:spcBef>
              <a:spcAft>
                <a:spcPts val="0"/>
              </a:spcAft>
            </a:pPr>
            <a:r>
              <a:rPr sz="760" b="0">
                <a:solidFill>
                  <a:srgbClr val="056ECE"/>
                </a:solidFill>
                <a:latin typeface="Consolas"/>
              </a:rPr>
              <a:t>backend/database.py</a:t>
            </a:r>
          </a:p>
        </p:txBody>
      </p:sp>
      <p:sp>
        <p:nvSpPr>
          <p:cNvPr id="13" name="Rounded Rectangle 12"/>
          <p:cNvSpPr/>
          <p:nvPr/>
        </p:nvSpPr>
        <p:spPr>
          <a:xfrm>
            <a:off x="7576488" y="1042416"/>
            <a:ext cx="4304311" cy="1039908"/>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4" name="Rounded Rectangle 13"/>
          <p:cNvSpPr/>
          <p:nvPr/>
        </p:nvSpPr>
        <p:spPr>
          <a:xfrm>
            <a:off x="7704504" y="1133856"/>
            <a:ext cx="4066567"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t>
            </a:r>
            <a:r>
              <a:rPr sz="1180" b="0">
                <a:solidFill>
                  <a:srgbClr val="062B57"/>
                </a:solidFill>
                <a:latin typeface="Segoe UI"/>
              </a:rPr>
              <a:t>Return path</a:t>
            </a:r>
          </a:p>
        </p:txBody>
      </p:sp>
      <p:sp>
        <p:nvSpPr>
          <p:cNvPr id="15" name="Rounded Rectangle 14"/>
          <p:cNvSpPr/>
          <p:nvPr/>
        </p:nvSpPr>
        <p:spPr>
          <a:xfrm>
            <a:off x="7704504" y="1359789"/>
            <a:ext cx="4066567" cy="509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Every response is the same envelope, serialised by one helper; DB rows become dicts through </a:t>
            </a:r>
            <a:r>
              <a:rPr sz="1080" b="0">
                <a:solidFill>
                  <a:srgbClr val="056ECE"/>
                </a:solidFill>
                <a:latin typeface="Consolas"/>
              </a:rPr>
              <a:t>row_to_dict()</a:t>
            </a:r>
            <a:r>
              <a:rPr sz="1080" b="0">
                <a:solidFill>
                  <a:srgbClr val="0B1F3A"/>
                </a:solidFill>
                <a:latin typeface="Segoe UI"/>
              </a:rPr>
              <a:t> so SQLite and psycopg2 rows look identical to the client.</a:t>
            </a:r>
          </a:p>
        </p:txBody>
      </p:sp>
      <p:sp>
        <p:nvSpPr>
          <p:cNvPr id="16" name="Rounded Rectangle 15"/>
          <p:cNvSpPr/>
          <p:nvPr/>
        </p:nvSpPr>
        <p:spPr>
          <a:xfrm>
            <a:off x="7576488" y="2228628"/>
            <a:ext cx="4304311" cy="1039908"/>
          </a:xfrm>
          <a:prstGeom prst="roundRect">
            <a:avLst>
              <a:gd name="adj" fmla="val 5500"/>
            </a:avLst>
          </a:prstGeom>
          <a:solidFill>
            <a:srgbClr val="EFEBFD"/>
          </a:solidFill>
          <a:ln w="9525">
            <a:solidFill>
              <a:srgbClr val="6946D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7" name="Rounded Rectangle 16"/>
          <p:cNvSpPr/>
          <p:nvPr/>
        </p:nvSpPr>
        <p:spPr>
          <a:xfrm>
            <a:off x="7587460" y="2310924"/>
            <a:ext cx="41148" cy="875316"/>
          </a:xfrm>
          <a:prstGeom prst="roundRect">
            <a:avLst>
              <a:gd name="adj" fmla="val 50000"/>
            </a:avLst>
          </a:prstGeom>
          <a:solidFill>
            <a:srgbClr val="694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04504" y="2320068"/>
            <a:ext cx="4066567"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6946D8"/>
                </a:solidFill>
                <a:latin typeface="Segoe UI"/>
              </a:rPr>
              <a:t>◇</a:t>
            </a:r>
            <a:r>
              <a:rPr sz="1180" b="0">
                <a:solidFill>
                  <a:srgbClr val="6946D8"/>
                </a:solidFill>
                <a:latin typeface="Segoe UI"/>
              </a:rPr>
              <a:t>Observability side-channel</a:t>
            </a:r>
          </a:p>
        </p:txBody>
      </p:sp>
      <p:sp>
        <p:nvSpPr>
          <p:cNvPr id="19" name="Rounded Rectangle 18"/>
          <p:cNvSpPr/>
          <p:nvPr/>
        </p:nvSpPr>
        <p:spPr>
          <a:xfrm>
            <a:off x="7704504" y="2546001"/>
            <a:ext cx="4066567" cy="509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logger.py</a:t>
            </a:r>
            <a:r>
              <a:rPr sz="1080" b="0">
                <a:solidFill>
                  <a:srgbClr val="0B1F3A"/>
                </a:solidFill>
                <a:latin typeface="Segoe UI"/>
              </a:rPr>
              <a:t> emits one structured JSON line per security event to stdout → captured by the platform's log pipeline. No APM, no metrics, no log file rotation in-repo.</a:t>
            </a:r>
          </a:p>
        </p:txBody>
      </p:sp>
      <p:sp>
        <p:nvSpPr>
          <p:cNvPr id="20" name="Rounded Rectangle 19"/>
          <p:cNvSpPr/>
          <p:nvPr/>
        </p:nvSpPr>
        <p:spPr>
          <a:xfrm>
            <a:off x="7576488" y="3414840"/>
            <a:ext cx="4304311" cy="1039908"/>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1" name="Rounded Rectangle 20"/>
          <p:cNvSpPr/>
          <p:nvPr/>
        </p:nvSpPr>
        <p:spPr>
          <a:xfrm>
            <a:off x="7704504" y="3506280"/>
            <a:ext cx="4066567"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t>
            </a:r>
            <a:r>
              <a:rPr sz="1180" b="0">
                <a:solidFill>
                  <a:srgbClr val="062B57"/>
                </a:solidFill>
                <a:latin typeface="Segoe UI"/>
              </a:rPr>
              <a:t>External services</a:t>
            </a:r>
          </a:p>
        </p:txBody>
      </p:sp>
      <p:sp>
        <p:nvSpPr>
          <p:cNvPr id="22" name="Rounded Rectangle 21"/>
          <p:cNvSpPr/>
          <p:nvPr/>
        </p:nvSpPr>
        <p:spPr>
          <a:xfrm>
            <a:off x="7704504" y="3732213"/>
            <a:ext cx="4066567" cy="509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1">
                <a:solidFill>
                  <a:srgbClr val="0B1F3A"/>
                </a:solidFill>
                <a:latin typeface="Segoe UI"/>
              </a:rPr>
              <a:t>One only:</a:t>
            </a:r>
            <a:r>
              <a:rPr sz="1080" b="0">
                <a:solidFill>
                  <a:srgbClr val="0B1F3A"/>
                </a:solidFill>
                <a:latin typeface="Segoe UI"/>
              </a:rPr>
              <a:t> Render's REST API — and it is called by </a:t>
            </a:r>
            <a:r>
              <a:rPr sz="1080" b="1">
                <a:solidFill>
                  <a:srgbClr val="0B1F3A"/>
                </a:solidFill>
                <a:latin typeface="Segoe UI"/>
              </a:rPr>
              <a:t>GitHub Actions</a:t>
            </a:r>
            <a:r>
              <a:rPr sz="1080" b="0">
                <a:solidFill>
                  <a:srgbClr val="0B1F3A"/>
                </a:solidFill>
                <a:latin typeface="Segoe UI"/>
              </a:rPr>
              <a:t>, never by the app. Read-only, GET only, no secret-returning endpoints.</a:t>
            </a:r>
          </a:p>
        </p:txBody>
      </p:sp>
      <p:sp>
        <p:nvSpPr>
          <p:cNvPr id="23" name="Rounded Rectangle 22"/>
          <p:cNvSpPr/>
          <p:nvPr/>
        </p:nvSpPr>
        <p:spPr>
          <a:xfrm>
            <a:off x="7576488" y="4601053"/>
            <a:ext cx="4304311" cy="1039908"/>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4" name="Rounded Rectangle 23"/>
          <p:cNvSpPr/>
          <p:nvPr/>
        </p:nvSpPr>
        <p:spPr>
          <a:xfrm>
            <a:off x="7704504" y="4692493"/>
            <a:ext cx="4066567"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t>
            </a:r>
            <a:r>
              <a:rPr sz="1180" b="0">
                <a:solidFill>
                  <a:srgbClr val="062B57"/>
                </a:solidFill>
                <a:latin typeface="Segoe UI"/>
              </a:rPr>
              <a:t>What is deliberately absent</a:t>
            </a:r>
          </a:p>
        </p:txBody>
      </p:sp>
      <p:sp>
        <p:nvSpPr>
          <p:cNvPr id="25" name="Rounded Rectangle 24"/>
          <p:cNvSpPr/>
          <p:nvPr/>
        </p:nvSpPr>
        <p:spPr>
          <a:xfrm>
            <a:off x="7704504" y="4918426"/>
            <a:ext cx="4066567" cy="509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No ORM · no JS framework or bundler · no Redis (optional, for limiter storage only) · no queue/worker · no cache · no message broker · no email/SMS provider · no map tile provider.</a:t>
            </a:r>
          </a:p>
        </p:txBody>
      </p:sp>
      <p:sp>
        <p:nvSpPr>
          <p:cNvPr id="26" name="Rounded Rectangle 25"/>
          <p:cNvSpPr/>
          <p:nvPr/>
        </p:nvSpPr>
        <p:spPr>
          <a:xfrm>
            <a:off x="7576488" y="5787265"/>
            <a:ext cx="2152155" cy="65011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5000"/>
              </a:lnSpc>
              <a:spcBef>
                <a:spcPts val="0"/>
              </a:spcBef>
              <a:spcAft>
                <a:spcPts val="0"/>
              </a:spcAft>
            </a:pPr>
            <a:r>
              <a:rPr sz="1120" b="0">
                <a:solidFill>
                  <a:srgbClr val="0B1F3A"/>
                </a:solidFill>
                <a:latin typeface="Segoe UI"/>
              </a:rPr>
              <a:t>CI → deployment feedback loop</a:t>
            </a:r>
          </a:p>
        </p:txBody>
      </p:sp>
      <p:sp>
        <p:nvSpPr>
          <p:cNvPr id="27" name="Rounded Rectangle 26"/>
          <p:cNvSpPr/>
          <p:nvPr/>
        </p:nvSpPr>
        <p:spPr>
          <a:xfrm>
            <a:off x="9874947" y="5787265"/>
            <a:ext cx="2152155" cy="65011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5000"/>
              </a:lnSpc>
              <a:spcBef>
                <a:spcPts val="0"/>
              </a:spcBef>
              <a:spcAft>
                <a:spcPts val="0"/>
              </a:spcAft>
            </a:pPr>
            <a:r>
              <a:rPr sz="1120" b="0">
                <a:solidFill>
                  <a:srgbClr val="0B1F3A"/>
                </a:solidFill>
                <a:latin typeface="Segoe UI"/>
              </a:rPr>
              <a:t>render-observe.yml reads Render logs for the pushed commit, classifies the failure, and opens an issue or a PR — see slide 11.</a:t>
            </a:r>
          </a:p>
        </p:txBody>
      </p:sp>
      <p:sp>
        <p:nvSpPr>
          <p:cNvPr id="28" name="Rounded Rectangle 27"/>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5A6F88"/>
                </a:solidFill>
                <a:latin typeface="Segoe UI"/>
              </a:rPr>
              <a:t>Layer map verified against</a:t>
            </a:r>
            <a:r>
              <a:rPr sz="830" b="0">
                <a:solidFill>
                  <a:srgbClr val="056ECE"/>
                </a:solidFill>
                <a:latin typeface="Consolas"/>
              </a:rPr>
              <a:t>   ·   backend/app.py</a:t>
            </a:r>
            <a:r>
              <a:rPr sz="830" b="0">
                <a:solidFill>
                  <a:srgbClr val="056ECE"/>
                </a:solidFill>
                <a:latin typeface="Consolas"/>
              </a:rPr>
              <a:t>   ·   backend/routes.py · api_bp</a:t>
            </a:r>
            <a:r>
              <a:rPr sz="830" b="0">
                <a:solidFill>
                  <a:srgbClr val="056ECE"/>
                </a:solidFill>
                <a:latin typeface="Consolas"/>
              </a:rPr>
              <a:t>   ·   backend/database.py · get_db_connection()</a:t>
            </a:r>
            <a:r>
              <a:rPr sz="830" b="0">
                <a:solidFill>
                  <a:srgbClr val="056ECE"/>
                </a:solidFill>
                <a:latin typeface="Consolas"/>
              </a:rPr>
              <a:t>   ·   Procfile · render.yaml</a:t>
            </a:r>
            <a:r>
              <a:rPr sz="830" b="0">
                <a:solidFill>
                  <a:srgbClr val="056ECE"/>
                </a:solidFill>
                <a:latin typeface="Consolas"/>
              </a:rPr>
              <a:t>   ·   .github/workflows/render-observe.yml</a:t>
            </a:r>
          </a:p>
        </p:txBody>
      </p:sp>
      <p:sp>
        <p:nvSpPr>
          <p:cNvPr id="29" name="Rounded Rectangle 28"/>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04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04 · TECHNOLOGY STACK</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250" b="0">
                <a:solidFill>
                  <a:srgbClr val="062B57"/>
                </a:solidFill>
                <a:latin typeface="Segoe UI"/>
              </a:rPr>
              <a:t>Eight runtime dependencies, and a reason visible in the code for each</a:t>
            </a:r>
          </a:p>
        </p:txBody>
      </p:sp>
      <p:sp>
        <p:nvSpPr>
          <p:cNvPr id="4" name="Rounded Rectangle 3"/>
          <p:cNvSpPr/>
          <p:nvPr/>
        </p:nvSpPr>
        <p:spPr>
          <a:xfrm>
            <a:off x="457200" y="1042416"/>
            <a:ext cx="3759098" cy="295580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5" name="Rounded Rectangle 4"/>
          <p:cNvSpPr/>
          <p:nvPr/>
        </p:nvSpPr>
        <p:spPr>
          <a:xfrm>
            <a:off x="585216" y="1133856"/>
            <a:ext cx="3521354"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Frontend</a:t>
            </a:r>
          </a:p>
        </p:txBody>
      </p:sp>
      <p:sp>
        <p:nvSpPr>
          <p:cNvPr id="6" name="Rounded Rectangle 5"/>
          <p:cNvSpPr/>
          <p:nvPr/>
        </p:nvSpPr>
        <p:spPr>
          <a:xfrm>
            <a:off x="585216" y="1359789"/>
            <a:ext cx="3521354" cy="33680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spcBef>
                <a:spcPts val="0"/>
              </a:spcBef>
              <a:spcAft>
                <a:spcPts val="0"/>
              </a:spcAft>
            </a:pPr>
            <a:r>
              <a:rPr sz="1000" b="0">
                <a:solidFill>
                  <a:srgbClr val="056ECE"/>
                </a:solidFill>
                <a:latin typeface="Consolas"/>
              </a:rPr>
              <a:t>HTML5   ·   CSS3 · custom props   ·   Vanilla JS   ·   &lt;canvas&gt; 2D</a:t>
            </a:r>
          </a:p>
        </p:txBody>
      </p:sp>
      <p:sp>
        <p:nvSpPr>
          <p:cNvPr id="7" name="Rounded Rectangle 6"/>
          <p:cNvSpPr/>
          <p:nvPr/>
        </p:nvSpPr>
        <p:spPr>
          <a:xfrm>
            <a:off x="585216" y="1749628"/>
            <a:ext cx="3521354" cy="98663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1">
                <a:solidFill>
                  <a:srgbClr val="0B1F3A"/>
                </a:solidFill>
                <a:latin typeface="Segoe UI"/>
              </a:rPr>
              <a:t>Why:</a:t>
            </a:r>
            <a:r>
              <a:rPr sz="1080" b="0">
                <a:solidFill>
                  <a:srgbClr val="0B1F3A"/>
                </a:solidFill>
                <a:latin typeface="Segoe UI"/>
              </a:rPr>
              <a:t> no bundler, no framework — the same Flask process serves </a:t>
            </a:r>
            <a:r>
              <a:rPr sz="1080" b="0">
                <a:solidFill>
                  <a:srgbClr val="056ECE"/>
                </a:solidFill>
                <a:latin typeface="Consolas"/>
              </a:rPr>
              <a:t>static_folder='frontend'</a:t>
            </a:r>
            <a:r>
              <a:rPr sz="1080" b="0">
                <a:solidFill>
                  <a:srgbClr val="0B1F3A"/>
                </a:solidFill>
                <a:latin typeface="Segoe UI"/>
              </a:rPr>
              <a:t>, so the whole app is one deployable unit. Charts and the map are hand-drawn on </a:t>
            </a:r>
            <a:r>
              <a:rPr sz="1080" b="0">
                <a:solidFill>
                  <a:srgbClr val="056ECE"/>
                </a:solidFill>
                <a:latin typeface="Consolas"/>
              </a:rPr>
              <a:t>canvas</a:t>
            </a:r>
            <a:r>
              <a:rPr sz="1080" b="0">
                <a:solidFill>
                  <a:srgbClr val="0B1F3A"/>
                </a:solidFill>
                <a:latin typeface="Segoe UI"/>
              </a:rPr>
              <a:t> rather than pulling in a charting or tile library. Responsive behaviour is media queries + a drawer, not a component library.</a:t>
            </a:r>
          </a:p>
        </p:txBody>
      </p:sp>
      <p:sp>
        <p:nvSpPr>
          <p:cNvPr id="8" name="Rounded Rectangle 7"/>
          <p:cNvSpPr/>
          <p:nvPr/>
        </p:nvSpPr>
        <p:spPr>
          <a:xfrm>
            <a:off x="4362602" y="1042416"/>
            <a:ext cx="3759098" cy="295580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9" name="Rounded Rectangle 8"/>
          <p:cNvSpPr/>
          <p:nvPr/>
        </p:nvSpPr>
        <p:spPr>
          <a:xfrm>
            <a:off x="4490618" y="1133856"/>
            <a:ext cx="3521354"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Backend</a:t>
            </a:r>
          </a:p>
        </p:txBody>
      </p:sp>
      <p:sp>
        <p:nvSpPr>
          <p:cNvPr id="10" name="Rounded Rectangle 9"/>
          <p:cNvSpPr/>
          <p:nvPr/>
        </p:nvSpPr>
        <p:spPr>
          <a:xfrm>
            <a:off x="4490618" y="1359789"/>
            <a:ext cx="3521354" cy="33680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spcBef>
                <a:spcPts val="0"/>
              </a:spcBef>
              <a:spcAft>
                <a:spcPts val="0"/>
              </a:spcAft>
            </a:pPr>
            <a:r>
              <a:rPr sz="1000" b="0">
                <a:solidFill>
                  <a:srgbClr val="056ECE"/>
                </a:solidFill>
                <a:latin typeface="Consolas"/>
              </a:rPr>
              <a:t>Flask ≥2.3,&lt;4   ·   Blueprint   ·   Werkzeug   ·   flask-cors   ·   flask-limiter + limits   ·   python-dotenv</a:t>
            </a:r>
          </a:p>
        </p:txBody>
      </p:sp>
      <p:sp>
        <p:nvSpPr>
          <p:cNvPr id="11" name="Rounded Rectangle 10"/>
          <p:cNvSpPr/>
          <p:nvPr/>
        </p:nvSpPr>
        <p:spPr>
          <a:xfrm>
            <a:off x="4490618" y="1749628"/>
            <a:ext cx="3521354" cy="130484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1">
                <a:solidFill>
                  <a:srgbClr val="0B1F3A"/>
                </a:solidFill>
                <a:latin typeface="Segoe UI"/>
              </a:rPr>
              <a:t>Why:</a:t>
            </a:r>
            <a:r>
              <a:rPr sz="1080" b="0">
                <a:solidFill>
                  <a:srgbClr val="0B1F3A"/>
                </a:solidFill>
                <a:latin typeface="Segoe UI"/>
              </a:rPr>
              <a:t> 26 JSON routes need routing, sessions and decorators — nothing more. </a:t>
            </a:r>
            <a:r>
              <a:rPr sz="1080" b="0">
                <a:solidFill>
                  <a:srgbClr val="056ECE"/>
                </a:solidFill>
                <a:latin typeface="Consolas"/>
              </a:rPr>
              <a:t>flask-limiter</a:t>
            </a:r>
            <a:r>
              <a:rPr sz="1080" b="0">
                <a:solidFill>
                  <a:srgbClr val="0B1F3A"/>
                </a:solidFill>
                <a:latin typeface="Segoe UI"/>
              </a:rPr>
              <a:t> buys the rate-limit requirement without hand-rolling a token bucket; </a:t>
            </a:r>
            <a:r>
              <a:rPr sz="1080" b="0">
                <a:solidFill>
                  <a:srgbClr val="056ECE"/>
                </a:solidFill>
                <a:latin typeface="Consolas"/>
              </a:rPr>
              <a:t>limits</a:t>
            </a:r>
            <a:r>
              <a:rPr sz="1080" b="0">
                <a:solidFill>
                  <a:srgbClr val="0B1F3A"/>
                </a:solidFill>
                <a:latin typeface="Segoe UI"/>
              </a:rPr>
              <a:t> is its storage backend. Werkzeug provides </a:t>
            </a:r>
            <a:r>
              <a:rPr sz="1080" b="0">
                <a:solidFill>
                  <a:srgbClr val="056ECE"/>
                </a:solidFill>
                <a:latin typeface="Consolas"/>
              </a:rPr>
              <a:t>generate_password_hash / check_password_hash</a:t>
            </a:r>
            <a:r>
              <a:rPr sz="1080" b="0">
                <a:solidFill>
                  <a:srgbClr val="0B1F3A"/>
                </a:solidFill>
                <a:latin typeface="Segoe UI"/>
              </a:rPr>
              <a:t>, so no extra crypto dependency is needed. dotenv is imported in a </a:t>
            </a:r>
            <a:r>
              <a:rPr sz="1080" b="0">
                <a:solidFill>
                  <a:srgbClr val="056ECE"/>
                </a:solidFill>
                <a:latin typeface="Consolas"/>
              </a:rPr>
              <a:t>try/except ImportError</a:t>
            </a:r>
            <a:r>
              <a:rPr sz="1080" b="0">
                <a:solidFill>
                  <a:srgbClr val="0B1F3A"/>
                </a:solidFill>
                <a:latin typeface="Segoe UI"/>
              </a:rPr>
              <a:t> so the app still boots without it.</a:t>
            </a:r>
          </a:p>
        </p:txBody>
      </p:sp>
      <p:sp>
        <p:nvSpPr>
          <p:cNvPr id="12" name="Rounded Rectangle 11"/>
          <p:cNvSpPr/>
          <p:nvPr/>
        </p:nvSpPr>
        <p:spPr>
          <a:xfrm>
            <a:off x="8268004" y="1042416"/>
            <a:ext cx="3759098" cy="295580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3" name="Rounded Rectangle 12"/>
          <p:cNvSpPr/>
          <p:nvPr/>
        </p:nvSpPr>
        <p:spPr>
          <a:xfrm>
            <a:off x="8396020" y="1133856"/>
            <a:ext cx="3521354"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Data</a:t>
            </a:r>
          </a:p>
        </p:txBody>
      </p:sp>
      <p:sp>
        <p:nvSpPr>
          <p:cNvPr id="14" name="Rounded Rectangle 13"/>
          <p:cNvSpPr/>
          <p:nvPr/>
        </p:nvSpPr>
        <p:spPr>
          <a:xfrm>
            <a:off x="8396020" y="1359789"/>
            <a:ext cx="3521354" cy="33680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spcBef>
                <a:spcPts val="0"/>
              </a:spcBef>
              <a:spcAft>
                <a:spcPts val="0"/>
              </a:spcAft>
            </a:pPr>
            <a:r>
              <a:rPr sz="1000" b="0">
                <a:solidFill>
                  <a:srgbClr val="056ECE"/>
                </a:solidFill>
                <a:latin typeface="Consolas"/>
              </a:rPr>
              <a:t>sqlite3 (stdlib)   ·   PostgreSQL via psycopg2-binary   ·   Raw SQL + CHECK constraints</a:t>
            </a:r>
          </a:p>
        </p:txBody>
      </p:sp>
      <p:sp>
        <p:nvSpPr>
          <p:cNvPr id="15" name="Rounded Rectangle 14"/>
          <p:cNvSpPr/>
          <p:nvPr/>
        </p:nvSpPr>
        <p:spPr>
          <a:xfrm>
            <a:off x="8396020" y="1749628"/>
            <a:ext cx="3521354" cy="114574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1">
                <a:solidFill>
                  <a:srgbClr val="0B1F3A"/>
                </a:solidFill>
                <a:latin typeface="Segoe UI"/>
              </a:rPr>
              <a:t>Why:</a:t>
            </a:r>
            <a:r>
              <a:rPr sz="1080" b="0">
                <a:solidFill>
                  <a:srgbClr val="0B1F3A"/>
                </a:solidFill>
                <a:latin typeface="Segoe UI"/>
              </a:rPr>
              <a:t> zero-config persistence in dev, real RDBMS in prod, behind one </a:t>
            </a:r>
            <a:r>
              <a:rPr sz="1080" b="0">
                <a:solidFill>
                  <a:srgbClr val="056ECE"/>
                </a:solidFill>
                <a:latin typeface="Consolas"/>
              </a:rPr>
              <a:t>get_db_connection()</a:t>
            </a:r>
            <a:r>
              <a:rPr sz="1080" b="0">
                <a:solidFill>
                  <a:srgbClr val="0B1F3A"/>
                </a:solidFill>
                <a:latin typeface="Segoe UI"/>
              </a:rPr>
              <a:t> switch. No ORM: the queries are short, aggregate-heavy KPI SQL and an ORM would add a layer without removing hand-written SQL. Integrity is enforced in the schema (10-value status enum, FK cascade), so the API cannot corrupt state even if a route forgets to validate.</a:t>
            </a:r>
          </a:p>
        </p:txBody>
      </p:sp>
      <p:sp>
        <p:nvSpPr>
          <p:cNvPr id="16" name="Rounded Rectangle 15"/>
          <p:cNvSpPr/>
          <p:nvPr/>
        </p:nvSpPr>
        <p:spPr>
          <a:xfrm>
            <a:off x="457200" y="4144520"/>
            <a:ext cx="3759098" cy="2292855"/>
          </a:xfrm>
          <a:prstGeom prst="roundRect">
            <a:avLst>
              <a:gd name="adj" fmla="val 5500"/>
            </a:avLst>
          </a:prstGeom>
          <a:solidFill>
            <a:srgbClr val="E5F8EE"/>
          </a:solidFill>
          <a:ln w="9525">
            <a:solidFill>
              <a:srgbClr val="08A75A"/>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7" name="Rounded Rectangle 16"/>
          <p:cNvSpPr/>
          <p:nvPr/>
        </p:nvSpPr>
        <p:spPr>
          <a:xfrm>
            <a:off x="468172" y="4226816"/>
            <a:ext cx="41148" cy="2128263"/>
          </a:xfrm>
          <a:prstGeom prst="roundRect">
            <a:avLst>
              <a:gd name="adj" fmla="val 50000"/>
            </a:avLst>
          </a:prstGeom>
          <a:solidFill>
            <a:srgbClr val="08A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5216" y="4235960"/>
            <a:ext cx="3521354"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8A75A"/>
                </a:solidFill>
                <a:latin typeface="Segoe UI"/>
              </a:rPr>
              <a:t>Security primitives</a:t>
            </a:r>
          </a:p>
        </p:txBody>
      </p:sp>
      <p:sp>
        <p:nvSpPr>
          <p:cNvPr id="19" name="Rounded Rectangle 18"/>
          <p:cNvSpPr/>
          <p:nvPr/>
        </p:nvSpPr>
        <p:spPr>
          <a:xfrm>
            <a:off x="585216" y="4461893"/>
            <a:ext cx="3521354" cy="33680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spcBef>
                <a:spcPts val="0"/>
              </a:spcBef>
              <a:spcAft>
                <a:spcPts val="0"/>
              </a:spcAft>
            </a:pPr>
            <a:r>
              <a:rPr sz="1000" b="0">
                <a:solidFill>
                  <a:srgbClr val="056ECE"/>
                </a:solidFill>
                <a:latin typeface="Consolas"/>
              </a:rPr>
              <a:t>secrets.randbelow   ·   uuid4 (IDs)   ·   pbkdf2 hashes   ·   session cookie flags</a:t>
            </a:r>
          </a:p>
        </p:txBody>
      </p:sp>
      <p:sp>
        <p:nvSpPr>
          <p:cNvPr id="20" name="Rounded Rectangle 19"/>
          <p:cNvSpPr/>
          <p:nvPr/>
        </p:nvSpPr>
        <p:spPr>
          <a:xfrm>
            <a:off x="585216" y="4851733"/>
            <a:ext cx="3521354" cy="66842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1">
                <a:solidFill>
                  <a:srgbClr val="0B1F3A"/>
                </a:solidFill>
                <a:latin typeface="Segoe UI"/>
              </a:rPr>
              <a:t>Why:</a:t>
            </a:r>
            <a:r>
              <a:rPr sz="1080" b="0">
                <a:solidFill>
                  <a:srgbClr val="0B1F3A"/>
                </a:solidFill>
                <a:latin typeface="Segoe UI"/>
              </a:rPr>
              <a:t> </a:t>
            </a:r>
            <a:r>
              <a:rPr sz="1080" b="0">
                <a:solidFill>
                  <a:srgbClr val="056ECE"/>
                </a:solidFill>
                <a:latin typeface="Consolas"/>
              </a:rPr>
              <a:t>secrets</a:t>
            </a:r>
            <a:r>
              <a:rPr sz="1080" b="0">
                <a:solidFill>
                  <a:srgbClr val="0B1F3A"/>
                </a:solidFill>
                <a:latin typeface="Segoe UI"/>
              </a:rPr>
              <a:t> is the CSPRNG — replacing </a:t>
            </a:r>
            <a:r>
              <a:rPr sz="1080" b="0">
                <a:solidFill>
                  <a:srgbClr val="056ECE"/>
                </a:solidFill>
                <a:latin typeface="Consolas"/>
              </a:rPr>
              <a:t>random.randint</a:t>
            </a:r>
            <a:r>
              <a:rPr sz="1080" b="0">
                <a:solidFill>
                  <a:srgbClr val="0B1F3A"/>
                </a:solidFill>
                <a:latin typeface="Segoe UI"/>
              </a:rPr>
              <a:t> for OTPs was finding F-04 in the audit. </a:t>
            </a:r>
            <a:r>
              <a:rPr sz="1080" b="0">
                <a:solidFill>
                  <a:srgbClr val="056ECE"/>
                </a:solidFill>
                <a:latin typeface="Consolas"/>
              </a:rPr>
              <a:t>uuid4().hex[:8]</a:t>
            </a:r>
            <a:r>
              <a:rPr sz="1080" b="0">
                <a:solidFill>
                  <a:srgbClr val="0B1F3A"/>
                </a:solidFill>
                <a:latin typeface="Segoe UI"/>
              </a:rPr>
              <a:t> IDs remove enumeration (F-13). Both are stdlib, so no dependency is added to fix a vulnerability.</a:t>
            </a:r>
          </a:p>
        </p:txBody>
      </p:sp>
      <p:sp>
        <p:nvSpPr>
          <p:cNvPr id="21" name="Rounded Rectangle 20"/>
          <p:cNvSpPr/>
          <p:nvPr/>
        </p:nvSpPr>
        <p:spPr>
          <a:xfrm>
            <a:off x="4362602" y="4144520"/>
            <a:ext cx="3759098" cy="2292855"/>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2" name="Rounded Rectangle 21"/>
          <p:cNvSpPr/>
          <p:nvPr/>
        </p:nvSpPr>
        <p:spPr>
          <a:xfrm>
            <a:off x="4490618" y="4235960"/>
            <a:ext cx="3521354"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Quality &amp; CI</a:t>
            </a:r>
          </a:p>
        </p:txBody>
      </p:sp>
      <p:sp>
        <p:nvSpPr>
          <p:cNvPr id="23" name="Rounded Rectangle 22"/>
          <p:cNvSpPr/>
          <p:nvPr/>
        </p:nvSpPr>
        <p:spPr>
          <a:xfrm>
            <a:off x="4490618" y="4461893"/>
            <a:ext cx="3521354" cy="48920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spcBef>
                <a:spcPts val="0"/>
              </a:spcBef>
              <a:spcAft>
                <a:spcPts val="0"/>
              </a:spcAft>
            </a:pPr>
            <a:r>
              <a:rPr sz="1000" b="0">
                <a:solidFill>
                  <a:srgbClr val="056ECE"/>
                </a:solidFill>
                <a:latin typeface="Consolas"/>
              </a:rPr>
              <a:t>GitHub Actions   ·   gitleaks   ·   Semgrep (7 custom rules)   ·   py_compile   ·   pip-audit   ·   pre-commit   ·   pytest · pytest-cov</a:t>
            </a:r>
          </a:p>
        </p:txBody>
      </p:sp>
      <p:sp>
        <p:nvSpPr>
          <p:cNvPr id="24" name="Rounded Rectangle 23"/>
          <p:cNvSpPr/>
          <p:nvPr/>
        </p:nvSpPr>
        <p:spPr>
          <a:xfrm>
            <a:off x="4490618" y="5004133"/>
            <a:ext cx="3521354" cy="82753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1">
                <a:solidFill>
                  <a:srgbClr val="0B1F3A"/>
                </a:solidFill>
                <a:latin typeface="Segoe UI"/>
              </a:rPr>
              <a:t>Why:</a:t>
            </a:r>
            <a:r>
              <a:rPr sz="1080" b="0">
                <a:solidFill>
                  <a:srgbClr val="0B1F3A"/>
                </a:solidFill>
                <a:latin typeface="Segoe UI"/>
              </a:rPr>
              <a:t> cheap static gates (syntax, secrets, SAST) run in &lt;60 s on every PR; pytest is wired but has no test files to run yet (slide 13); pip-audit is informational by design (</a:t>
            </a:r>
            <a:r>
              <a:rPr sz="1080" b="0">
                <a:solidFill>
                  <a:srgbClr val="056ECE"/>
                </a:solidFill>
                <a:latin typeface="Consolas"/>
              </a:rPr>
              <a:t>|| true</a:t>
            </a:r>
            <a:r>
              <a:rPr sz="1080" b="0">
                <a:solidFill>
                  <a:srgbClr val="0B1F3A"/>
                </a:solidFill>
                <a:latin typeface="Segoe UI"/>
              </a:rPr>
              <a:t>) until a clean baseline exists.</a:t>
            </a:r>
          </a:p>
        </p:txBody>
      </p:sp>
      <p:sp>
        <p:nvSpPr>
          <p:cNvPr id="25" name="Rounded Rectangle 24"/>
          <p:cNvSpPr/>
          <p:nvPr/>
        </p:nvSpPr>
        <p:spPr>
          <a:xfrm>
            <a:off x="8268004" y="4144520"/>
            <a:ext cx="3759098" cy="2292855"/>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6" name="Rounded Rectangle 25"/>
          <p:cNvSpPr/>
          <p:nvPr/>
        </p:nvSpPr>
        <p:spPr>
          <a:xfrm>
            <a:off x="8396020" y="4235960"/>
            <a:ext cx="3521354"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Deployment &amp; scripting</a:t>
            </a:r>
          </a:p>
        </p:txBody>
      </p:sp>
      <p:sp>
        <p:nvSpPr>
          <p:cNvPr id="27" name="Rounded Rectangle 26"/>
          <p:cNvSpPr/>
          <p:nvPr/>
        </p:nvSpPr>
        <p:spPr>
          <a:xfrm>
            <a:off x="8396020" y="4461893"/>
            <a:ext cx="3521354" cy="33680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spcBef>
                <a:spcPts val="0"/>
              </a:spcBef>
              <a:spcAft>
                <a:spcPts val="0"/>
              </a:spcAft>
            </a:pPr>
            <a:r>
              <a:rPr sz="1000" b="0">
                <a:solidFill>
                  <a:srgbClr val="056ECE"/>
                </a:solidFill>
                <a:latin typeface="Consolas"/>
              </a:rPr>
              <a:t>Gunicorn   ·   Render (Procfile + render.yaml)   ·   systemd/Nginx docs   ·   Python stdlib scripts</a:t>
            </a:r>
          </a:p>
        </p:txBody>
      </p:sp>
      <p:sp>
        <p:nvSpPr>
          <p:cNvPr id="28" name="Rounded Rectangle 27"/>
          <p:cNvSpPr/>
          <p:nvPr/>
        </p:nvSpPr>
        <p:spPr>
          <a:xfrm>
            <a:off x="8396020" y="4851733"/>
            <a:ext cx="3521354" cy="82753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1">
                <a:solidFill>
                  <a:srgbClr val="0B1F3A"/>
                </a:solidFill>
                <a:latin typeface="Segoe UI"/>
              </a:rPr>
              <a:t>Why:</a:t>
            </a:r>
            <a:r>
              <a:rPr sz="1080" b="0">
                <a:solidFill>
                  <a:srgbClr val="0B1F3A"/>
                </a:solidFill>
                <a:latin typeface="Segoe UI"/>
              </a:rPr>
              <a:t> </a:t>
            </a:r>
            <a:r>
              <a:rPr sz="1080" b="0">
                <a:solidFill>
                  <a:srgbClr val="056ECE"/>
                </a:solidFill>
                <a:latin typeface="Consolas"/>
              </a:rPr>
              <a:t>web: gunicorn backend.app:app</a:t>
            </a:r>
            <a:r>
              <a:rPr sz="1080" b="0">
                <a:solidFill>
                  <a:srgbClr val="0B1F3A"/>
                </a:solidFill>
                <a:latin typeface="Segoe UI"/>
              </a:rPr>
              <a:t> is the whole runtime; </a:t>
            </a:r>
            <a:r>
              <a:rPr sz="1080" b="0">
                <a:solidFill>
                  <a:srgbClr val="056ECE"/>
                </a:solidFill>
                <a:latin typeface="Consolas"/>
              </a:rPr>
              <a:t>render.yaml</a:t>
            </a:r>
            <a:r>
              <a:rPr sz="1080" b="0">
                <a:solidFill>
                  <a:srgbClr val="0B1F3A"/>
                </a:solidFill>
                <a:latin typeface="Segoe UI"/>
              </a:rPr>
              <a:t> keeps infra in git with </a:t>
            </a:r>
            <a:r>
              <a:rPr sz="1080" b="0">
                <a:solidFill>
                  <a:srgbClr val="056ECE"/>
                </a:solidFill>
                <a:latin typeface="Consolas"/>
              </a:rPr>
              <a:t>sync: false</a:t>
            </a:r>
            <a:r>
              <a:rPr sz="1080" b="0">
                <a:solidFill>
                  <a:srgbClr val="0B1F3A"/>
                </a:solidFill>
                <a:latin typeface="Segoe UI"/>
              </a:rPr>
              <a:t> on every secret. The ops scripts use </a:t>
            </a:r>
            <a:r>
              <a:rPr sz="1080" b="0">
                <a:solidFill>
                  <a:srgbClr val="056ECE"/>
                </a:solidFill>
                <a:latin typeface="Consolas"/>
              </a:rPr>
              <a:t>urllib</a:t>
            </a:r>
            <a:r>
              <a:rPr sz="1080" b="0">
                <a:solidFill>
                  <a:srgbClr val="0B1F3A"/>
                </a:solidFill>
                <a:latin typeface="Segoe UI"/>
              </a:rPr>
              <a:t> only — no </a:t>
            </a:r>
            <a:r>
              <a:rPr sz="1080" b="0">
                <a:solidFill>
                  <a:srgbClr val="056ECE"/>
                </a:solidFill>
                <a:latin typeface="Consolas"/>
              </a:rPr>
              <a:t>requests</a:t>
            </a:r>
            <a:r>
              <a:rPr sz="1080" b="0">
                <a:solidFill>
                  <a:srgbClr val="0B1F3A"/>
                </a:solidFill>
                <a:latin typeface="Segoe UI"/>
              </a:rPr>
              <a:t> — so CI needs no extra install step and the app's dependency list stays small.</a:t>
            </a:r>
          </a:p>
        </p:txBody>
      </p:sp>
      <p:sp>
        <p:nvSpPr>
          <p:cNvPr id="29" name="Rounded Rectangle 28"/>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5A6F88"/>
                </a:solidFill>
                <a:latin typeface="Segoe UI"/>
              </a:rPr>
              <a:t>Counts from</a:t>
            </a:r>
            <a:r>
              <a:rPr sz="830" b="0">
                <a:solidFill>
                  <a:srgbClr val="056ECE"/>
                </a:solidFill>
                <a:latin typeface="Consolas"/>
              </a:rPr>
              <a:t>   ·   requirements.txt · 8 packages</a:t>
            </a:r>
            <a:r>
              <a:rPr sz="830" b="0">
                <a:solidFill>
                  <a:srgbClr val="056ECE"/>
                </a:solidFill>
                <a:latin typeface="Consolas"/>
              </a:rPr>
              <a:t>   ·   backend/config.py</a:t>
            </a:r>
            <a:r>
              <a:rPr sz="830" b="0">
                <a:solidFill>
                  <a:srgbClr val="056ECE"/>
                </a:solidFill>
                <a:latin typeface="Consolas"/>
              </a:rPr>
              <a:t>   ·   backend/database.py · psycopg2 branch</a:t>
            </a:r>
            <a:r>
              <a:rPr sz="830" b="0">
                <a:solidFill>
                  <a:srgbClr val="056ECE"/>
                </a:solidFill>
                <a:latin typeface="Consolas"/>
              </a:rPr>
              <a:t>   ·   scripts/render_observe.py · urllib</a:t>
            </a:r>
            <a:r>
              <a:rPr sz="860" b="1">
                <a:solidFill>
                  <a:srgbClr val="056ECE"/>
                </a:solidFill>
                <a:latin typeface="Segoe UI"/>
              </a:rPr>
              <a:t>   ·   Nothing here is inferred from what a package could do — only from import sites in this repo.</a:t>
            </a:r>
          </a:p>
        </p:txBody>
      </p:sp>
      <p:sp>
        <p:nvSpPr>
          <p:cNvPr id="30" name="Rounded Rectangle 29"/>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05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05 · CODEBASE ARCHITECTURE</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500" b="0">
                <a:solidFill>
                  <a:srgbClr val="062B57"/>
                </a:solidFill>
                <a:latin typeface="Segoe UI"/>
              </a:rPr>
              <a:t>Thin routes, fat services, no SQL in the view layer</a:t>
            </a:r>
          </a:p>
        </p:txBody>
      </p:sp>
      <p:sp>
        <p:nvSpPr>
          <p:cNvPr id="4" name="Rounded Rectangle 3"/>
          <p:cNvSpPr/>
          <p:nvPr/>
        </p:nvSpPr>
        <p:spPr>
          <a:xfrm>
            <a:off x="457200" y="1042416"/>
            <a:ext cx="5694475" cy="2809112"/>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Apex-Flow/</a:t>
            </a:r>
            <a:r>
              <a:rPr sz="550">
                <a:solidFill>
                  <a:srgbClr val="9FB6CE"/>
                </a:solidFill>
                <a:latin typeface="Segoe UI"/>
              </a:rPr>
              <a:t>   LOC per area · Python 1,914 · JS 1,199 · HTML 2,019 · CSS 1,109 · docs+scripts 3,241 (excl. the deck and notes added for this review)</a:t>
            </a:r>
          </a:p>
          <a:p>
            <a:pPr>
              <a:lnSpc>
                <a:spcPct val="100000"/>
              </a:lnSpc>
              <a:spcBef>
                <a:spcPts val="0"/>
              </a:spcBef>
              <a:spcAft>
                <a:spcPts val="0"/>
              </a:spcAft>
            </a:pPr>
            <a:r>
              <a:rPr sz="650">
                <a:solidFill>
                  <a:srgbClr val="D7E6F7"/>
                </a:solidFill>
                <a:latin typeface="Consolas"/>
              </a:rPr>
              <a:t>Apex-Flow/</a:t>
            </a:r>
          </a:p>
          <a:p>
            <a:pPr>
              <a:lnSpc>
                <a:spcPct val="100000"/>
              </a:lnSpc>
              <a:spcBef>
                <a:spcPts val="0"/>
              </a:spcBef>
              <a:spcAft>
                <a:spcPts val="0"/>
              </a:spcAft>
            </a:pPr>
            <a:r>
              <a:rPr sz="650">
                <a:solidFill>
                  <a:srgbClr val="D7E6F7"/>
                </a:solidFill>
                <a:latin typeface="Consolas"/>
              </a:rPr>
              <a:t>├── backend/ # 1,914 lines — Flask REST API, 11 modules</a:t>
            </a:r>
          </a:p>
          <a:p>
            <a:pPr>
              <a:lnSpc>
                <a:spcPct val="100000"/>
              </a:lnSpc>
              <a:spcBef>
                <a:spcPts val="0"/>
              </a:spcBef>
              <a:spcAft>
                <a:spcPts val="0"/>
              </a:spcAft>
            </a:pPr>
            <a:r>
              <a:rPr sz="650">
                <a:solidFill>
                  <a:srgbClr val="D7E6F7"/>
                </a:solidFill>
                <a:latin typeface="Consolas"/>
              </a:rPr>
              <a:t>│ ├── app.py # 102 · WSGI entry, CORS, limiter, cookies, static</a:t>
            </a:r>
          </a:p>
          <a:p>
            <a:pPr>
              <a:lnSpc>
                <a:spcPct val="100000"/>
              </a:lnSpc>
              <a:spcBef>
                <a:spcPts val="0"/>
              </a:spcBef>
              <a:spcAft>
                <a:spcPts val="0"/>
              </a:spcAft>
            </a:pPr>
            <a:r>
              <a:rPr sz="650">
                <a:solidFill>
                  <a:srgbClr val="D7E6F7"/>
                </a:solidFill>
                <a:latin typeface="Consolas"/>
              </a:rPr>
              <a:t>│ ├── routes.py # 379 · Blueprint, 26 handlers over 21 paths, zero business logic</a:t>
            </a:r>
          </a:p>
          <a:p>
            <a:pPr>
              <a:lnSpc>
                <a:spcPct val="100000"/>
              </a:lnSpc>
              <a:spcBef>
                <a:spcPts val="0"/>
              </a:spcBef>
              <a:spcAft>
                <a:spcPts val="0"/>
              </a:spcAft>
            </a:pPr>
            <a:r>
              <a:rPr sz="650">
                <a:solidFill>
                  <a:srgbClr val="D7E6F7"/>
                </a:solidFill>
                <a:latin typeface="Consolas"/>
              </a:rPr>
              <a:t>│ ├── auth.py # 94 · @login_required, @require_role, authenticate_user</a:t>
            </a:r>
          </a:p>
          <a:p>
            <a:pPr>
              <a:lnSpc>
                <a:spcPct val="100000"/>
              </a:lnSpc>
              <a:spcBef>
                <a:spcPts val="0"/>
              </a:spcBef>
              <a:spcAft>
                <a:spcPts val="0"/>
              </a:spcAft>
            </a:pPr>
            <a:r>
              <a:rPr sz="650">
                <a:solidFill>
                  <a:srgbClr val="D7E6F7"/>
                </a:solidFill>
                <a:latin typeface="Consolas"/>
              </a:rPr>
              <a:t>│ ├── services.py # 526 · shipment/OTP/invoice/notification logic</a:t>
            </a:r>
          </a:p>
          <a:p>
            <a:pPr>
              <a:lnSpc>
                <a:spcPct val="100000"/>
              </a:lnSpc>
              <a:spcBef>
                <a:spcPts val="0"/>
              </a:spcBef>
              <a:spcAft>
                <a:spcPts val="0"/>
              </a:spcAft>
            </a:pPr>
            <a:r>
              <a:rPr sz="650">
                <a:solidFill>
                  <a:srgbClr val="D7E6F7"/>
                </a:solidFill>
                <a:latin typeface="Consolas"/>
              </a:rPr>
              <a:t>│ ├── database.py # 459 · schema, seed, SQLite↔Postgres wrapper</a:t>
            </a:r>
          </a:p>
          <a:p>
            <a:pPr>
              <a:lnSpc>
                <a:spcPct val="100000"/>
              </a:lnSpc>
              <a:spcBef>
                <a:spcPts val="0"/>
              </a:spcBef>
              <a:spcAft>
                <a:spcPts val="0"/>
              </a:spcAft>
            </a:pPr>
            <a:r>
              <a:rPr sz="650">
                <a:solidFill>
                  <a:srgbClr val="D7E6F7"/>
                </a:solidFill>
                <a:latin typeface="Consolas"/>
              </a:rPr>
              <a:t>│ ├── tracking.py # 96 · time-parameterised position simulation</a:t>
            </a:r>
          </a:p>
          <a:p>
            <a:pPr>
              <a:lnSpc>
                <a:spcPct val="100000"/>
              </a:lnSpc>
              <a:spcBef>
                <a:spcPts val="0"/>
              </a:spcBef>
              <a:spcAft>
                <a:spcPts val="0"/>
              </a:spcAft>
            </a:pPr>
            <a:r>
              <a:rPr sz="650">
                <a:solidFill>
                  <a:srgbClr val="D7E6F7"/>
                </a:solidFill>
                <a:latin typeface="Consolas"/>
              </a:rPr>
              <a:t>│ ├── reports.py # 84 · dashboard KPIs, 4 analytics projections</a:t>
            </a:r>
          </a:p>
          <a:p>
            <a:pPr>
              <a:lnSpc>
                <a:spcPct val="100000"/>
              </a:lnSpc>
              <a:spcBef>
                <a:spcPts val="0"/>
              </a:spcBef>
              <a:spcAft>
                <a:spcPts val="0"/>
              </a:spcAft>
            </a:pPr>
            <a:r>
              <a:rPr sz="650">
                <a:solidFill>
                  <a:srgbClr val="D7E6F7"/>
                </a:solidFill>
                <a:latin typeface="Consolas"/>
              </a:rPr>
              <a:t>│ ├── logger.py # 106 · structured JSON events, PII redaction</a:t>
            </a:r>
          </a:p>
          <a:p>
            <a:pPr>
              <a:lnSpc>
                <a:spcPct val="100000"/>
              </a:lnSpc>
              <a:spcBef>
                <a:spcPts val="0"/>
              </a:spcBef>
              <a:spcAft>
                <a:spcPts val="0"/>
              </a:spcAft>
            </a:pPr>
            <a:r>
              <a:rPr sz="650">
                <a:solidFill>
                  <a:srgbClr val="D7E6F7"/>
                </a:solidFill>
                <a:latin typeface="Consolas"/>
              </a:rPr>
              <a:t>│ └── config/models/utils # 68 · env config, row→dict, response envelope</a:t>
            </a:r>
          </a:p>
          <a:p>
            <a:pPr>
              <a:lnSpc>
                <a:spcPct val="100000"/>
              </a:lnSpc>
              <a:spcBef>
                <a:spcPts val="0"/>
              </a:spcBef>
              <a:spcAft>
                <a:spcPts val="0"/>
              </a:spcAft>
            </a:pPr>
            <a:r>
              <a:rPr sz="650">
                <a:solidFill>
                  <a:srgbClr val="D7E6F7"/>
                </a:solidFill>
                <a:latin typeface="Consolas"/>
              </a:rPr>
              <a:t>├── frontend/ # 15 pages · 14 js modules · 5 css · no build step</a:t>
            </a:r>
          </a:p>
          <a:p>
            <a:pPr>
              <a:lnSpc>
                <a:spcPct val="100000"/>
              </a:lnSpc>
              <a:spcBef>
                <a:spcPts val="0"/>
              </a:spcBef>
              <a:spcAft>
                <a:spcPts val="0"/>
              </a:spcAft>
            </a:pPr>
            <a:r>
              <a:rPr sz="650">
                <a:solidFill>
                  <a:srgbClr val="D7E6F7"/>
                </a:solidFill>
                <a:latin typeface="Consolas"/>
              </a:rPr>
              <a:t>│ ├── js/app.js # 204 · fetchAPI(), toasts, session bootstrap, drawer</a:t>
            </a:r>
          </a:p>
          <a:p>
            <a:pPr>
              <a:lnSpc>
                <a:spcPct val="100000"/>
              </a:lnSpc>
              <a:spcBef>
                <a:spcPts val="0"/>
              </a:spcBef>
              <a:spcAft>
                <a:spcPts val="0"/>
              </a:spcAft>
            </a:pPr>
            <a:r>
              <a:rPr sz="650">
                <a:solidFill>
                  <a:srgbClr val="D7E6F7"/>
                </a:solidFill>
                <a:latin typeface="Consolas"/>
              </a:rPr>
              <a:t>│ ├── js/*.js # one module per page, DOM-only rendering</a:t>
            </a:r>
          </a:p>
          <a:p>
            <a:pPr>
              <a:lnSpc>
                <a:spcPct val="100000"/>
              </a:lnSpc>
              <a:spcBef>
                <a:spcPts val="0"/>
              </a:spcBef>
              <a:spcAft>
                <a:spcPts val="0"/>
              </a:spcAft>
            </a:pPr>
            <a:r>
              <a:rPr sz="650">
                <a:solidFill>
                  <a:srgbClr val="D7E6F7"/>
                </a:solidFill>
                <a:latin typeface="Consolas"/>
              </a:rPr>
              <a:t>│ └── css/style.css # design tokens in :root → deck palette</a:t>
            </a:r>
          </a:p>
          <a:p>
            <a:pPr>
              <a:lnSpc>
                <a:spcPct val="100000"/>
              </a:lnSpc>
              <a:spcBef>
                <a:spcPts val="0"/>
              </a:spcBef>
              <a:spcAft>
                <a:spcPts val="0"/>
              </a:spcAft>
            </a:pPr>
            <a:r>
              <a:rPr sz="650">
                <a:solidFill>
                  <a:srgbClr val="D7E6F7"/>
                </a:solidFill>
                <a:latin typeface="Consolas"/>
              </a:rPr>
              <a:t>├── scripts/ # 1,121 · Render observe / sanitize / fix / escalate</a:t>
            </a:r>
          </a:p>
          <a:p>
            <a:pPr>
              <a:lnSpc>
                <a:spcPct val="100000"/>
              </a:lnSpc>
              <a:spcBef>
                <a:spcPts val="0"/>
              </a:spcBef>
              <a:spcAft>
                <a:spcPts val="0"/>
              </a:spcAft>
            </a:pPr>
            <a:r>
              <a:rPr sz="650">
                <a:solidFill>
                  <a:srgbClr val="D7E6F7"/>
                </a:solidFill>
                <a:latin typeface="Consolas"/>
              </a:rPr>
              <a:t>├── .github/ # ci.yml ×3 jobs · render-observe.yml ×3 · CODEOWNERS</a:t>
            </a:r>
          </a:p>
          <a:p>
            <a:pPr>
              <a:lnSpc>
                <a:spcPct val="100000"/>
              </a:lnSpc>
              <a:spcBef>
                <a:spcPts val="0"/>
              </a:spcBef>
              <a:spcAft>
                <a:spcPts val="0"/>
              </a:spcAft>
            </a:pPr>
            <a:r>
              <a:rPr sz="650">
                <a:solidFill>
                  <a:srgbClr val="D7E6F7"/>
                </a:solidFill>
                <a:latin typeface="Consolas"/>
              </a:rPr>
              <a:t>├── docs/ # API · AUDIT · DEPLOYMENT · CONTRIBUTING · render-agent</a:t>
            </a:r>
          </a:p>
          <a:p>
            <a:pPr>
              <a:lnSpc>
                <a:spcPct val="100000"/>
              </a:lnSpc>
              <a:spcBef>
                <a:spcPts val="0"/>
              </a:spcBef>
              <a:spcAft>
                <a:spcPts val="0"/>
              </a:spcAft>
            </a:pPr>
            <a:r>
              <a:rPr sz="650">
                <a:solidFill>
                  <a:srgbClr val="D7E6F7"/>
                </a:solidFill>
                <a:latin typeface="Consolas"/>
              </a:rPr>
              <a:t>└── data/ # 6 seed JSON files — not read by any code path</a:t>
            </a:r>
          </a:p>
          <a:p>
            <a:pPr>
              <a:lnSpc>
                <a:spcPct val="100000"/>
              </a:lnSpc>
              <a:spcBef>
                <a:spcPts val="0"/>
              </a:spcBef>
              <a:spcAft>
                <a:spcPts val="0"/>
              </a:spcAft>
            </a:pPr>
            <a:r>
              <a:rPr sz="650">
                <a:solidFill>
                  <a:srgbClr val="D7E6F7"/>
                </a:solidFill>
                <a:latin typeface="Consolas"/>
              </a:rPr>
              <a:t>(seeding lives in database.py:seed_demo_data)</a:t>
            </a:r>
          </a:p>
          <a:p>
            <a:pPr>
              <a:lnSpc>
                <a:spcPct val="100000"/>
              </a:lnSpc>
              <a:spcBef>
                <a:spcPts val="0"/>
              </a:spcBef>
              <a:spcAft>
                <a:spcPts val="0"/>
              </a:spcAft>
            </a:pPr>
            <a:r>
              <a:rPr sz="650">
                <a:solidFill>
                  <a:srgbClr val="D7E6F7"/>
                </a:solidFill>
                <a:latin typeface="Consolas"/>
              </a:rPr>
              <a:t>apexflow.db excluded by .gitignore</a:t>
            </a:r>
          </a:p>
        </p:txBody>
      </p:sp>
      <p:sp>
        <p:nvSpPr>
          <p:cNvPr id="5" name="Rounded Rectangle 4"/>
          <p:cNvSpPr/>
          <p:nvPr/>
        </p:nvSpPr>
        <p:spPr>
          <a:xfrm>
            <a:off x="6297979" y="1042416"/>
            <a:ext cx="5582819" cy="216928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6" name="Rounded Rectangle 5"/>
          <p:cNvSpPr/>
          <p:nvPr/>
        </p:nvSpPr>
        <p:spPr>
          <a:xfrm>
            <a:off x="6425995" y="1133856"/>
            <a:ext cx="5345075"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Layer contract, as actually observed</a:t>
            </a:r>
          </a:p>
        </p:txBody>
      </p:sp>
      <p:sp>
        <p:nvSpPr>
          <p:cNvPr id="7" name="Rounded Rectangle 6"/>
          <p:cNvSpPr/>
          <p:nvPr/>
        </p:nvSpPr>
        <p:spPr>
          <a:xfrm>
            <a:off x="6425995" y="1359789"/>
            <a:ext cx="5345075" cy="114574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routes.py</a:t>
            </a:r>
            <a:r>
              <a:rPr sz="1080" b="0">
                <a:solidFill>
                  <a:srgbClr val="0B1F3A"/>
                </a:solidFill>
                <a:latin typeface="Segoe UI"/>
              </a:rPr>
              <a:t> — parse body/query, check </a:t>
            </a:r>
            <a:r>
              <a:rPr sz="1080" b="0">
                <a:solidFill>
                  <a:srgbClr val="056ECE"/>
                </a:solidFill>
                <a:latin typeface="Consolas"/>
              </a:rPr>
              <a:t>request.get_json() or {}</a:t>
            </a:r>
            <a:r>
              <a:rPr sz="1080" b="0">
                <a:solidFill>
                  <a:srgbClr val="0B1F3A"/>
                </a:solidFill>
                <a:latin typeface="Segoe UI"/>
              </a:rPr>
              <a:t>, delegate, wrap in envelope. No SQL.</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auth.py</a:t>
            </a:r>
            <a:r>
              <a:rPr sz="1080" b="0">
                <a:solidFill>
                  <a:srgbClr val="0B1F3A"/>
                </a:solidFill>
                <a:latin typeface="Segoe UI"/>
              </a:rPr>
              <a:t> — the only place 401 vs 403 is decided; also emits the audit event.</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services.py</a:t>
            </a:r>
            <a:r>
              <a:rPr sz="1080" b="0">
                <a:solidFill>
                  <a:srgbClr val="0B1F3A"/>
                </a:solidFill>
                <a:latin typeface="Segoe UI"/>
              </a:rPr>
              <a:t> — owns transactions, ID generation, OTP, money, and the cross-table cascade.</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database.py</a:t>
            </a:r>
            <a:r>
              <a:rPr sz="1080" b="0">
                <a:solidFill>
                  <a:srgbClr val="0B1F3A"/>
                </a:solidFill>
                <a:latin typeface="Segoe UI"/>
              </a:rPr>
              <a:t> — owns schema, constraints, seeding, and the driver abstraction.</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logger.py</a:t>
            </a:r>
            <a:r>
              <a:rPr sz="1080" b="0">
                <a:solidFill>
                  <a:srgbClr val="0B1F3A"/>
                </a:solidFill>
                <a:latin typeface="Segoe UI"/>
              </a:rPr>
              <a:t> — the only module that formats anything for humans.</a:t>
            </a:r>
          </a:p>
        </p:txBody>
      </p:sp>
      <p:sp>
        <p:nvSpPr>
          <p:cNvPr id="8" name="Rounded Rectangle 7"/>
          <p:cNvSpPr/>
          <p:nvPr/>
        </p:nvSpPr>
        <p:spPr>
          <a:xfrm>
            <a:off x="6297979" y="3358000"/>
            <a:ext cx="2791409" cy="32004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2000"/>
              </a:lnSpc>
              <a:spcBef>
                <a:spcPts val="0"/>
              </a:spcBef>
              <a:spcAft>
                <a:spcPts val="0"/>
              </a:spcAft>
            </a:pPr>
            <a:r>
              <a:rPr sz="980" b="0">
                <a:solidFill>
                  <a:srgbClr val="5A6F88"/>
                </a:solidFill>
                <a:latin typeface="Segoe UI"/>
              </a:rPr>
              <a:t>26endpoints / 1 blueprint</a:t>
            </a:r>
          </a:p>
        </p:txBody>
      </p:sp>
      <p:sp>
        <p:nvSpPr>
          <p:cNvPr id="9" name="Rounded Rectangle 8"/>
          <p:cNvSpPr/>
          <p:nvPr/>
        </p:nvSpPr>
        <p:spPr>
          <a:xfrm>
            <a:off x="9235693" y="3358000"/>
            <a:ext cx="2791409" cy="32004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2000"/>
              </a:lnSpc>
              <a:spcBef>
                <a:spcPts val="0"/>
              </a:spcBef>
              <a:spcAft>
                <a:spcPts val="0"/>
              </a:spcAft>
            </a:pPr>
            <a:r>
              <a:rPr sz="980" b="0">
                <a:solidFill>
                  <a:srgbClr val="5A6F88"/>
                </a:solidFill>
                <a:latin typeface="Segoe UI"/>
              </a:rPr>
              <a:t>12tables · 5 with FKs</a:t>
            </a:r>
          </a:p>
        </p:txBody>
      </p:sp>
      <p:sp>
        <p:nvSpPr>
          <p:cNvPr id="10" name="Rounded Rectangle 9"/>
          <p:cNvSpPr/>
          <p:nvPr/>
        </p:nvSpPr>
        <p:spPr>
          <a:xfrm>
            <a:off x="6297979" y="3824344"/>
            <a:ext cx="2791409" cy="32004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2000"/>
              </a:lnSpc>
              <a:spcBef>
                <a:spcPts val="0"/>
              </a:spcBef>
              <a:spcAft>
                <a:spcPts val="0"/>
              </a:spcAft>
            </a:pPr>
            <a:r>
              <a:rPr sz="980" b="0">
                <a:solidFill>
                  <a:srgbClr val="5A6F88"/>
                </a:solidFill>
                <a:latin typeface="Segoe UI"/>
              </a:rPr>
              <a:t>14frontend JS modules</a:t>
            </a:r>
          </a:p>
        </p:txBody>
      </p:sp>
      <p:sp>
        <p:nvSpPr>
          <p:cNvPr id="11" name="Rounded Rectangle 10"/>
          <p:cNvSpPr/>
          <p:nvPr/>
        </p:nvSpPr>
        <p:spPr>
          <a:xfrm>
            <a:off x="9235693" y="3824344"/>
            <a:ext cx="2791409" cy="32004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2000"/>
              </a:lnSpc>
              <a:spcBef>
                <a:spcPts val="0"/>
              </a:spcBef>
              <a:spcAft>
                <a:spcPts val="0"/>
              </a:spcAft>
            </a:pPr>
            <a:r>
              <a:rPr sz="980" b="0">
                <a:solidFill>
                  <a:srgbClr val="5A6F88"/>
                </a:solidFill>
                <a:latin typeface="Segoe UI"/>
              </a:rPr>
              <a:t>0automated tests</a:t>
            </a:r>
          </a:p>
        </p:txBody>
      </p:sp>
      <p:sp>
        <p:nvSpPr>
          <p:cNvPr id="12" name="Rounded Rectangle 11"/>
          <p:cNvSpPr/>
          <p:nvPr/>
        </p:nvSpPr>
        <p:spPr>
          <a:xfrm>
            <a:off x="6297979" y="4080913"/>
            <a:ext cx="5582819" cy="2356462"/>
          </a:xfrm>
          <a:prstGeom prst="roundRect">
            <a:avLst>
              <a:gd name="adj" fmla="val 5500"/>
            </a:avLst>
          </a:prstGeom>
          <a:solidFill>
            <a:srgbClr val="FEF4E2"/>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3" name="Rounded Rectangle 12"/>
          <p:cNvSpPr/>
          <p:nvPr/>
        </p:nvSpPr>
        <p:spPr>
          <a:xfrm>
            <a:off x="6308952" y="4163209"/>
            <a:ext cx="41148" cy="219187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25995" y="4172353"/>
            <a:ext cx="5345075"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F59E0B"/>
                </a:solidFill>
                <a:latin typeface="Segoe UI"/>
              </a:rPr>
              <a:t>!</a:t>
            </a:r>
            <a:r>
              <a:rPr sz="1180" b="0">
                <a:solidFill>
                  <a:srgbClr val="F59E0B"/>
                </a:solidFill>
                <a:latin typeface="Segoe UI"/>
              </a:rPr>
              <a:t>Structural weaknesses I could see in the layout</a:t>
            </a:r>
          </a:p>
        </p:txBody>
      </p:sp>
      <p:sp>
        <p:nvSpPr>
          <p:cNvPr id="15" name="Rounded Rectangle 14"/>
          <p:cNvSpPr/>
          <p:nvPr/>
        </p:nvSpPr>
        <p:spPr>
          <a:xfrm>
            <a:off x="6425995" y="4398286"/>
            <a:ext cx="5345075" cy="146395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One module per role, but </a:t>
            </a:r>
            <a:r>
              <a:rPr sz="1080" b="1">
                <a:solidFill>
                  <a:srgbClr val="0B1F3A"/>
                </a:solidFill>
                <a:latin typeface="Segoe UI"/>
              </a:rPr>
              <a:t>no</a:t>
            </a:r>
            <a:r>
              <a:rPr sz="1080" b="0">
                <a:solidFill>
                  <a:srgbClr val="0B1F3A"/>
                </a:solidFill>
                <a:latin typeface="Segoe UI"/>
              </a:rPr>
              <a:t> </a:t>
            </a:r>
            <a:r>
              <a:rPr sz="1080" b="0">
                <a:solidFill>
                  <a:srgbClr val="056ECE"/>
                </a:solidFill>
                <a:latin typeface="Consolas"/>
              </a:rPr>
              <a:t>tests/</a:t>
            </a:r>
            <a:r>
              <a:rPr sz="1080" b="0">
                <a:solidFill>
                  <a:srgbClr val="0B1F3A"/>
                </a:solidFill>
                <a:latin typeface="Segoe UI"/>
              </a:rPr>
              <a:t> directory — CI runs </a:t>
            </a:r>
            <a:r>
              <a:rPr sz="1080" b="0">
                <a:solidFill>
                  <a:srgbClr val="056ECE"/>
                </a:solidFill>
                <a:latin typeface="Consolas"/>
              </a:rPr>
              <a:t>pytest</a:t>
            </a:r>
            <a:r>
              <a:rPr sz="1080" b="0">
                <a:solidFill>
                  <a:srgbClr val="0B1F3A"/>
                </a:solidFill>
                <a:latin typeface="Segoe UI"/>
              </a:rPr>
              <a:t> only </a:t>
            </a:r>
            <a:r>
              <a:rPr sz="1080" b="0">
                <a:solidFill>
                  <a:srgbClr val="0B1F3A"/>
                </a:solidFill>
                <a:latin typeface="Segoe UI"/>
              </a:rPr>
              <a:t>if</a:t>
            </a:r>
            <a:r>
              <a:rPr sz="1080" b="0">
                <a:solidFill>
                  <a:srgbClr val="0B1F3A"/>
                </a:solidFill>
                <a:latin typeface="Segoe UI"/>
              </a:rPr>
              <a:t> it exists.</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Each service call opens and closes its own connection: no pooling, no shared transaction across the 5 writes — a failure mid-way is neither atomic nor cleanly released.</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Frontend has no client-side router or state store; page modules re-fetch on load and the tracking page polls every 4 s.</a:t>
            </a:r>
          </a:p>
          <a:p>
            <a:pPr algn="l">
              <a:lnSpc>
                <a:spcPct val="116000"/>
              </a:lnSpc>
              <a:spcBef>
                <a:spcPts val="0"/>
              </a:spcBef>
              <a:spcAft>
                <a:spcPts val="0"/>
              </a:spcAft>
            </a:pPr>
            <a:r>
              <a:rPr sz="1080" b="0">
                <a:solidFill>
                  <a:srgbClr val="056ECE"/>
                </a:solidFill>
                <a:latin typeface="Consolas"/>
              </a:rPr>
              <a:t>▸  </a:t>
            </a:r>
            <a:r>
              <a:rPr sz="1080" b="0">
                <a:solidFill>
                  <a:srgbClr val="056ECE"/>
                </a:solidFill>
                <a:latin typeface="Consolas"/>
              </a:rPr>
              <a:t>data/*.json</a:t>
            </a:r>
            <a:r>
              <a:rPr sz="1080" b="0">
                <a:solidFill>
                  <a:srgbClr val="0B1F3A"/>
                </a:solidFill>
                <a:latin typeface="Segoe UI"/>
              </a:rPr>
              <a:t> duplicates the seed data in </a:t>
            </a:r>
            <a:r>
              <a:rPr sz="1080" b="0">
                <a:solidFill>
                  <a:srgbClr val="056ECE"/>
                </a:solidFill>
                <a:latin typeface="Consolas"/>
              </a:rPr>
              <a:t>database.py</a:t>
            </a:r>
            <a:r>
              <a:rPr sz="1080" b="0">
                <a:solidFill>
                  <a:srgbClr val="0B1F3A"/>
                </a:solidFill>
                <a:latin typeface="Segoe UI"/>
              </a:rPr>
              <a:t> and can silently diverge.</a:t>
            </a:r>
          </a:p>
        </p:txBody>
      </p:sp>
      <p:sp>
        <p:nvSpPr>
          <p:cNvPr id="16" name="Rounded Rectangle 15"/>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wc -l backend/*.py frontend/js/*.js scripts/*.py</a:t>
            </a:r>
            <a:r>
              <a:rPr sz="830" b="0">
                <a:solidFill>
                  <a:srgbClr val="056ECE"/>
                </a:solidFill>
                <a:latin typeface="Consolas"/>
              </a:rPr>
              <a:t>   ·   .github/workflows/ci.yml · test-sqlite job</a:t>
            </a:r>
            <a:r>
              <a:rPr sz="830" b="0">
                <a:solidFill>
                  <a:srgbClr val="056ECE"/>
                </a:solidFill>
                <a:latin typeface="Consolas"/>
              </a:rPr>
              <a:t>   ·   backend/services.py · get_db_connection() per call</a:t>
            </a:r>
          </a:p>
        </p:txBody>
      </p:sp>
      <p:sp>
        <p:nvSpPr>
          <p:cNvPr id="17" name="Rounded Rectangle 16"/>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06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06 · HOW THE SYSTEM WORKS</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500" b="0">
                <a:solidFill>
                  <a:srgbClr val="062B57"/>
                </a:solidFill>
                <a:latin typeface="Segoe UI"/>
              </a:rPr>
              <a:t>Anatomy of one write: </a:t>
            </a:r>
            <a:r>
              <a:rPr sz="2500" b="0">
                <a:solidFill>
                  <a:srgbClr val="056ECE"/>
                </a:solidFill>
                <a:latin typeface="Consolas"/>
              </a:rPr>
              <a:t>POST /api/shipments</a:t>
            </a:r>
          </a:p>
        </p:txBody>
      </p:sp>
      <p:sp>
        <p:nvSpPr>
          <p:cNvPr id="4" name="Rounded Rectangle 3"/>
          <p:cNvSpPr/>
          <p:nvPr/>
        </p:nvSpPr>
        <p:spPr>
          <a:xfrm>
            <a:off x="457200" y="1042416"/>
            <a:ext cx="11277295" cy="29463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22000"/>
              </a:lnSpc>
              <a:spcBef>
                <a:spcPts val="0"/>
              </a:spcBef>
              <a:spcAft>
                <a:spcPts val="0"/>
              </a:spcAft>
            </a:pPr>
            <a:r>
              <a:rPr sz="1250" b="0">
                <a:solidFill>
                  <a:srgbClr val="334C6B"/>
                </a:solidFill>
                <a:latin typeface="Segoe UI"/>
              </a:rPr>
              <a:t>Chosen because it crosses every layer — session, authorisation, validation, four tables, an OTP, an invoice and a log line.</a:t>
            </a:r>
          </a:p>
        </p:txBody>
      </p:sp>
      <p:sp>
        <p:nvSpPr>
          <p:cNvPr id="5" name="Rounded Rectangle 4"/>
          <p:cNvSpPr/>
          <p:nvPr/>
        </p:nvSpPr>
        <p:spPr>
          <a:xfrm>
            <a:off x="457200" y="1391920"/>
            <a:ext cx="1076027" cy="2403856"/>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1</a:t>
            </a:r>
            <a:r>
              <a:rPr sz="1019" b="0">
                <a:solidFill>
                  <a:srgbClr val="062B57"/>
                </a:solidFill>
                <a:latin typeface="Segoe UI"/>
              </a:rPr>
              <a:t>Client → </a:t>
            </a:r>
            <a:r>
              <a:rPr sz="1019" b="0">
                <a:solidFill>
                  <a:srgbClr val="056ECE"/>
                </a:solidFill>
                <a:latin typeface="Consolas"/>
              </a:rPr>
              <a:t>fetchAPI('/shipments', {method:'POST'})</a:t>
            </a:r>
          </a:p>
          <a:p>
            <a:pPr algn="l">
              <a:lnSpc>
                <a:spcPct val="112000"/>
              </a:lnSpc>
              <a:spcBef>
                <a:spcPts val="250"/>
              </a:spcBef>
              <a:spcAft>
                <a:spcPts val="0"/>
              </a:spcAft>
            </a:pPr>
            <a:r>
              <a:rPr sz="840" b="0">
                <a:solidFill>
                  <a:srgbClr val="5A6F88"/>
                </a:solidFill>
                <a:latin typeface="Segoe UI"/>
              </a:rPr>
              <a:t>Form is read field-by-field in </a:t>
            </a:r>
            <a:r>
              <a:rPr sz="840" b="0">
                <a:solidFill>
                  <a:srgbClr val="056ECE"/>
                </a:solidFill>
                <a:latin typeface="Consolas"/>
              </a:rPr>
              <a:t>shipments.js</a:t>
            </a:r>
            <a:r>
              <a:rPr sz="840" b="0">
                <a:solidFill>
                  <a:srgbClr val="5A6F88"/>
                </a:solidFill>
                <a:latin typeface="Segoe UI"/>
              </a:rPr>
              <a:t>; the envelope contract is assumed, not validated.</a:t>
            </a:r>
          </a:p>
        </p:txBody>
      </p:sp>
      <p:sp>
        <p:nvSpPr>
          <p:cNvPr id="6" name="TextBox 5"/>
          <p:cNvSpPr txBox="1"/>
          <p:nvPr/>
        </p:nvSpPr>
        <p:spPr>
          <a:xfrm>
            <a:off x="1542371" y="2484120"/>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7" name="Rounded Rectangle 6"/>
          <p:cNvSpPr/>
          <p:nvPr/>
        </p:nvSpPr>
        <p:spPr>
          <a:xfrm>
            <a:off x="1770971" y="1391920"/>
            <a:ext cx="1076027" cy="2403856"/>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2</a:t>
            </a:r>
            <a:r>
              <a:rPr sz="1019" b="0">
                <a:solidFill>
                  <a:srgbClr val="062B57"/>
                </a:solidFill>
                <a:latin typeface="Segoe UI"/>
              </a:rPr>
              <a:t>Edge → cookies + limiter</a:t>
            </a:r>
          </a:p>
          <a:p>
            <a:pPr algn="l">
              <a:lnSpc>
                <a:spcPct val="112000"/>
              </a:lnSpc>
              <a:spcBef>
                <a:spcPts val="250"/>
              </a:spcBef>
              <a:spcAft>
                <a:spcPts val="0"/>
              </a:spcAft>
            </a:pPr>
            <a:r>
              <a:rPr sz="840" b="0">
                <a:solidFill>
                  <a:srgbClr val="5A6F88"/>
                </a:solidFill>
                <a:latin typeface="Segoe UI"/>
              </a:rPr>
              <a:t>Default limit checked (200/min/IP) · </a:t>
            </a:r>
            <a:r>
              <a:rPr sz="840" b="0">
                <a:solidFill>
                  <a:srgbClr val="056ECE"/>
                </a:solidFill>
                <a:latin typeface="Consolas"/>
              </a:rPr>
              <a:t>X-RateLimit-*</a:t>
            </a:r>
            <a:r>
              <a:rPr sz="840" b="0">
                <a:solidFill>
                  <a:srgbClr val="5A6F88"/>
                </a:solidFill>
                <a:latin typeface="Segoe UI"/>
              </a:rPr>
              <a:t> attached · CORS allowlist evaluated.</a:t>
            </a:r>
          </a:p>
        </p:txBody>
      </p:sp>
      <p:sp>
        <p:nvSpPr>
          <p:cNvPr id="8" name="TextBox 7"/>
          <p:cNvSpPr txBox="1"/>
          <p:nvPr/>
        </p:nvSpPr>
        <p:spPr>
          <a:xfrm>
            <a:off x="2856142" y="2484120"/>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9" name="Rounded Rectangle 8"/>
          <p:cNvSpPr/>
          <p:nvPr/>
        </p:nvSpPr>
        <p:spPr>
          <a:xfrm>
            <a:off x="3084742" y="1391920"/>
            <a:ext cx="1076027" cy="2403856"/>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3</a:t>
            </a:r>
            <a:r>
              <a:rPr sz="1019" b="0">
                <a:solidFill>
                  <a:srgbClr val="062B57"/>
                </a:solidFill>
                <a:latin typeface="Segoe UI"/>
              </a:rPr>
              <a:t>Authorise → </a:t>
            </a:r>
            <a:r>
              <a:rPr sz="1019" b="0">
                <a:solidFill>
                  <a:srgbClr val="056ECE"/>
                </a:solidFill>
                <a:latin typeface="Consolas"/>
              </a:rPr>
              <a:t>@login_required</a:t>
            </a:r>
          </a:p>
          <a:p>
            <a:pPr algn="l">
              <a:lnSpc>
                <a:spcPct val="112000"/>
              </a:lnSpc>
              <a:spcBef>
                <a:spcPts val="250"/>
              </a:spcBef>
              <a:spcAft>
                <a:spcPts val="0"/>
              </a:spcAft>
            </a:pPr>
            <a:r>
              <a:rPr sz="840" b="0">
                <a:solidFill>
                  <a:srgbClr val="5A6F88"/>
                </a:solidFill>
                <a:latin typeface="Segoe UI"/>
              </a:rPr>
              <a:t>Presence of </a:t>
            </a:r>
            <a:r>
              <a:rPr sz="840" b="0">
                <a:solidFill>
                  <a:srgbClr val="056ECE"/>
                </a:solidFill>
                <a:latin typeface="Consolas"/>
              </a:rPr>
              <a:t>session['user_id']</a:t>
            </a:r>
            <a:r>
              <a:rPr sz="840" b="0">
                <a:solidFill>
                  <a:srgbClr val="5A6F88"/>
                </a:solidFill>
                <a:latin typeface="Segoe UI"/>
              </a:rPr>
              <a:t> only — </a:t>
            </a:r>
            <a:r>
              <a:rPr sz="840" b="1">
                <a:solidFill>
                  <a:srgbClr val="5A6F88"/>
                </a:solidFill>
                <a:latin typeface="Segoe UI"/>
              </a:rPr>
              <a:t>no CSRF token</a:t>
            </a:r>
            <a:r>
              <a:rPr sz="840" b="0">
                <a:solidFill>
                  <a:srgbClr val="5A6F88"/>
                </a:solidFill>
                <a:latin typeface="Segoe UI"/>
              </a:rPr>
              <a:t>, mitigated by </a:t>
            </a:r>
            <a:r>
              <a:rPr sz="840" b="0">
                <a:solidFill>
                  <a:srgbClr val="056ECE"/>
                </a:solidFill>
                <a:latin typeface="Consolas"/>
              </a:rPr>
              <a:t>SameSite=Lax</a:t>
            </a:r>
            <a:r>
              <a:rPr sz="840" b="0">
                <a:solidFill>
                  <a:srgbClr val="5A6F88"/>
                </a:solidFill>
                <a:latin typeface="Segoe UI"/>
              </a:rPr>
              <a:t>.</a:t>
            </a:r>
          </a:p>
        </p:txBody>
      </p:sp>
      <p:sp>
        <p:nvSpPr>
          <p:cNvPr id="10" name="TextBox 9"/>
          <p:cNvSpPr txBox="1"/>
          <p:nvPr/>
        </p:nvSpPr>
        <p:spPr>
          <a:xfrm>
            <a:off x="4169914" y="2484120"/>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11" name="Rounded Rectangle 10"/>
          <p:cNvSpPr/>
          <p:nvPr/>
        </p:nvSpPr>
        <p:spPr>
          <a:xfrm>
            <a:off x="4398514" y="1391920"/>
            <a:ext cx="1076027" cy="2403856"/>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4</a:t>
            </a:r>
            <a:r>
              <a:rPr sz="1019" b="0">
                <a:solidFill>
                  <a:srgbClr val="062B57"/>
                </a:solidFill>
                <a:latin typeface="Segoe UI"/>
              </a:rPr>
              <a:t>Validate → hand-written checks</a:t>
            </a:r>
          </a:p>
          <a:p>
            <a:pPr algn="l">
              <a:lnSpc>
                <a:spcPct val="112000"/>
              </a:lnSpc>
              <a:spcBef>
                <a:spcPts val="250"/>
              </a:spcBef>
              <a:spcAft>
                <a:spcPts val="0"/>
              </a:spcAft>
            </a:pPr>
            <a:r>
              <a:rPr sz="840" b="0">
                <a:solidFill>
                  <a:srgbClr val="5A6F88"/>
                </a:solidFill>
                <a:latin typeface="Segoe UI"/>
              </a:rPr>
              <a:t>Route requires </a:t>
            </a:r>
            <a:r>
              <a:rPr sz="840" b="0">
                <a:solidFill>
                  <a:srgbClr val="056ECE"/>
                </a:solidFill>
                <a:latin typeface="Consolas"/>
              </a:rPr>
              <a:t>pickup</a:t>
            </a:r>
            <a:r>
              <a:rPr sz="840" b="0">
                <a:solidFill>
                  <a:srgbClr val="5A6F88"/>
                </a:solidFill>
                <a:latin typeface="Segoe UI"/>
              </a:rPr>
              <a:t> and </a:t>
            </a:r>
            <a:r>
              <a:rPr sz="840" b="0">
                <a:solidFill>
                  <a:srgbClr val="056ECE"/>
                </a:solidFill>
                <a:latin typeface="Consolas"/>
              </a:rPr>
              <a:t>destination</a:t>
            </a:r>
            <a:r>
              <a:rPr sz="840" b="0">
                <a:solidFill>
                  <a:srgbClr val="5A6F88"/>
                </a:solidFill>
                <a:latin typeface="Segoe UI"/>
              </a:rPr>
              <a:t>; everything else is defaulted or coerced with </a:t>
            </a:r>
            <a:r>
              <a:rPr sz="840" b="0">
                <a:solidFill>
                  <a:srgbClr val="056ECE"/>
                </a:solidFill>
                <a:latin typeface="Consolas"/>
              </a:rPr>
              <a:t>float()</a:t>
            </a:r>
            <a:r>
              <a:rPr sz="840" b="0">
                <a:solidFill>
                  <a:srgbClr val="5A6F88"/>
                </a:solidFill>
                <a:latin typeface="Segoe UI"/>
              </a:rPr>
              <a:t>/</a:t>
            </a:r>
            <a:r>
              <a:rPr sz="840" b="0">
                <a:solidFill>
                  <a:srgbClr val="056ECE"/>
                </a:solidFill>
                <a:latin typeface="Consolas"/>
              </a:rPr>
              <a:t>int()</a:t>
            </a:r>
            <a:r>
              <a:rPr sz="840" b="0">
                <a:solidFill>
                  <a:srgbClr val="5A6F88"/>
                </a:solidFill>
                <a:latin typeface="Segoe UI"/>
              </a:rPr>
              <a:t>.</a:t>
            </a:r>
          </a:p>
        </p:txBody>
      </p:sp>
      <p:sp>
        <p:nvSpPr>
          <p:cNvPr id="12" name="TextBox 11"/>
          <p:cNvSpPr txBox="1"/>
          <p:nvPr/>
        </p:nvSpPr>
        <p:spPr>
          <a:xfrm>
            <a:off x="5483685" y="2484120"/>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13" name="Rounded Rectangle 12"/>
          <p:cNvSpPr/>
          <p:nvPr/>
        </p:nvSpPr>
        <p:spPr>
          <a:xfrm>
            <a:off x="5712285" y="1391920"/>
            <a:ext cx="1076027" cy="2403856"/>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5</a:t>
            </a:r>
            <a:r>
              <a:rPr sz="1019" b="0">
                <a:solidFill>
                  <a:srgbClr val="062B57"/>
                </a:solidFill>
                <a:latin typeface="Segoe UI"/>
              </a:rPr>
              <a:t>Compute → service layer</a:t>
            </a:r>
          </a:p>
          <a:p>
            <a:pPr algn="l">
              <a:lnSpc>
                <a:spcPct val="112000"/>
              </a:lnSpc>
              <a:spcBef>
                <a:spcPts val="250"/>
              </a:spcBef>
              <a:spcAft>
                <a:spcPts val="0"/>
              </a:spcAft>
            </a:pPr>
            <a:r>
              <a:rPr sz="840" b="0">
                <a:solidFill>
                  <a:srgbClr val="5A6F88"/>
                </a:solidFill>
                <a:latin typeface="Segoe UI"/>
              </a:rPr>
              <a:t>Allowlist filter · </a:t>
            </a:r>
            <a:r>
              <a:rPr sz="840" b="0">
                <a:solidFill>
                  <a:srgbClr val="056ECE"/>
                </a:solidFill>
                <a:latin typeface="Consolas"/>
              </a:rPr>
              <a:t>SHP-xxxxxxxx</a:t>
            </a:r>
            <a:r>
              <a:rPr sz="840" b="0">
                <a:solidFill>
                  <a:srgbClr val="5A6F88"/>
                </a:solidFill>
                <a:latin typeface="Segoe UI"/>
              </a:rPr>
              <a:t> id · server-set </a:t>
            </a:r>
            <a:r>
              <a:rPr sz="840" b="0">
                <a:solidFill>
                  <a:srgbClr val="056ECE"/>
                </a:solidFill>
                <a:latin typeface="Consolas"/>
              </a:rPr>
              <a:t>status='Booked'</a:t>
            </a:r>
            <a:r>
              <a:rPr sz="840" b="0">
                <a:solidFill>
                  <a:srgbClr val="5A6F88"/>
                </a:solidFill>
                <a:latin typeface="Segoe UI"/>
              </a:rPr>
              <a:t>, </a:t>
            </a:r>
            <a:r>
              <a:rPr sz="840" b="0">
                <a:solidFill>
                  <a:srgbClr val="056ECE"/>
                </a:solidFill>
                <a:latin typeface="Consolas"/>
              </a:rPr>
              <a:t>payment_status='Pending'</a:t>
            </a:r>
            <a:r>
              <a:rPr sz="840" b="0">
                <a:solidFill>
                  <a:srgbClr val="5A6F88"/>
                </a:solidFill>
                <a:latin typeface="Segoe UI"/>
              </a:rPr>
              <a:t> · cost formula · 6-digit CSPRNG OTP with +30 min expiry.</a:t>
            </a:r>
          </a:p>
        </p:txBody>
      </p:sp>
      <p:sp>
        <p:nvSpPr>
          <p:cNvPr id="14" name="Rounded Rectangle 13"/>
          <p:cNvSpPr/>
          <p:nvPr/>
        </p:nvSpPr>
        <p:spPr>
          <a:xfrm>
            <a:off x="457200" y="4033520"/>
            <a:ext cx="3046684" cy="2403856"/>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6</a:t>
            </a:r>
            <a:r>
              <a:rPr sz="1019" b="0">
                <a:solidFill>
                  <a:srgbClr val="062B57"/>
                </a:solidFill>
                <a:latin typeface="Segoe UI"/>
              </a:rPr>
              <a:t>Persist → 5 INSERTs, one commit</a:t>
            </a:r>
          </a:p>
          <a:p>
            <a:pPr algn="l">
              <a:lnSpc>
                <a:spcPct val="112000"/>
              </a:lnSpc>
              <a:spcBef>
                <a:spcPts val="250"/>
              </a:spcBef>
              <a:spcAft>
                <a:spcPts val="0"/>
              </a:spcAft>
            </a:pPr>
            <a:r>
              <a:rPr sz="840" b="0">
                <a:solidFill>
                  <a:srgbClr val="056ECE"/>
                </a:solidFill>
                <a:latin typeface="Consolas"/>
              </a:rPr>
              <a:t>shipments</a:t>
            </a:r>
            <a:r>
              <a:rPr sz="840" b="0">
                <a:solidFill>
                  <a:srgbClr val="5A6F88"/>
                </a:solidFill>
                <a:latin typeface="Segoe UI"/>
              </a:rPr>
              <a:t> → </a:t>
            </a:r>
            <a:r>
              <a:rPr sz="840" b="0">
                <a:solidFill>
                  <a:srgbClr val="056ECE"/>
                </a:solidFill>
                <a:latin typeface="Consolas"/>
              </a:rPr>
              <a:t>shipment_status_history</a:t>
            </a:r>
            <a:r>
              <a:rPr sz="840" b="0">
                <a:solidFill>
                  <a:srgbClr val="5A6F88"/>
                </a:solidFill>
                <a:latin typeface="Segoe UI"/>
              </a:rPr>
              <a:t> → </a:t>
            </a:r>
            <a:r>
              <a:rPr sz="840" b="0">
                <a:solidFill>
                  <a:srgbClr val="056ECE"/>
                </a:solidFill>
                <a:latin typeface="Consolas"/>
              </a:rPr>
              <a:t>deliveries</a:t>
            </a:r>
            <a:r>
              <a:rPr sz="840" b="0">
                <a:solidFill>
                  <a:srgbClr val="5A6F88"/>
                </a:solidFill>
                <a:latin typeface="Segoe UI"/>
              </a:rPr>
              <a:t>(OTP) → </a:t>
            </a:r>
            <a:r>
              <a:rPr sz="840" b="0">
                <a:solidFill>
                  <a:srgbClr val="056ECE"/>
                </a:solidFill>
                <a:latin typeface="Consolas"/>
              </a:rPr>
              <a:t>payments</a:t>
            </a:r>
            <a:r>
              <a:rPr sz="840" b="0">
                <a:solidFill>
                  <a:srgbClr val="5A6F88"/>
                </a:solidFill>
                <a:latin typeface="Segoe UI"/>
              </a:rPr>
              <a:t>(18 % GST) → </a:t>
            </a:r>
            <a:r>
              <a:rPr sz="840" b="0">
                <a:solidFill>
                  <a:srgbClr val="056ECE"/>
                </a:solidFill>
                <a:latin typeface="Consolas"/>
              </a:rPr>
              <a:t>notifications</a:t>
            </a:r>
            <a:r>
              <a:rPr sz="840" b="0">
                <a:solidFill>
                  <a:srgbClr val="5A6F88"/>
                </a:solidFill>
                <a:latin typeface="Segoe UI"/>
              </a:rPr>
              <a:t>. </a:t>
            </a:r>
            <a:r>
              <a:rPr sz="840" b="0">
                <a:solidFill>
                  <a:srgbClr val="5A6F88"/>
                </a:solidFill>
                <a:latin typeface="Segoe UI"/>
              </a:rPr>
              <a:t>single transaction, no rollback wrapper</a:t>
            </a:r>
          </a:p>
        </p:txBody>
      </p:sp>
      <p:sp>
        <p:nvSpPr>
          <p:cNvPr id="15" name="TextBox 14"/>
          <p:cNvSpPr txBox="1"/>
          <p:nvPr/>
        </p:nvSpPr>
        <p:spPr>
          <a:xfrm>
            <a:off x="3513028" y="5125720"/>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16" name="Rounded Rectangle 15"/>
          <p:cNvSpPr/>
          <p:nvPr/>
        </p:nvSpPr>
        <p:spPr>
          <a:xfrm>
            <a:off x="3741628" y="4033520"/>
            <a:ext cx="3046684" cy="2403856"/>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7</a:t>
            </a:r>
            <a:r>
              <a:rPr sz="1019" b="0">
                <a:solidFill>
                  <a:srgbClr val="062B57"/>
                </a:solidFill>
                <a:latin typeface="Segoe UI"/>
              </a:rPr>
              <a:t>Respond → 201 + audit log</a:t>
            </a:r>
          </a:p>
          <a:p>
            <a:pPr algn="l">
              <a:lnSpc>
                <a:spcPct val="112000"/>
              </a:lnSpc>
              <a:spcBef>
                <a:spcPts val="250"/>
              </a:spcBef>
              <a:spcAft>
                <a:spcPts val="0"/>
              </a:spcAft>
            </a:pPr>
            <a:r>
              <a:rPr sz="840" b="0">
                <a:solidFill>
                  <a:srgbClr val="056ECE"/>
                </a:solidFill>
                <a:latin typeface="Consolas"/>
              </a:rPr>
              <a:t>{success:true, message, data:&lt;shipment&gt;, shipment_id}</a:t>
            </a:r>
            <a:r>
              <a:rPr sz="840" b="0">
                <a:solidFill>
                  <a:srgbClr val="5A6F88"/>
                </a:solidFill>
                <a:latin typeface="Segoe UI"/>
              </a:rPr>
              <a:t> — read back through a second SELECT; the OTP is never in it.</a:t>
            </a:r>
          </a:p>
        </p:txBody>
      </p:sp>
      <p:sp>
        <p:nvSpPr>
          <p:cNvPr id="17" name="Rounded Rectangle 16"/>
          <p:cNvSpPr/>
          <p:nvPr/>
        </p:nvSpPr>
        <p:spPr>
          <a:xfrm>
            <a:off x="6934617" y="1391920"/>
            <a:ext cx="4946182" cy="1871344"/>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backend/routes.py · add_shipment()</a:t>
            </a:r>
          </a:p>
          <a:p>
            <a:pPr>
              <a:lnSpc>
                <a:spcPct val="100000"/>
              </a:lnSpc>
              <a:spcBef>
                <a:spcPts val="0"/>
              </a:spcBef>
              <a:spcAft>
                <a:spcPts val="0"/>
              </a:spcAft>
            </a:pPr>
            <a:r>
              <a:rPr sz="650">
                <a:solidFill>
                  <a:srgbClr val="D7E6F7"/>
                </a:solidFill>
                <a:latin typeface="Consolas"/>
              </a:rPr>
              <a:t>@api_bp.route('/shipments', methods=['POST'])</a:t>
            </a:r>
          </a:p>
          <a:p>
            <a:pPr>
              <a:lnSpc>
                <a:spcPct val="100000"/>
              </a:lnSpc>
              <a:spcBef>
                <a:spcPts val="0"/>
              </a:spcBef>
              <a:spcAft>
                <a:spcPts val="0"/>
              </a:spcAft>
            </a:pPr>
            <a:r>
              <a:rPr sz="650">
                <a:solidFill>
                  <a:srgbClr val="D7E6F7"/>
                </a:solidFill>
                <a:latin typeface="Consolas"/>
              </a:rPr>
              <a:t>@login_required</a:t>
            </a:r>
          </a:p>
          <a:p>
            <a:pPr>
              <a:lnSpc>
                <a:spcPct val="100000"/>
              </a:lnSpc>
              <a:spcBef>
                <a:spcPts val="0"/>
              </a:spcBef>
              <a:spcAft>
                <a:spcPts val="0"/>
              </a:spcAft>
            </a:pPr>
            <a:r>
              <a:rPr sz="650">
                <a:solidFill>
                  <a:srgbClr val="D7E6F7"/>
                </a:solidFill>
                <a:latin typeface="Consolas"/>
              </a:rPr>
              <a:t>def add_shipment():</a:t>
            </a:r>
          </a:p>
          <a:p>
            <a:pPr>
              <a:lnSpc>
                <a:spcPct val="100000"/>
              </a:lnSpc>
              <a:spcBef>
                <a:spcPts val="0"/>
              </a:spcBef>
              <a:spcAft>
                <a:spcPts val="0"/>
              </a:spcAft>
            </a:pPr>
            <a:r>
              <a:rPr sz="650">
                <a:solidFill>
                  <a:srgbClr val="D7E6F7"/>
                </a:solidFill>
                <a:latin typeface="Consolas"/>
              </a:rPr>
              <a:t>data = request.get_json() or {}</a:t>
            </a:r>
          </a:p>
          <a:p>
            <a:pPr>
              <a:lnSpc>
                <a:spcPct val="100000"/>
              </a:lnSpc>
              <a:spcBef>
                <a:spcPts val="0"/>
              </a:spcBef>
              <a:spcAft>
                <a:spcPts val="0"/>
              </a:spcAft>
            </a:pPr>
            <a:r>
              <a:rPr sz="650">
                <a:solidFill>
                  <a:srgbClr val="D7E6F7"/>
                </a:solidFill>
                <a:latin typeface="Consolas"/>
              </a:rPr>
              <a:t>pickup = data.get('pickup_location') or data.get('pickup')</a:t>
            </a:r>
          </a:p>
          <a:p>
            <a:pPr>
              <a:lnSpc>
                <a:spcPct val="100000"/>
              </a:lnSpc>
              <a:spcBef>
                <a:spcPts val="0"/>
              </a:spcBef>
              <a:spcAft>
                <a:spcPts val="0"/>
              </a:spcAft>
            </a:pPr>
            <a:r>
              <a:rPr sz="650">
                <a:solidFill>
                  <a:srgbClr val="D7E6F7"/>
                </a:solidFill>
                <a:latin typeface="Consolas"/>
              </a:rPr>
              <a:t>destination = data.get('destination')</a:t>
            </a:r>
          </a:p>
          <a:p>
            <a:pPr>
              <a:lnSpc>
                <a:spcPct val="100000"/>
              </a:lnSpc>
              <a:spcBef>
                <a:spcPts val="0"/>
              </a:spcBef>
              <a:spcAft>
                <a:spcPts val="0"/>
              </a:spcAft>
            </a:pPr>
            <a:r>
              <a:rPr sz="650">
                <a:solidFill>
                  <a:srgbClr val="D7E6F7"/>
                </a:solidFill>
                <a:latin typeface="Consolas"/>
              </a:rPr>
              <a:t>if not pickup or not destination:</a:t>
            </a:r>
          </a:p>
          <a:p>
            <a:pPr>
              <a:lnSpc>
                <a:spcPct val="100000"/>
              </a:lnSpc>
              <a:spcBef>
                <a:spcPts val="0"/>
              </a:spcBef>
              <a:spcAft>
                <a:spcPts val="0"/>
              </a:spcAft>
            </a:pPr>
            <a:r>
              <a:rPr sz="650">
                <a:solidFill>
                  <a:srgbClr val="D7E6F7"/>
                </a:solidFill>
                <a:latin typeface="Consolas"/>
              </a:rPr>
              <a:t>return error_response('Pickup and destination are required', 400)</a:t>
            </a:r>
          </a:p>
          <a:p>
            <a:pPr>
              <a:lnSpc>
                <a:spcPct val="100000"/>
              </a:lnSpc>
              <a:spcBef>
                <a:spcPts val="0"/>
              </a:spcBef>
              <a:spcAft>
                <a:spcPts val="0"/>
              </a:spcAft>
            </a:pPr>
            <a:r>
              <a:rPr sz="650">
                <a:solidFill>
                  <a:srgbClr val="D7E6F7"/>
                </a:solidFill>
                <a:latin typeface="Consolas"/>
              </a:rPr>
              <a:t>shipment = create_shipment(data,</a:t>
            </a:r>
          </a:p>
          <a:p>
            <a:pPr>
              <a:lnSpc>
                <a:spcPct val="100000"/>
              </a:lnSpc>
              <a:spcBef>
                <a:spcPts val="0"/>
              </a:spcBef>
              <a:spcAft>
                <a:spcPts val="0"/>
              </a:spcAft>
            </a:pPr>
            <a:r>
              <a:rPr sz="650">
                <a:solidFill>
                  <a:srgbClr val="D7E6F7"/>
                </a:solidFill>
                <a:latin typeface="Consolas"/>
              </a:rPr>
              <a:t>caller_user_id=session.get('user_id'), # identity, not payload</a:t>
            </a:r>
          </a:p>
          <a:p>
            <a:pPr>
              <a:lnSpc>
                <a:spcPct val="100000"/>
              </a:lnSpc>
              <a:spcBef>
                <a:spcPts val="0"/>
              </a:spcBef>
              <a:spcAft>
                <a:spcPts val="0"/>
              </a:spcAft>
            </a:pPr>
            <a:r>
              <a:rPr sz="650">
                <a:solidFill>
                  <a:srgbClr val="D7E6F7"/>
                </a:solidFill>
                <a:latin typeface="Consolas"/>
              </a:rPr>
              <a:t>caller_role=session.get('role'))</a:t>
            </a:r>
          </a:p>
          <a:p>
            <a:pPr>
              <a:lnSpc>
                <a:spcPct val="100000"/>
              </a:lnSpc>
              <a:spcBef>
                <a:spcPts val="0"/>
              </a:spcBef>
              <a:spcAft>
                <a:spcPts val="0"/>
              </a:spcAft>
            </a:pPr>
            <a:r>
              <a:rPr sz="650">
                <a:solidFill>
                  <a:srgbClr val="D7E6F7"/>
                </a:solidFill>
                <a:latin typeface="Consolas"/>
              </a:rPr>
              <a:t>return json_response(data=shipment, message="Shipment created successfully",</a:t>
            </a:r>
          </a:p>
          <a:p>
            <a:pPr>
              <a:lnSpc>
                <a:spcPct val="100000"/>
              </a:lnSpc>
              <a:spcBef>
                <a:spcPts val="0"/>
              </a:spcBef>
              <a:spcAft>
                <a:spcPts val="0"/>
              </a:spcAft>
            </a:pPr>
            <a:r>
              <a:rPr sz="650">
                <a:solidFill>
                  <a:srgbClr val="D7E6F7"/>
                </a:solidFill>
                <a:latin typeface="Consolas"/>
              </a:rPr>
              <a:t>status_code=201)</a:t>
            </a:r>
          </a:p>
        </p:txBody>
      </p:sp>
      <p:sp>
        <p:nvSpPr>
          <p:cNvPr id="18" name="Rounded Rectangle 17"/>
          <p:cNvSpPr/>
          <p:nvPr/>
        </p:nvSpPr>
        <p:spPr>
          <a:xfrm>
            <a:off x="6934617" y="4250530"/>
            <a:ext cx="4946182" cy="944216"/>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9" name="Rounded Rectangle 18"/>
          <p:cNvSpPr/>
          <p:nvPr/>
        </p:nvSpPr>
        <p:spPr>
          <a:xfrm>
            <a:off x="7062633" y="4341970"/>
            <a:ext cx="4708438"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Measured on a live instance</a:t>
            </a:r>
          </a:p>
        </p:txBody>
      </p:sp>
      <p:sp>
        <p:nvSpPr>
          <p:cNvPr id="20" name="Rounded Rectangle 19"/>
          <p:cNvSpPr/>
          <p:nvPr/>
        </p:nvSpPr>
        <p:spPr>
          <a:xfrm>
            <a:off x="7062633" y="4567903"/>
            <a:ext cx="4708438" cy="509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Locally, one complete booking (auth + 5 inserts + commit + read-back) finished in </a:t>
            </a:r>
            <a:r>
              <a:rPr sz="1080" b="1">
                <a:solidFill>
                  <a:srgbClr val="0B1F3A"/>
                </a:solidFill>
                <a:latin typeface="Segoe UI"/>
              </a:rPr>
              <a:t>10 ms</a:t>
            </a:r>
            <a:r>
              <a:rPr sz="1080" b="0">
                <a:solidFill>
                  <a:srgbClr val="0B1F3A"/>
                </a:solidFill>
                <a:latin typeface="Segoe UI"/>
              </a:rPr>
              <a:t>. That is not a benchmark — it shows where the time </a:t>
            </a:r>
            <a:r>
              <a:rPr sz="1080" b="0">
                <a:solidFill>
                  <a:srgbClr val="0B1F3A"/>
                </a:solidFill>
                <a:latin typeface="Segoe UI"/>
              </a:rPr>
              <a:t>isn't</a:t>
            </a:r>
            <a:r>
              <a:rPr sz="1080" b="0">
                <a:solidFill>
                  <a:srgbClr val="0B1F3A"/>
                </a:solidFill>
                <a:latin typeface="Segoe UI"/>
              </a:rPr>
              <a:t> going: no pool, no cache, no network hop, no queue.</a:t>
            </a:r>
          </a:p>
        </p:txBody>
      </p:sp>
      <p:sp>
        <p:nvSpPr>
          <p:cNvPr id="21" name="Rounded Rectangle 20"/>
          <p:cNvSpPr/>
          <p:nvPr/>
        </p:nvSpPr>
        <p:spPr>
          <a:xfrm>
            <a:off x="6934617" y="5341051"/>
            <a:ext cx="4946182" cy="1096324"/>
          </a:xfrm>
          <a:prstGeom prst="roundRect">
            <a:avLst>
              <a:gd name="adj" fmla="val 5500"/>
            </a:avLst>
          </a:prstGeom>
          <a:solidFill>
            <a:srgbClr val="FEF4E2"/>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2" name="Rounded Rectangle 21"/>
          <p:cNvSpPr/>
          <p:nvPr/>
        </p:nvSpPr>
        <p:spPr>
          <a:xfrm>
            <a:off x="6945589" y="5423347"/>
            <a:ext cx="41148" cy="931732"/>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62633" y="5432491"/>
            <a:ext cx="4708438"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F59E0B"/>
                </a:solidFill>
                <a:latin typeface="Segoe UI"/>
              </a:rPr>
              <a:t>Two shortcuts visible in this path</a:t>
            </a:r>
          </a:p>
        </p:txBody>
      </p:sp>
      <p:sp>
        <p:nvSpPr>
          <p:cNvPr id="24" name="Rounded Rectangle 23"/>
          <p:cNvSpPr/>
          <p:nvPr/>
        </p:nvSpPr>
        <p:spPr>
          <a:xfrm>
            <a:off x="7062633" y="5658424"/>
            <a:ext cx="4708438" cy="66842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① The status flow </a:t>
            </a:r>
            <a:r>
              <a:rPr sz="1080" b="0">
                <a:solidFill>
                  <a:srgbClr val="056ECE"/>
                </a:solidFill>
                <a:latin typeface="Consolas"/>
              </a:rPr>
              <a:t>PUT /shipments/:id/status</a:t>
            </a:r>
            <a:r>
              <a:rPr sz="1080" b="0">
                <a:solidFill>
                  <a:srgbClr val="0B1F3A"/>
                </a:solidFill>
                <a:latin typeface="Segoe UI"/>
              </a:rPr>
              <a:t> skips validation entirely — any of the 10 enum values can be set from any state.</a:t>
            </a:r>
          </a:p>
          <a:p>
            <a:pPr algn="l">
              <a:lnSpc>
                <a:spcPct val="116000"/>
              </a:lnSpc>
              <a:spcBef>
                <a:spcPts val="0"/>
              </a:spcBef>
              <a:spcAft>
                <a:spcPts val="0"/>
              </a:spcAft>
            </a:pPr>
            <a:r>
              <a:rPr sz="1080" b="0">
                <a:solidFill>
                  <a:srgbClr val="0B1F3A"/>
                </a:solidFill>
                <a:latin typeface="Segoe UI"/>
              </a:rPr>
              <a:t>② If an INSERT raises, the connection is closed only on the success path (slide 14 shows what that costs).</a:t>
            </a:r>
          </a:p>
        </p:txBody>
      </p:sp>
      <p:sp>
        <p:nvSpPr>
          <p:cNvPr id="25" name="Rounded Rectangle 24"/>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backend/routes.py · add_shipment</a:t>
            </a:r>
            <a:r>
              <a:rPr sz="830" b="0">
                <a:solidFill>
                  <a:srgbClr val="056ECE"/>
                </a:solidFill>
                <a:latin typeface="Consolas"/>
              </a:rPr>
              <a:t>   ·   backend/services.py · create_shipment</a:t>
            </a:r>
            <a:r>
              <a:rPr sz="830" b="0">
                <a:solidFill>
                  <a:srgbClr val="056ECE"/>
                </a:solidFill>
                <a:latin typeface="Consolas"/>
              </a:rPr>
              <a:t>   ·   frontend/js/shipments.js · handleCreateShipment</a:t>
            </a:r>
            <a:r>
              <a:rPr sz="860" b="1">
                <a:solidFill>
                  <a:srgbClr val="08A75A"/>
                </a:solidFill>
                <a:latin typeface="Segoe UI"/>
              </a:rPr>
              <a:t>   ·   Behaviour verified live: 201 response, 4 rows written, 1 OTP, cost re-derived by the server</a:t>
            </a:r>
          </a:p>
        </p:txBody>
      </p:sp>
      <p:sp>
        <p:nvSpPr>
          <p:cNvPr id="26" name="Rounded Rectangle 25"/>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07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07 · KEY TECHNICAL IMPLEMENTATION — 1 OF 2</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500" b="0">
                <a:solidFill>
                  <a:srgbClr val="062B57"/>
                </a:solidFill>
                <a:latin typeface="Segoe UI"/>
              </a:rPr>
              <a:t>Authorisation and the data-integrity boundary</a:t>
            </a:r>
          </a:p>
        </p:txBody>
      </p:sp>
      <p:sp>
        <p:nvSpPr>
          <p:cNvPr id="4" name="Rounded Rectangle 3"/>
          <p:cNvSpPr/>
          <p:nvPr/>
        </p:nvSpPr>
        <p:spPr>
          <a:xfrm>
            <a:off x="457200" y="1042416"/>
            <a:ext cx="5638647" cy="1871344"/>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backend/auth.py · require_role()</a:t>
            </a:r>
            <a:r>
              <a:rPr sz="550">
                <a:solidFill>
                  <a:srgbClr val="9FB6CE"/>
                </a:solidFill>
                <a:latin typeface="Segoe UI"/>
              </a:rPr>
              <a:t>   25 of 26 routes carry a decorator</a:t>
            </a:r>
          </a:p>
          <a:p>
            <a:pPr>
              <a:lnSpc>
                <a:spcPct val="100000"/>
              </a:lnSpc>
              <a:spcBef>
                <a:spcPts val="0"/>
              </a:spcBef>
              <a:spcAft>
                <a:spcPts val="0"/>
              </a:spcAft>
            </a:pPr>
            <a:r>
              <a:rPr sz="650">
                <a:solidFill>
                  <a:srgbClr val="D7E6F7"/>
                </a:solidFill>
                <a:latin typeface="Consolas"/>
              </a:rPr>
              <a:t>def require_role(*roles):</a:t>
            </a:r>
          </a:p>
          <a:p>
            <a:pPr>
              <a:lnSpc>
                <a:spcPct val="100000"/>
              </a:lnSpc>
              <a:spcBef>
                <a:spcPts val="0"/>
              </a:spcBef>
              <a:spcAft>
                <a:spcPts val="0"/>
              </a:spcAft>
            </a:pPr>
            <a:r>
              <a:rPr sz="650">
                <a:solidFill>
                  <a:srgbClr val="D7E6F7"/>
                </a:solidFill>
                <a:latin typeface="Consolas"/>
              </a:rPr>
              <a:t>def decorator(f):</a:t>
            </a:r>
          </a:p>
          <a:p>
            <a:pPr>
              <a:lnSpc>
                <a:spcPct val="100000"/>
              </a:lnSpc>
              <a:spcBef>
                <a:spcPts val="0"/>
              </a:spcBef>
              <a:spcAft>
                <a:spcPts val="0"/>
              </a:spcAft>
            </a:pPr>
            <a:r>
              <a:rPr sz="650">
                <a:solidFill>
                  <a:srgbClr val="D7E6F7"/>
                </a:solidFill>
                <a:latin typeface="Consolas"/>
              </a:rPr>
              <a:t>@wraps(f)</a:t>
            </a:r>
          </a:p>
          <a:p>
            <a:pPr>
              <a:lnSpc>
                <a:spcPct val="100000"/>
              </a:lnSpc>
              <a:spcBef>
                <a:spcPts val="0"/>
              </a:spcBef>
              <a:spcAft>
                <a:spcPts val="0"/>
              </a:spcAft>
            </a:pPr>
            <a:r>
              <a:rPr sz="650">
                <a:solidFill>
                  <a:srgbClr val="D7E6F7"/>
                </a:solidFill>
                <a:latin typeface="Consolas"/>
              </a:rPr>
              <a:t>def decorated(*args, **kwargs):</a:t>
            </a:r>
          </a:p>
          <a:p>
            <a:pPr>
              <a:lnSpc>
                <a:spcPct val="100000"/>
              </a:lnSpc>
              <a:spcBef>
                <a:spcPts val="0"/>
              </a:spcBef>
              <a:spcAft>
                <a:spcPts val="0"/>
              </a:spcAft>
            </a:pPr>
            <a:r>
              <a:rPr sz="650">
                <a:solidFill>
                  <a:srgbClr val="D7E6F7"/>
                </a:solidFill>
                <a:latin typeface="Consolas"/>
              </a:rPr>
              <a:t>if not session.get('user_id'):</a:t>
            </a:r>
          </a:p>
          <a:p>
            <a:pPr>
              <a:lnSpc>
                <a:spcPct val="100000"/>
              </a:lnSpc>
              <a:spcBef>
                <a:spcPts val="0"/>
              </a:spcBef>
              <a:spcAft>
                <a:spcPts val="0"/>
              </a:spcAft>
            </a:pPr>
            <a:r>
              <a:rPr sz="650">
                <a:solidFill>
                  <a:srgbClr val="D7E6F7"/>
                </a:solidFill>
                <a:latin typeface="Consolas"/>
              </a:rPr>
              <a:t>log_auth_required(endpoint=..., ip=request.remote_addr)</a:t>
            </a:r>
          </a:p>
          <a:p>
            <a:pPr>
              <a:lnSpc>
                <a:spcPct val="100000"/>
              </a:lnSpc>
              <a:spcBef>
                <a:spcPts val="0"/>
              </a:spcBef>
              <a:spcAft>
                <a:spcPts val="0"/>
              </a:spcAft>
            </a:pPr>
            <a:r>
              <a:rPr sz="650">
                <a:solidFill>
                  <a:srgbClr val="D7E6F7"/>
                </a:solidFill>
                <a:latin typeface="Consolas"/>
              </a:rPr>
              <a:t>return error_response('Authentication required', 401)</a:t>
            </a:r>
          </a:p>
          <a:p>
            <a:pPr>
              <a:lnSpc>
                <a:spcPct val="100000"/>
              </a:lnSpc>
              <a:spcBef>
                <a:spcPts val="0"/>
              </a:spcBef>
              <a:spcAft>
                <a:spcPts val="0"/>
              </a:spcAft>
            </a:pPr>
            <a:r>
              <a:rPr sz="650">
                <a:solidFill>
                  <a:srgbClr val="D7E6F7"/>
                </a:solidFill>
                <a:latin typeface="Consolas"/>
              </a:rPr>
              <a:t>if session.get('role') not in roles:</a:t>
            </a:r>
          </a:p>
          <a:p>
            <a:pPr>
              <a:lnSpc>
                <a:spcPct val="100000"/>
              </a:lnSpc>
              <a:spcBef>
                <a:spcPts val="0"/>
              </a:spcBef>
              <a:spcAft>
                <a:spcPts val="0"/>
              </a:spcAft>
            </a:pPr>
            <a:r>
              <a:rPr sz="650">
                <a:solidFill>
                  <a:srgbClr val="D7E6F7"/>
                </a:solidFill>
                <a:latin typeface="Consolas"/>
              </a:rPr>
              <a:t>log_forbidden(user_id=..., role=..., endpoint=...)</a:t>
            </a:r>
          </a:p>
          <a:p>
            <a:pPr>
              <a:lnSpc>
                <a:spcPct val="100000"/>
              </a:lnSpc>
              <a:spcBef>
                <a:spcPts val="0"/>
              </a:spcBef>
              <a:spcAft>
                <a:spcPts val="0"/>
              </a:spcAft>
            </a:pPr>
            <a:r>
              <a:rPr sz="650">
                <a:solidFill>
                  <a:srgbClr val="D7E6F7"/>
                </a:solidFill>
                <a:latin typeface="Consolas"/>
              </a:rPr>
              <a:t>return error_response(f"Forbidden — requires role: {roles}", 403)</a:t>
            </a:r>
          </a:p>
          <a:p>
            <a:pPr>
              <a:lnSpc>
                <a:spcPct val="100000"/>
              </a:lnSpc>
              <a:spcBef>
                <a:spcPts val="0"/>
              </a:spcBef>
              <a:spcAft>
                <a:spcPts val="0"/>
              </a:spcAft>
            </a:pPr>
            <a:r>
              <a:rPr sz="650">
                <a:solidFill>
                  <a:srgbClr val="D7E6F7"/>
                </a:solidFill>
                <a:latin typeface="Consolas"/>
              </a:rPr>
              <a:t>return f(*args, **kwargs)</a:t>
            </a:r>
          </a:p>
          <a:p>
            <a:pPr>
              <a:lnSpc>
                <a:spcPct val="100000"/>
              </a:lnSpc>
              <a:spcBef>
                <a:spcPts val="0"/>
              </a:spcBef>
              <a:spcAft>
                <a:spcPts val="0"/>
              </a:spcAft>
            </a:pPr>
            <a:r>
              <a:rPr sz="650">
                <a:solidFill>
                  <a:srgbClr val="D7E6F7"/>
                </a:solidFill>
                <a:latin typeface="Consolas"/>
              </a:rPr>
              <a:t>return decorated</a:t>
            </a:r>
          </a:p>
          <a:p>
            <a:pPr>
              <a:lnSpc>
                <a:spcPct val="100000"/>
              </a:lnSpc>
              <a:spcBef>
                <a:spcPts val="0"/>
              </a:spcBef>
              <a:spcAft>
                <a:spcPts val="0"/>
              </a:spcAft>
            </a:pPr>
            <a:r>
              <a:rPr sz="650">
                <a:solidFill>
                  <a:srgbClr val="D7E6F7"/>
                </a:solidFill>
                <a:latin typeface="Consolas"/>
              </a:rPr>
              <a:t>return decorator</a:t>
            </a:r>
          </a:p>
        </p:txBody>
      </p:sp>
      <p:sp>
        <p:nvSpPr>
          <p:cNvPr id="5" name="Rounded Rectangle 4"/>
          <p:cNvSpPr/>
          <p:nvPr/>
        </p:nvSpPr>
        <p:spPr>
          <a:xfrm>
            <a:off x="457200" y="4650060"/>
            <a:ext cx="5638647" cy="1787315"/>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6" name="Rounded Rectangle 5"/>
          <p:cNvSpPr/>
          <p:nvPr/>
        </p:nvSpPr>
        <p:spPr>
          <a:xfrm>
            <a:off x="585216" y="4741500"/>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Why this matters</a:t>
            </a:r>
          </a:p>
        </p:txBody>
      </p:sp>
      <p:sp>
        <p:nvSpPr>
          <p:cNvPr id="7" name="Rounded Rectangle 6"/>
          <p:cNvSpPr/>
          <p:nvPr/>
        </p:nvSpPr>
        <p:spPr>
          <a:xfrm>
            <a:off x="585216" y="4967433"/>
            <a:ext cx="5400903" cy="98663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Authorisation is a </a:t>
            </a:r>
            <a:r>
              <a:rPr sz="1080" b="1">
                <a:solidFill>
                  <a:srgbClr val="0B1F3A"/>
                </a:solidFill>
                <a:latin typeface="Segoe UI"/>
              </a:rPr>
              <a:t>property of the route definition</a:t>
            </a:r>
            <a:r>
              <a:rPr sz="1080" b="0">
                <a:solidFill>
                  <a:srgbClr val="0B1F3A"/>
                </a:solidFill>
                <a:latin typeface="Segoe UI"/>
              </a:rPr>
              <a:t>, not of the handler's discipline: forgetting it is visible in a diff, and a custom Semgrep rule (</a:t>
            </a:r>
            <a:r>
              <a:rPr sz="1080" b="0">
                <a:solidFill>
                  <a:srgbClr val="056ECE"/>
                </a:solidFill>
                <a:latin typeface="Consolas"/>
              </a:rPr>
              <a:t>apexflow-unauthenticated-route</a:t>
            </a:r>
            <a:r>
              <a:rPr sz="1080" b="0">
                <a:solidFill>
                  <a:srgbClr val="0B1F3A"/>
                </a:solidFill>
                <a:latin typeface="Segoe UI"/>
              </a:rPr>
              <a:t>) fails CI when a route in </a:t>
            </a:r>
            <a:r>
              <a:rPr sz="1080" b="0">
                <a:solidFill>
                  <a:srgbClr val="056ECE"/>
                </a:solidFill>
                <a:latin typeface="Consolas"/>
              </a:rPr>
              <a:t>routes.py</a:t>
            </a:r>
            <a:r>
              <a:rPr sz="1080" b="0">
                <a:solidFill>
                  <a:srgbClr val="0B1F3A"/>
                </a:solidFill>
                <a:latin typeface="Segoe UI"/>
              </a:rPr>
              <a:t> has neither decorator. 401 and 403 are distinct, and each is logged with the caller identity — the audit trail and the enforcement are produced by the same function, so they cannot drift apart.</a:t>
            </a:r>
          </a:p>
        </p:txBody>
      </p:sp>
      <p:sp>
        <p:nvSpPr>
          <p:cNvPr id="8" name="Rounded Rectangle 7"/>
          <p:cNvSpPr/>
          <p:nvPr/>
        </p:nvSpPr>
        <p:spPr>
          <a:xfrm>
            <a:off x="6242151" y="1042416"/>
            <a:ext cx="5638647" cy="2105787"/>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backend/services.py · create_shipment()</a:t>
            </a:r>
            <a:r>
              <a:rPr sz="550">
                <a:solidFill>
                  <a:srgbClr val="9FB6CE"/>
                </a:solidFill>
                <a:latin typeface="Segoe UI"/>
              </a:rPr>
              <a:t>   F-02 mass-assignment fix</a:t>
            </a:r>
          </a:p>
          <a:p>
            <a:pPr>
              <a:lnSpc>
                <a:spcPct val="100000"/>
              </a:lnSpc>
              <a:spcBef>
                <a:spcPts val="0"/>
              </a:spcBef>
              <a:spcAft>
                <a:spcPts val="0"/>
              </a:spcAft>
            </a:pPr>
            <a:r>
              <a:rPr sz="650">
                <a:solidFill>
                  <a:srgbClr val="D7E6F7"/>
                </a:solidFill>
                <a:latin typeface="Consolas"/>
              </a:rPr>
              <a:t>_SHIPMENT_ALLOWED_FIELDS = {</a:t>
            </a:r>
          </a:p>
          <a:p>
            <a:pPr>
              <a:lnSpc>
                <a:spcPct val="100000"/>
              </a:lnSpc>
              <a:spcBef>
                <a:spcPts val="0"/>
              </a:spcBef>
              <a:spcAft>
                <a:spcPts val="0"/>
              </a:spcAft>
            </a:pPr>
            <a:r>
              <a:rPr sz="650">
                <a:solidFill>
                  <a:srgbClr val="D7E6F7"/>
                </a:solidFill>
                <a:latin typeface="Consolas"/>
              </a:rPr>
              <a:t>'customer_name', 'pickup_location', 'destination', 'goods_type',</a:t>
            </a:r>
          </a:p>
          <a:p>
            <a:pPr>
              <a:lnSpc>
                <a:spcPct val="100000"/>
              </a:lnSpc>
              <a:spcBef>
                <a:spcPts val="0"/>
              </a:spcBef>
              <a:spcAft>
                <a:spcPts val="0"/>
              </a:spcAft>
            </a:pPr>
            <a:r>
              <a:rPr sz="650">
                <a:solidFill>
                  <a:srgbClr val="D7E6F7"/>
                </a:solidFill>
                <a:latin typeface="Consolas"/>
              </a:rPr>
              <a:t>'description', 'weight_kg', 'quantity', 'payment_method', ... }</a:t>
            </a:r>
          </a:p>
          <a:p>
            <a:pPr>
              <a:lnSpc>
                <a:spcPct val="100000"/>
              </a:lnSpc>
              <a:spcBef>
                <a:spcPts val="0"/>
              </a:spcBef>
              <a:spcAft>
                <a:spcPts val="0"/>
              </a:spcAft>
            </a:pPr>
            <a:r>
              <a:rPr sz="650">
                <a:solidFill>
                  <a:srgbClr val="D7E6F7"/>
                </a:solidFill>
                <a:latin typeface="Consolas"/>
              </a:rPr>
              <a:t> </a:t>
            </a:r>
          </a:p>
          <a:p>
            <a:pPr>
              <a:lnSpc>
                <a:spcPct val="100000"/>
              </a:lnSpc>
              <a:spcBef>
                <a:spcPts val="0"/>
              </a:spcBef>
              <a:spcAft>
                <a:spcPts val="0"/>
              </a:spcAft>
            </a:pPr>
            <a:r>
              <a:rPr sz="650">
                <a:solidFill>
                  <a:srgbClr val="D7E6F7"/>
                </a:solidFill>
                <a:latin typeface="Consolas"/>
              </a:rPr>
              <a:t>safe = {k: v for k, v in data.items() if k in _SHIPMENT_ALLOWED_FIELDS}</a:t>
            </a:r>
          </a:p>
          <a:p>
            <a:pPr>
              <a:lnSpc>
                <a:spcPct val="100000"/>
              </a:lnSpc>
              <a:spcBef>
                <a:spcPts val="0"/>
              </a:spcBef>
              <a:spcAft>
                <a:spcPts val="0"/>
              </a:spcAft>
            </a:pPr>
            <a:r>
              <a:rPr sz="650">
                <a:solidFill>
                  <a:srgbClr val="D7E6F7"/>
                </a:solidFill>
                <a:latin typeface="Consolas"/>
              </a:rPr>
              <a:t> </a:t>
            </a:r>
          </a:p>
          <a:p>
            <a:pPr>
              <a:lnSpc>
                <a:spcPct val="100000"/>
              </a:lnSpc>
              <a:spcBef>
                <a:spcPts val="0"/>
              </a:spcBef>
              <a:spcAft>
                <a:spcPts val="0"/>
              </a:spcAft>
            </a:pPr>
            <a:r>
              <a:rPr sz="650">
                <a:solidFill>
                  <a:srgbClr val="D7E6F7"/>
                </a:solidFill>
                <a:latin typeface="Consolas"/>
              </a:rPr>
              <a:t># fields the client can never set</a:t>
            </a:r>
          </a:p>
          <a:p>
            <a:pPr>
              <a:lnSpc>
                <a:spcPct val="100000"/>
              </a:lnSpc>
              <a:spcBef>
                <a:spcPts val="0"/>
              </a:spcBef>
              <a:spcAft>
                <a:spcPts val="0"/>
              </a:spcAft>
            </a:pPr>
            <a:r>
              <a:rPr sz="650">
                <a:solidFill>
                  <a:srgbClr val="D7E6F7"/>
                </a:solidFill>
                <a:latin typeface="Consolas"/>
              </a:rPr>
              <a:t>status, payment_status = 'Booked', 'Pending'</a:t>
            </a:r>
          </a:p>
          <a:p>
            <a:pPr>
              <a:lnSpc>
                <a:spcPct val="100000"/>
              </a:lnSpc>
              <a:spcBef>
                <a:spcPts val="0"/>
              </a:spcBef>
              <a:spcAft>
                <a:spcPts val="0"/>
              </a:spcAft>
            </a:pPr>
            <a:r>
              <a:rPr sz="650">
                <a:solidFill>
                  <a:srgbClr val="D7E6F7"/>
                </a:solidFill>
                <a:latin typeface="Consolas"/>
              </a:rPr>
              <a:t>shipping_cost = _calculate_shipping_cost(weight_kg, pickup, destination)</a:t>
            </a:r>
          </a:p>
          <a:p>
            <a:pPr>
              <a:lnSpc>
                <a:spcPct val="100000"/>
              </a:lnSpc>
              <a:spcBef>
                <a:spcPts val="0"/>
              </a:spcBef>
              <a:spcAft>
                <a:spcPts val="0"/>
              </a:spcAft>
            </a:pPr>
            <a:r>
              <a:rPr sz="650">
                <a:solidFill>
                  <a:srgbClr val="D7E6F7"/>
                </a:solidFill>
                <a:latin typeface="Consolas"/>
              </a:rPr>
              <a:t>customer_id = caller_user_id if caller_role == 'CUSTOMER' \</a:t>
            </a:r>
          </a:p>
          <a:p>
            <a:pPr>
              <a:lnSpc>
                <a:spcPct val="100000"/>
              </a:lnSpc>
              <a:spcBef>
                <a:spcPts val="0"/>
              </a:spcBef>
              <a:spcAft>
                <a:spcPts val="0"/>
              </a:spcAft>
            </a:pPr>
            <a:r>
              <a:rPr sz="650">
                <a:solidFill>
                  <a:srgbClr val="D7E6F7"/>
                </a:solidFill>
                <a:latin typeface="Consolas"/>
              </a:rPr>
              <a:t>else data.get('customer_id', 'CUST001') # ⚠ not safe.get</a:t>
            </a:r>
          </a:p>
          <a:p>
            <a:pPr>
              <a:lnSpc>
                <a:spcPct val="100000"/>
              </a:lnSpc>
              <a:spcBef>
                <a:spcPts val="0"/>
              </a:spcBef>
              <a:spcAft>
                <a:spcPts val="0"/>
              </a:spcAft>
            </a:pPr>
            <a:r>
              <a:rPr sz="650">
                <a:solidFill>
                  <a:srgbClr val="D7E6F7"/>
                </a:solidFill>
                <a:latin typeface="Consolas"/>
              </a:rPr>
              <a:t> </a:t>
            </a:r>
          </a:p>
          <a:p>
            <a:pPr>
              <a:lnSpc>
                <a:spcPct val="100000"/>
              </a:lnSpc>
              <a:spcBef>
                <a:spcPts val="0"/>
              </a:spcBef>
              <a:spcAft>
                <a:spcPts val="0"/>
              </a:spcAft>
            </a:pPr>
            <a:r>
              <a:rPr sz="650">
                <a:solidFill>
                  <a:srgbClr val="D7E6F7"/>
                </a:solidFill>
                <a:latin typeface="Consolas"/>
              </a:rPr>
              <a:t># response is re-read from the DB, so what the client sees is</a:t>
            </a:r>
          </a:p>
          <a:p>
            <a:pPr>
              <a:lnSpc>
                <a:spcPct val="100000"/>
              </a:lnSpc>
              <a:spcBef>
                <a:spcPts val="0"/>
              </a:spcBef>
              <a:spcAft>
                <a:spcPts val="0"/>
              </a:spcAft>
            </a:pPr>
            <a:r>
              <a:rPr sz="650">
                <a:solidFill>
                  <a:srgbClr val="D7E6F7"/>
                </a:solidFill>
                <a:latin typeface="Consolas"/>
              </a:rPr>
              <a:t># what was actually stored — not what it asked for</a:t>
            </a:r>
          </a:p>
          <a:p>
            <a:pPr>
              <a:lnSpc>
                <a:spcPct val="100000"/>
              </a:lnSpc>
              <a:spcBef>
                <a:spcPts val="0"/>
              </a:spcBef>
              <a:spcAft>
                <a:spcPts val="0"/>
              </a:spcAft>
            </a:pPr>
            <a:r>
              <a:rPr sz="650">
                <a:solidFill>
                  <a:srgbClr val="D7E6F7"/>
                </a:solidFill>
                <a:latin typeface="Consolas"/>
              </a:rPr>
              <a:t>return get_shipment_by_id(shipment_id)</a:t>
            </a:r>
          </a:p>
        </p:txBody>
      </p:sp>
      <p:sp>
        <p:nvSpPr>
          <p:cNvPr id="9" name="Rounded Rectangle 8"/>
          <p:cNvSpPr/>
          <p:nvPr/>
        </p:nvSpPr>
        <p:spPr>
          <a:xfrm>
            <a:off x="6242151" y="4168596"/>
            <a:ext cx="5638647" cy="913998"/>
          </a:xfrm>
          <a:prstGeom prst="roundRect">
            <a:avLst>
              <a:gd name="adj" fmla="val 5500"/>
            </a:avLst>
          </a:prstGeom>
          <a:solidFill>
            <a:srgbClr val="E5F8EE"/>
          </a:solidFill>
          <a:ln w="9525">
            <a:solidFill>
              <a:srgbClr val="08A75A"/>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0" name="Rounded Rectangle 9"/>
          <p:cNvSpPr/>
          <p:nvPr/>
        </p:nvSpPr>
        <p:spPr>
          <a:xfrm>
            <a:off x="6253124" y="4250892"/>
            <a:ext cx="41148" cy="749406"/>
          </a:xfrm>
          <a:prstGeom prst="roundRect">
            <a:avLst>
              <a:gd name="adj" fmla="val 50000"/>
            </a:avLst>
          </a:prstGeom>
          <a:solidFill>
            <a:srgbClr val="08A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70167" y="4260036"/>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8A75A"/>
                </a:solidFill>
                <a:latin typeface="Segoe UI"/>
              </a:rPr>
              <a:t>✓</a:t>
            </a:r>
            <a:r>
              <a:rPr sz="1180" b="0">
                <a:solidFill>
                  <a:srgbClr val="08A75A"/>
                </a:solidFill>
                <a:latin typeface="Segoe UI"/>
              </a:rPr>
              <a:t>Verified live, not just read</a:t>
            </a:r>
          </a:p>
        </p:txBody>
      </p:sp>
      <p:sp>
        <p:nvSpPr>
          <p:cNvPr id="12" name="Rounded Rectangle 11"/>
          <p:cNvSpPr/>
          <p:nvPr/>
        </p:nvSpPr>
        <p:spPr>
          <a:xfrm>
            <a:off x="6370167" y="4485969"/>
            <a:ext cx="5400903" cy="509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Posting </a:t>
            </a:r>
            <a:r>
              <a:rPr sz="1080" b="0">
                <a:solidFill>
                  <a:srgbClr val="056ECE"/>
                </a:solidFill>
                <a:latin typeface="Consolas"/>
              </a:rPr>
              <a:t>{"status":"Delivered","payment_status":"Paid","shipping_cost":1}</a:t>
            </a:r>
            <a:r>
              <a:rPr sz="1080" b="0">
                <a:solidFill>
                  <a:srgbClr val="0B1F3A"/>
                </a:solidFill>
                <a:latin typeface="Segoe UI"/>
              </a:rPr>
              <a:t> returned </a:t>
            </a:r>
            <a:r>
              <a:rPr sz="1080" b="0">
                <a:solidFill>
                  <a:srgbClr val="056ECE"/>
                </a:solidFill>
                <a:latin typeface="Consolas"/>
              </a:rPr>
              <a:t>201</a:t>
            </a:r>
            <a:r>
              <a:rPr sz="1080" b="0">
                <a:solidFill>
                  <a:srgbClr val="0B1F3A"/>
                </a:solidFill>
                <a:latin typeface="Segoe UI"/>
              </a:rPr>
              <a:t> with </a:t>
            </a:r>
            <a:r>
              <a:rPr sz="1080" b="0">
                <a:solidFill>
                  <a:srgbClr val="056ECE"/>
                </a:solidFill>
                <a:latin typeface="Consolas"/>
              </a:rPr>
              <a:t>status:"Booked"</a:t>
            </a:r>
            <a:r>
              <a:rPr sz="1080" b="0">
                <a:solidFill>
                  <a:srgbClr val="0B1F3A"/>
                </a:solidFill>
                <a:latin typeface="Segoe UI"/>
              </a:rPr>
              <a:t>, </a:t>
            </a:r>
            <a:r>
              <a:rPr sz="1080" b="0">
                <a:solidFill>
                  <a:srgbClr val="056ECE"/>
                </a:solidFill>
                <a:latin typeface="Consolas"/>
              </a:rPr>
              <a:t>payment_status:"Pending"</a:t>
            </a:r>
            <a:r>
              <a:rPr sz="1080" b="0">
                <a:solidFill>
                  <a:srgbClr val="0B1F3A"/>
                </a:solidFill>
                <a:latin typeface="Segoe UI"/>
              </a:rPr>
              <a:t>, </a:t>
            </a:r>
            <a:r>
              <a:rPr sz="1080" b="0">
                <a:solidFill>
                  <a:srgbClr val="056ECE"/>
                </a:solidFill>
                <a:latin typeface="Consolas"/>
              </a:rPr>
              <a:t>shipping_cost:3169.0</a:t>
            </a:r>
            <a:r>
              <a:rPr sz="1080" b="0">
                <a:solidFill>
                  <a:srgbClr val="0B1F3A"/>
                </a:solidFill>
                <a:latin typeface="Segoe UI"/>
              </a:rPr>
              <a:t> — the injected fields were dropped.</a:t>
            </a:r>
          </a:p>
        </p:txBody>
      </p:sp>
      <p:sp>
        <p:nvSpPr>
          <p:cNvPr id="13" name="Rounded Rectangle 12"/>
          <p:cNvSpPr/>
          <p:nvPr/>
        </p:nvSpPr>
        <p:spPr>
          <a:xfrm>
            <a:off x="6242151" y="5228898"/>
            <a:ext cx="5638647" cy="1208477"/>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4" name="Rounded Rectangle 13"/>
          <p:cNvSpPr/>
          <p:nvPr/>
        </p:nvSpPr>
        <p:spPr>
          <a:xfrm>
            <a:off x="6370167" y="5320338"/>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t>
            </a:r>
            <a:r>
              <a:rPr sz="1180" b="0">
                <a:solidFill>
                  <a:srgbClr val="062B57"/>
                </a:solidFill>
                <a:latin typeface="Segoe UI"/>
              </a:rPr>
              <a:t>…and the one place it leaks</a:t>
            </a:r>
          </a:p>
        </p:txBody>
      </p:sp>
      <p:sp>
        <p:nvSpPr>
          <p:cNvPr id="15" name="Rounded Rectangle 14"/>
          <p:cNvSpPr/>
          <p:nvPr/>
        </p:nvSpPr>
        <p:spPr>
          <a:xfrm>
            <a:off x="6370167" y="5546271"/>
            <a:ext cx="5400903" cy="817952"/>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customer_id</a:t>
            </a:r>
            <a:r>
              <a:rPr sz="1080" b="0">
                <a:solidFill>
                  <a:srgbClr val="0B1F3A"/>
                </a:solidFill>
                <a:latin typeface="Segoe UI"/>
              </a:rPr>
              <a:t> is read from the raw body, not from </a:t>
            </a:r>
            <a:r>
              <a:rPr sz="1080" b="0">
                <a:solidFill>
                  <a:srgbClr val="056ECE"/>
                </a:solidFill>
                <a:latin typeface="Consolas"/>
              </a:rPr>
              <a:t>safe</a:t>
            </a:r>
            <a:r>
              <a:rPr sz="1080" b="0">
                <a:solidFill>
                  <a:srgbClr val="0B1F3A"/>
                </a:solidFill>
                <a:latin typeface="Segoe UI"/>
              </a:rPr>
              <a:t>. It is not </a:t>
            </a:r>
            <a:r>
              <a:rPr sz="1080" b="0">
                <a:solidFill>
                  <a:srgbClr val="0B1F3A"/>
                </a:solidFill>
                <a:latin typeface="Segoe UI"/>
              </a:rPr>
              <a:t>validated</a:t>
            </a:r>
            <a:r>
              <a:rPr sz="1080" b="0">
                <a:solidFill>
                  <a:srgbClr val="0B1F3A"/>
                </a:solidFill>
                <a:latin typeface="Segoe UI"/>
              </a:rPr>
              <a:t> — an unknown id dies on the FK constraint with a 500 (no injection), but a valid id lets one customer's booking be recorded against another's account. </a:t>
            </a:r>
            <a:r>
              <a:rPr sz="1080" b="1">
                <a:solidFill>
                  <a:srgbClr val="0B1F3A"/>
                </a:solidFill>
                <a:latin typeface="Segoe UI"/>
              </a:rPr>
              <a:t>Fixed by:</a:t>
            </a:r>
            <a:r>
              <a:rPr sz="1080" b="0">
                <a:solidFill>
                  <a:srgbClr val="0B1F3A"/>
                </a:solidFill>
                <a:latin typeface="Segoe UI"/>
              </a:rPr>
              <a:t> one word, </a:t>
            </a:r>
            <a:r>
              <a:rPr sz="1080" b="0">
                <a:solidFill>
                  <a:srgbClr val="056ECE"/>
                </a:solidFill>
                <a:latin typeface="Consolas"/>
              </a:rPr>
              <a:t>data.get</a:t>
            </a:r>
            <a:r>
              <a:rPr sz="1080" b="0">
                <a:solidFill>
                  <a:srgbClr val="0B1F3A"/>
                </a:solidFill>
                <a:latin typeface="Segoe UI"/>
              </a:rPr>
              <a:t> → </a:t>
            </a:r>
            <a:r>
              <a:rPr sz="1080" b="0">
                <a:solidFill>
                  <a:srgbClr val="056ECE"/>
                </a:solidFill>
                <a:latin typeface="Consolas"/>
              </a:rPr>
              <a:t>safe.get</a:t>
            </a:r>
            <a:r>
              <a:rPr sz="1080" b="0">
                <a:solidFill>
                  <a:srgbClr val="0B1F3A"/>
                </a:solidFill>
                <a:latin typeface="Segoe UI"/>
              </a:rPr>
              <a:t>, plus adding the field to the allowlist with a membership check.</a:t>
            </a:r>
          </a:p>
        </p:txBody>
      </p:sp>
      <p:sp>
        <p:nvSpPr>
          <p:cNvPr id="16" name="Rounded Rectangle 15"/>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backend/auth.py · login_required / require_role</a:t>
            </a:r>
            <a:r>
              <a:rPr sz="830" b="0">
                <a:solidFill>
                  <a:srgbClr val="056ECE"/>
                </a:solidFill>
                <a:latin typeface="Consolas"/>
              </a:rPr>
              <a:t>   ·   backend/services.py · create_shipment</a:t>
            </a:r>
            <a:r>
              <a:rPr sz="830" b="0">
                <a:solidFill>
                  <a:srgbClr val="056ECE"/>
                </a:solidFill>
                <a:latin typeface="Consolas"/>
              </a:rPr>
              <a:t>   ·   .semgrep.yml · apexflow-unauthenticated-route</a:t>
            </a:r>
            <a:r>
              <a:rPr sz="830" b="0">
                <a:solidFill>
                  <a:srgbClr val="056ECE"/>
                </a:solidFill>
                <a:latin typeface="Consolas"/>
              </a:rPr>
              <a:t>   ·   docs/SECURITY_AUDIT.md · F-01, F-02, F-09</a:t>
            </a:r>
          </a:p>
        </p:txBody>
      </p:sp>
      <p:sp>
        <p:nvSpPr>
          <p:cNvPr id="17" name="Rounded Rectangle 16"/>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08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08 · KEY TECHNICAL IMPLEMENTATION — 2 OF 2</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250" b="0">
                <a:solidFill>
                  <a:srgbClr val="062B57"/>
                </a:solidFill>
                <a:latin typeface="Segoe UI"/>
              </a:rPr>
              <a:t>Proof of delivery: an OTP that is generated, constrained and never returned</a:t>
            </a:r>
          </a:p>
        </p:txBody>
      </p:sp>
      <p:sp>
        <p:nvSpPr>
          <p:cNvPr id="4" name="Rounded Rectangle 3"/>
          <p:cNvSpPr/>
          <p:nvPr/>
        </p:nvSpPr>
        <p:spPr>
          <a:xfrm>
            <a:off x="457200" y="1042416"/>
            <a:ext cx="2641015" cy="202044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Generate</a:t>
            </a:r>
          </a:p>
          <a:p>
            <a:pPr algn="l">
              <a:lnSpc>
                <a:spcPct val="105000"/>
              </a:lnSpc>
              <a:spcBef>
                <a:spcPts val="150"/>
              </a:spcBef>
              <a:spcAft>
                <a:spcPts val="0"/>
              </a:spcAft>
            </a:pPr>
            <a:r>
              <a:rPr sz="780" b="0">
                <a:solidFill>
                  <a:srgbClr val="056ECE"/>
                </a:solidFill>
                <a:latin typeface="Consolas"/>
              </a:rPr>
              <a:t>services.py · _generate_otp()</a:t>
            </a:r>
          </a:p>
          <a:p>
            <a:pPr algn="l">
              <a:lnSpc>
                <a:spcPct val="112000"/>
              </a:lnSpc>
              <a:spcBef>
                <a:spcPts val="250"/>
              </a:spcBef>
              <a:spcAft>
                <a:spcPts val="0"/>
              </a:spcAft>
            </a:pPr>
            <a:r>
              <a:rPr sz="840" b="0">
                <a:solidFill>
                  <a:srgbClr val="5A6F88"/>
                </a:solidFill>
                <a:latin typeface="Segoe UI"/>
              </a:rPr>
              <a:t>On booking — </a:t>
            </a:r>
            <a:r>
              <a:rPr sz="840" b="0">
                <a:solidFill>
                  <a:srgbClr val="056ECE"/>
                </a:solidFill>
                <a:latin typeface="Consolas"/>
              </a:rPr>
              <a:t>secrets.randbelow(900000)+100000</a:t>
            </a:r>
            <a:r>
              <a:rPr sz="840" b="0">
                <a:solidFill>
                  <a:srgbClr val="5A6F88"/>
                </a:solidFill>
                <a:latin typeface="Segoe UI"/>
              </a:rPr>
              <a:t>, so 900 000 keyspace, not 10 000.</a:t>
            </a:r>
          </a:p>
        </p:txBody>
      </p:sp>
      <p:sp>
        <p:nvSpPr>
          <p:cNvPr id="5" name="TextBox 4"/>
          <p:cNvSpPr txBox="1"/>
          <p:nvPr/>
        </p:nvSpPr>
        <p:spPr>
          <a:xfrm>
            <a:off x="3107359" y="1942908"/>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6" name="Rounded Rectangle 5"/>
          <p:cNvSpPr/>
          <p:nvPr/>
        </p:nvSpPr>
        <p:spPr>
          <a:xfrm>
            <a:off x="3335959" y="1042416"/>
            <a:ext cx="2641015" cy="202044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Store &amp; bind</a:t>
            </a:r>
          </a:p>
          <a:p>
            <a:pPr algn="l">
              <a:lnSpc>
                <a:spcPct val="105000"/>
              </a:lnSpc>
              <a:spcBef>
                <a:spcPts val="150"/>
              </a:spcBef>
              <a:spcAft>
                <a:spcPts val="0"/>
              </a:spcAft>
            </a:pPr>
            <a:r>
              <a:rPr sz="780" b="0">
                <a:solidFill>
                  <a:srgbClr val="056ECE"/>
                </a:solidFill>
                <a:latin typeface="Consolas"/>
              </a:rPr>
              <a:t>database.py · deliveries</a:t>
            </a:r>
          </a:p>
          <a:p>
            <a:pPr algn="l">
              <a:lnSpc>
                <a:spcPct val="112000"/>
              </a:lnSpc>
              <a:spcBef>
                <a:spcPts val="250"/>
              </a:spcBef>
              <a:spcAft>
                <a:spcPts val="0"/>
              </a:spcAft>
            </a:pPr>
            <a:r>
              <a:rPr sz="840" b="0">
                <a:solidFill>
                  <a:srgbClr val="056ECE"/>
                </a:solidFill>
                <a:latin typeface="Consolas"/>
              </a:rPr>
              <a:t>deliveries</a:t>
            </a:r>
            <a:r>
              <a:rPr sz="840" b="0">
                <a:solidFill>
                  <a:srgbClr val="5A6F88"/>
                </a:solidFill>
                <a:latin typeface="Segoe UI"/>
              </a:rPr>
              <a:t> row keyed by </a:t>
            </a:r>
            <a:r>
              <a:rPr sz="840" b="0">
                <a:solidFill>
                  <a:srgbClr val="056ECE"/>
                </a:solidFill>
                <a:latin typeface="Consolas"/>
              </a:rPr>
              <a:t>shipment_id UNIQUE</a:t>
            </a:r>
            <a:r>
              <a:rPr sz="840" b="0">
                <a:solidFill>
                  <a:srgbClr val="5A6F88"/>
                </a:solidFill>
                <a:latin typeface="Segoe UI"/>
              </a:rPr>
              <a:t>, with </a:t>
            </a:r>
            <a:r>
              <a:rPr sz="840" b="0">
                <a:solidFill>
                  <a:srgbClr val="056ECE"/>
                </a:solidFill>
                <a:latin typeface="Consolas"/>
              </a:rPr>
              <a:t>otp_attempts=0</a:t>
            </a:r>
            <a:r>
              <a:rPr sz="840" b="0">
                <a:solidFill>
                  <a:srgbClr val="5A6F88"/>
                </a:solidFill>
                <a:latin typeface="Segoe UI"/>
              </a:rPr>
              <a:t> and a +30 min deadline.</a:t>
            </a:r>
          </a:p>
        </p:txBody>
      </p:sp>
      <p:sp>
        <p:nvSpPr>
          <p:cNvPr id="7" name="TextBox 6"/>
          <p:cNvSpPr txBox="1"/>
          <p:nvPr/>
        </p:nvSpPr>
        <p:spPr>
          <a:xfrm>
            <a:off x="5986119" y="1942908"/>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8" name="Rounded Rectangle 7"/>
          <p:cNvSpPr/>
          <p:nvPr/>
        </p:nvSpPr>
        <p:spPr>
          <a:xfrm>
            <a:off x="6214719" y="1042416"/>
            <a:ext cx="2641015" cy="202044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Verify</a:t>
            </a:r>
          </a:p>
          <a:p>
            <a:pPr algn="l">
              <a:lnSpc>
                <a:spcPct val="105000"/>
              </a:lnSpc>
              <a:spcBef>
                <a:spcPts val="150"/>
              </a:spcBef>
              <a:spcAft>
                <a:spcPts val="0"/>
              </a:spcAft>
            </a:pPr>
            <a:r>
              <a:rPr sz="780" b="0">
                <a:solidFill>
                  <a:srgbClr val="056ECE"/>
                </a:solidFill>
                <a:latin typeface="Consolas"/>
              </a:rPr>
              <a:t>services.py · confirm_delivery()</a:t>
            </a:r>
          </a:p>
          <a:p>
            <a:pPr algn="l">
              <a:lnSpc>
                <a:spcPct val="112000"/>
              </a:lnSpc>
              <a:spcBef>
                <a:spcPts val="250"/>
              </a:spcBef>
              <a:spcAft>
                <a:spcPts val="0"/>
              </a:spcAft>
            </a:pPr>
            <a:r>
              <a:rPr sz="840" b="0">
                <a:solidFill>
                  <a:srgbClr val="5A6F88"/>
                </a:solidFill>
                <a:latin typeface="Segoe UI"/>
              </a:rPr>
              <a:t>Lockout → expiry → equality, in that order; each failure persists the counter before responding.</a:t>
            </a:r>
          </a:p>
        </p:txBody>
      </p:sp>
      <p:sp>
        <p:nvSpPr>
          <p:cNvPr id="9" name="TextBox 8"/>
          <p:cNvSpPr txBox="1"/>
          <p:nvPr/>
        </p:nvSpPr>
        <p:spPr>
          <a:xfrm>
            <a:off x="8864879" y="1942908"/>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10" name="Rounded Rectangle 9"/>
          <p:cNvSpPr/>
          <p:nvPr/>
        </p:nvSpPr>
        <p:spPr>
          <a:xfrm>
            <a:off x="9093479" y="1042416"/>
            <a:ext cx="2641015" cy="202044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Cascade</a:t>
            </a:r>
          </a:p>
          <a:p>
            <a:pPr algn="l">
              <a:lnSpc>
                <a:spcPct val="105000"/>
              </a:lnSpc>
              <a:spcBef>
                <a:spcPts val="150"/>
              </a:spcBef>
              <a:spcAft>
                <a:spcPts val="0"/>
              </a:spcAft>
            </a:pPr>
            <a:r>
              <a:rPr sz="780" b="0">
                <a:solidFill>
                  <a:srgbClr val="056ECE"/>
                </a:solidFill>
                <a:latin typeface="Consolas"/>
              </a:rPr>
              <a:t>update_shipment_status()</a:t>
            </a:r>
          </a:p>
          <a:p>
            <a:pPr algn="l">
              <a:lnSpc>
                <a:spcPct val="112000"/>
              </a:lnSpc>
              <a:spcBef>
                <a:spcPts val="250"/>
              </a:spcBef>
              <a:spcAft>
                <a:spcPts val="0"/>
              </a:spcAft>
            </a:pPr>
            <a:r>
              <a:rPr sz="840" b="0">
                <a:solidFill>
                  <a:srgbClr val="5A6F88"/>
                </a:solidFill>
                <a:latin typeface="Segoe UI"/>
              </a:rPr>
              <a:t>Shipment → </a:t>
            </a:r>
            <a:r>
              <a:rPr sz="840" b="0">
                <a:solidFill>
                  <a:srgbClr val="056ECE"/>
                </a:solidFill>
                <a:latin typeface="Consolas"/>
              </a:rPr>
              <a:t>Delivered</a:t>
            </a:r>
            <a:r>
              <a:rPr sz="840" b="0">
                <a:solidFill>
                  <a:srgbClr val="5A6F88"/>
                </a:solidFill>
                <a:latin typeface="Segoe UI"/>
              </a:rPr>
              <a:t>, delivery → </a:t>
            </a:r>
            <a:r>
              <a:rPr sz="840" b="0">
                <a:solidFill>
                  <a:srgbClr val="056ECE"/>
                </a:solidFill>
                <a:latin typeface="Consolas"/>
              </a:rPr>
              <a:t>Delivered</a:t>
            </a:r>
            <a:r>
              <a:rPr sz="840" b="0">
                <a:solidFill>
                  <a:srgbClr val="5A6F88"/>
                </a:solidFill>
                <a:latin typeface="Segoe UI"/>
              </a:rPr>
              <a:t> + timestamp, invoice → </a:t>
            </a:r>
            <a:r>
              <a:rPr sz="840" b="0">
                <a:solidFill>
                  <a:srgbClr val="056ECE"/>
                </a:solidFill>
                <a:latin typeface="Consolas"/>
              </a:rPr>
              <a:t>Paid</a:t>
            </a:r>
            <a:r>
              <a:rPr sz="840" b="0">
                <a:solidFill>
                  <a:srgbClr val="5A6F88"/>
                </a:solidFill>
                <a:latin typeface="Segoe UI"/>
              </a:rPr>
              <a:t>, history appended.</a:t>
            </a:r>
          </a:p>
        </p:txBody>
      </p:sp>
      <p:sp>
        <p:nvSpPr>
          <p:cNvPr id="11" name="Rounded Rectangle 10"/>
          <p:cNvSpPr/>
          <p:nvPr/>
        </p:nvSpPr>
        <p:spPr>
          <a:xfrm>
            <a:off x="457200" y="3209160"/>
            <a:ext cx="6032041" cy="2105787"/>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backend/services.py · confirm_delivery()</a:t>
            </a:r>
            <a:r>
              <a:rPr sz="550">
                <a:solidFill>
                  <a:srgbClr val="9FB6CE"/>
                </a:solidFill>
                <a:latin typeface="Segoe UI"/>
              </a:rPr>
              <a:t>   order of checks is deliberate</a:t>
            </a:r>
          </a:p>
          <a:p>
            <a:pPr>
              <a:lnSpc>
                <a:spcPct val="100000"/>
              </a:lnSpc>
              <a:spcBef>
                <a:spcPts val="0"/>
              </a:spcBef>
              <a:spcAft>
                <a:spcPts val="0"/>
              </a:spcAft>
            </a:pPr>
            <a:r>
              <a:rPr sz="650">
                <a:solidFill>
                  <a:srgbClr val="D7E6F7"/>
                </a:solidFill>
                <a:latin typeface="Consolas"/>
              </a:rPr>
              <a:t>if attempt_count &gt;= OTP_MAX_ATTEMPTS: # lockout is checked FIRST</a:t>
            </a:r>
          </a:p>
          <a:p>
            <a:pPr>
              <a:lnSpc>
                <a:spcPct val="100000"/>
              </a:lnSpc>
              <a:spcBef>
                <a:spcPts val="0"/>
              </a:spcBef>
              <a:spcAft>
                <a:spcPts val="0"/>
              </a:spcAft>
            </a:pPr>
            <a:r>
              <a:rPr sz="650">
                <a:solidFill>
                  <a:srgbClr val="D7E6F7"/>
                </a:solidFill>
                <a:latin typeface="Consolas"/>
              </a:rPr>
              <a:t>log_otp_locked(shipment_id=..., ip=ip)</a:t>
            </a:r>
          </a:p>
          <a:p>
            <a:pPr>
              <a:lnSpc>
                <a:spcPct val="100000"/>
              </a:lnSpc>
              <a:spcBef>
                <a:spcPts val="0"/>
              </a:spcBef>
              <a:spcAft>
                <a:spcPts val="0"/>
              </a:spcAft>
            </a:pPr>
            <a:r>
              <a:rPr sz="650">
                <a:solidFill>
                  <a:srgbClr val="D7E6F7"/>
                </a:solidFill>
                <a:latin typeface="Consolas"/>
              </a:rPr>
              <a:t>return False, "OTP locked after too many failed attempts."</a:t>
            </a:r>
          </a:p>
          <a:p>
            <a:pPr>
              <a:lnSpc>
                <a:spcPct val="100000"/>
              </a:lnSpc>
              <a:spcBef>
                <a:spcPts val="0"/>
              </a:spcBef>
              <a:spcAft>
                <a:spcPts val="0"/>
              </a:spcAft>
            </a:pPr>
            <a:r>
              <a:rPr sz="650">
                <a:solidFill>
                  <a:srgbClr val="D7E6F7"/>
                </a:solidFill>
                <a:latin typeface="Consolas"/>
              </a:rPr>
              <a:t> </a:t>
            </a:r>
          </a:p>
          <a:p>
            <a:pPr>
              <a:lnSpc>
                <a:spcPct val="100000"/>
              </a:lnSpc>
              <a:spcBef>
                <a:spcPts val="0"/>
              </a:spcBef>
              <a:spcAft>
                <a:spcPts val="0"/>
              </a:spcAft>
            </a:pPr>
            <a:r>
              <a:rPr sz="650">
                <a:solidFill>
                  <a:srgbClr val="D7E6F7"/>
                </a:solidFill>
                <a:latin typeface="Consolas"/>
              </a:rPr>
              <a:t>if datetime.now() &gt; expires_at: # then the 30-min TTL</a:t>
            </a:r>
          </a:p>
          <a:p>
            <a:pPr>
              <a:lnSpc>
                <a:spcPct val="100000"/>
              </a:lnSpc>
              <a:spcBef>
                <a:spcPts val="0"/>
              </a:spcBef>
              <a:spcAft>
                <a:spcPts val="0"/>
              </a:spcAft>
            </a:pPr>
            <a:r>
              <a:rPr sz="650">
                <a:solidFill>
                  <a:srgbClr val="D7E6F7"/>
                </a:solidFill>
                <a:latin typeface="Consolas"/>
              </a:rPr>
              <a:t>return False, "OTP has expired. Please request a new one."</a:t>
            </a:r>
          </a:p>
          <a:p>
            <a:pPr>
              <a:lnSpc>
                <a:spcPct val="100000"/>
              </a:lnSpc>
              <a:spcBef>
                <a:spcPts val="0"/>
              </a:spcBef>
              <a:spcAft>
                <a:spcPts val="0"/>
              </a:spcAft>
            </a:pPr>
            <a:r>
              <a:rPr sz="650">
                <a:solidFill>
                  <a:srgbClr val="D7E6F7"/>
                </a:solidFill>
                <a:latin typeface="Consolas"/>
              </a:rPr>
              <a:t> </a:t>
            </a:r>
          </a:p>
          <a:p>
            <a:pPr>
              <a:lnSpc>
                <a:spcPct val="100000"/>
              </a:lnSpc>
              <a:spcBef>
                <a:spcPts val="0"/>
              </a:spcBef>
              <a:spcAft>
                <a:spcPts val="0"/>
              </a:spcAft>
            </a:pPr>
            <a:r>
              <a:rPr sz="650">
                <a:solidFill>
                  <a:srgbClr val="D7E6F7"/>
                </a:solidFill>
                <a:latin typeface="Consolas"/>
              </a:rPr>
              <a:t>if d['otp_code'] != str(otp_entered).strip():</a:t>
            </a:r>
          </a:p>
          <a:p>
            <a:pPr>
              <a:lnSpc>
                <a:spcPct val="100000"/>
              </a:lnSpc>
              <a:spcBef>
                <a:spcPts val="0"/>
              </a:spcBef>
              <a:spcAft>
                <a:spcPts val="0"/>
              </a:spcAft>
            </a:pPr>
            <a:r>
              <a:rPr sz="650">
                <a:solidFill>
                  <a:srgbClr val="D7E6F7"/>
                </a:solidFill>
                <a:latin typeface="Consolas"/>
              </a:rPr>
              <a:t>new_attempt = attempt_count + 1</a:t>
            </a:r>
          </a:p>
          <a:p>
            <a:pPr>
              <a:lnSpc>
                <a:spcPct val="100000"/>
              </a:lnSpc>
              <a:spcBef>
                <a:spcPts val="0"/>
              </a:spcBef>
              <a:spcAft>
                <a:spcPts val="0"/>
              </a:spcAft>
            </a:pPr>
            <a:r>
              <a:rPr sz="650">
                <a:solidFill>
                  <a:srgbClr val="D7E6F7"/>
                </a:solidFill>
                <a:latin typeface="Consolas"/>
              </a:rPr>
              <a:t>cursor.execute("UPDATE deliveries SET otp_attempts = ?",</a:t>
            </a:r>
          </a:p>
          <a:p>
            <a:pPr>
              <a:lnSpc>
                <a:spcPct val="100000"/>
              </a:lnSpc>
              <a:spcBef>
                <a:spcPts val="0"/>
              </a:spcBef>
              <a:spcAft>
                <a:spcPts val="0"/>
              </a:spcAft>
            </a:pPr>
            <a:r>
              <a:rPr sz="650">
                <a:solidFill>
                  <a:srgbClr val="D7E6F7"/>
                </a:solidFill>
                <a:latin typeface="Consolas"/>
              </a:rPr>
              <a:t>conn.commit(); log_otp_attempt(success=False, attempt_count=new_attempt)</a:t>
            </a:r>
          </a:p>
          <a:p>
            <a:pPr>
              <a:lnSpc>
                <a:spcPct val="100000"/>
              </a:lnSpc>
              <a:spcBef>
                <a:spcPts val="0"/>
              </a:spcBef>
              <a:spcAft>
                <a:spcPts val="0"/>
              </a:spcAft>
            </a:pPr>
            <a:r>
              <a:rPr sz="650">
                <a:solidFill>
                  <a:srgbClr val="D7E6F7"/>
                </a:solidFill>
                <a:latin typeface="Consolas"/>
              </a:rPr>
              <a:t>return False, f"Invalid OTP Code. {remaining} attempt(s) remaining."</a:t>
            </a:r>
          </a:p>
          <a:p>
            <a:pPr>
              <a:lnSpc>
                <a:spcPct val="100000"/>
              </a:lnSpc>
              <a:spcBef>
                <a:spcPts val="0"/>
              </a:spcBef>
              <a:spcAft>
                <a:spcPts val="0"/>
              </a:spcAft>
            </a:pPr>
            <a:r>
              <a:rPr sz="650">
                <a:solidFill>
                  <a:srgbClr val="D7E6F7"/>
                </a:solidFill>
                <a:latin typeface="Consolas"/>
              </a:rPr>
              <a:t> </a:t>
            </a:r>
          </a:p>
          <a:p>
            <a:pPr>
              <a:lnSpc>
                <a:spcPct val="100000"/>
              </a:lnSpc>
              <a:spcBef>
                <a:spcPts val="0"/>
              </a:spcBef>
              <a:spcAft>
                <a:spcPts val="0"/>
              </a:spcAft>
            </a:pPr>
            <a:r>
              <a:rPr sz="650">
                <a:solidFill>
                  <a:srgbClr val="D7E6F7"/>
                </a:solidFill>
                <a:latin typeface="Consolas"/>
              </a:rPr>
              <a:t>update_shipment_status(shipment_id, 'Delivered', updated_by="Driver", ...)</a:t>
            </a:r>
          </a:p>
          <a:p>
            <a:pPr>
              <a:lnSpc>
                <a:spcPct val="100000"/>
              </a:lnSpc>
              <a:spcBef>
                <a:spcPts val="0"/>
              </a:spcBef>
              <a:spcAft>
                <a:spcPts val="0"/>
              </a:spcAft>
            </a:pPr>
            <a:r>
              <a:rPr sz="650">
                <a:solidFill>
                  <a:srgbClr val="D7E6F7"/>
                </a:solidFill>
                <a:latin typeface="Consolas"/>
              </a:rPr>
              <a:t>return True, "Delivery confirmed successfully!"</a:t>
            </a:r>
          </a:p>
        </p:txBody>
      </p:sp>
      <p:sp>
        <p:nvSpPr>
          <p:cNvPr id="12" name="Rounded Rectangle 11"/>
          <p:cNvSpPr/>
          <p:nvPr/>
        </p:nvSpPr>
        <p:spPr>
          <a:xfrm>
            <a:off x="6635545" y="3209160"/>
            <a:ext cx="5245253" cy="1298200"/>
          </a:xfrm>
          <a:prstGeom prst="roundRect">
            <a:avLst>
              <a:gd name="adj" fmla="val 5500"/>
            </a:avLst>
          </a:prstGeom>
          <a:solidFill>
            <a:srgbClr val="E5F8EE"/>
          </a:solidFill>
          <a:ln w="9525">
            <a:solidFill>
              <a:srgbClr val="08A75A"/>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3" name="Rounded Rectangle 12"/>
          <p:cNvSpPr/>
          <p:nvPr/>
        </p:nvSpPr>
        <p:spPr>
          <a:xfrm>
            <a:off x="6646518" y="3291456"/>
            <a:ext cx="41148" cy="1133608"/>
          </a:xfrm>
          <a:prstGeom prst="roundRect">
            <a:avLst>
              <a:gd name="adj" fmla="val 50000"/>
            </a:avLst>
          </a:prstGeom>
          <a:solidFill>
            <a:srgbClr val="08A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63561" y="3300600"/>
            <a:ext cx="5007509" cy="176022"/>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080" b="0">
                <a:solidFill>
                  <a:srgbClr val="08A75A"/>
                </a:solidFill>
                <a:latin typeface="Segoe UI"/>
              </a:rPr>
              <a:t>✓</a:t>
            </a:r>
            <a:r>
              <a:rPr sz="1080" b="0">
                <a:solidFill>
                  <a:srgbClr val="08A75A"/>
                </a:solidFill>
                <a:latin typeface="Segoe UI"/>
              </a:rPr>
              <a:t>Measured against the live API</a:t>
            </a:r>
          </a:p>
        </p:txBody>
      </p:sp>
      <p:sp>
        <p:nvSpPr>
          <p:cNvPr id="15" name="Rounded Rectangle 14"/>
          <p:cNvSpPr/>
          <p:nvPr/>
        </p:nvSpPr>
        <p:spPr>
          <a:xfrm>
            <a:off x="6763561" y="3513198"/>
            <a:ext cx="5007509" cy="60502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spcBef>
                <a:spcPts val="0"/>
              </a:spcBef>
              <a:spcAft>
                <a:spcPts val="0"/>
              </a:spcAft>
            </a:pPr>
            <a:r>
              <a:rPr sz="940" b="0">
                <a:solidFill>
                  <a:srgbClr val="056ECE"/>
                </a:solidFill>
                <a:latin typeface="Segoe UI"/>
              </a:rPr>
              <a:t> 400 Invalid OTP Code. 4 attempt(s) remaining.</a:t>
            </a:r>
          </a:p>
          <a:p>
            <a:pPr algn="l">
              <a:lnSpc>
                <a:spcPct val="120000"/>
              </a:lnSpc>
              <a:spcBef>
                <a:spcPts val="0"/>
              </a:spcBef>
              <a:spcAft>
                <a:spcPts val="0"/>
              </a:spcAft>
            </a:pPr>
            <a:r>
              <a:rPr sz="940" b="0">
                <a:solidFill>
                  <a:srgbClr val="056ECE"/>
                </a:solidFill>
                <a:latin typeface="Segoe UI"/>
              </a:rPr>
              <a:t>400 Invalid OTP Code. 3 attempt(s) remaining.</a:t>
            </a:r>
          </a:p>
          <a:p>
            <a:pPr algn="l">
              <a:lnSpc>
                <a:spcPct val="120000"/>
              </a:lnSpc>
              <a:spcBef>
                <a:spcPts val="0"/>
              </a:spcBef>
              <a:spcAft>
                <a:spcPts val="0"/>
              </a:spcAft>
            </a:pPr>
            <a:r>
              <a:rPr sz="940" b="0">
                <a:solidFill>
                  <a:srgbClr val="056ECE"/>
                </a:solidFill>
                <a:latin typeface="Segoe UI"/>
              </a:rPr>
              <a:t> 400 Invalid OTP Code. 2 attempt(s) remaining.</a:t>
            </a:r>
          </a:p>
          <a:p>
            <a:pPr algn="l">
              <a:lnSpc>
                <a:spcPct val="120000"/>
              </a:lnSpc>
              <a:spcBef>
                <a:spcPts val="0"/>
              </a:spcBef>
              <a:spcAft>
                <a:spcPts val="0"/>
              </a:spcAft>
            </a:pPr>
            <a:r>
              <a:rPr sz="940" b="0">
                <a:solidFill>
                  <a:srgbClr val="056ECE"/>
                </a:solidFill>
                <a:latin typeface="Segoe UI"/>
              </a:rPr>
              <a:t>400 Invalid OTP Code. 1 attempt(s) remaining.</a:t>
            </a:r>
          </a:p>
          <a:p>
            <a:pPr algn="l">
              <a:lnSpc>
                <a:spcPct val="120000"/>
              </a:lnSpc>
              <a:spcBef>
                <a:spcPts val="0"/>
              </a:spcBef>
              <a:spcAft>
                <a:spcPts val="0"/>
              </a:spcAft>
            </a:pPr>
            <a:r>
              <a:rPr sz="940" b="0">
                <a:solidFill>
                  <a:srgbClr val="056ECE"/>
                </a:solidFill>
                <a:latin typeface="Segoe UI"/>
              </a:rPr>
              <a:t> 400 OTP locked after too many failed attempts.</a:t>
            </a:r>
          </a:p>
          <a:p>
            <a:pPr algn="l">
              <a:lnSpc>
                <a:spcPct val="120000"/>
              </a:lnSpc>
              <a:spcBef>
                <a:spcPts val="0"/>
              </a:spcBef>
              <a:spcAft>
                <a:spcPts val="0"/>
              </a:spcAft>
            </a:pPr>
            <a:r>
              <a:rPr sz="940" b="0">
                <a:solidFill>
                  <a:srgbClr val="056ECE"/>
                </a:solidFill>
                <a:latin typeface="Segoe UI"/>
              </a:rPr>
              <a:t> </a:t>
            </a:r>
            <a:r>
              <a:rPr sz="940" b="1">
                <a:solidFill>
                  <a:srgbClr val="056ECE"/>
                </a:solidFill>
                <a:latin typeface="Segoe UI"/>
              </a:rPr>
              <a:t>200</a:t>
            </a:r>
            <a:r>
              <a:rPr sz="940" b="0">
                <a:solidFill>
                  <a:srgbClr val="056ECE"/>
                </a:solidFill>
                <a:latin typeface="Segoe UI"/>
              </a:rPr>
              <a:t> Delivery confirmed successfully!</a:t>
            </a:r>
            <a:r>
              <a:rPr sz="940" b="0">
                <a:solidFill>
                  <a:srgbClr val="056ECE"/>
                </a:solidFill>
                <a:latin typeface="Segoe UI"/>
              </a:rPr>
              <a:t>  </a:t>
            </a:r>
            <a:r>
              <a:rPr sz="940" b="0">
                <a:solidFill>
                  <a:srgbClr val="056ECE"/>
                </a:solidFill>
                <a:latin typeface="Segoe UI"/>
              </a:rPr>
              <a:t>(on a fresh shipment)</a:t>
            </a:r>
          </a:p>
        </p:txBody>
      </p:sp>
      <p:sp>
        <p:nvSpPr>
          <p:cNvPr id="16" name="Rounded Rectangle 15"/>
          <p:cNvSpPr/>
          <p:nvPr/>
        </p:nvSpPr>
        <p:spPr>
          <a:xfrm>
            <a:off x="6763561" y="4171261"/>
            <a:ext cx="5007509" cy="26294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80" b="0">
                <a:solidFill>
                  <a:srgbClr val="0B1F3A"/>
                </a:solidFill>
                <a:latin typeface="Segoe UI"/>
              </a:rPr>
              <a:t>After lockout, the </a:t>
            </a:r>
            <a:r>
              <a:rPr sz="980" b="1">
                <a:solidFill>
                  <a:srgbClr val="0B1F3A"/>
                </a:solidFill>
                <a:latin typeface="Segoe UI"/>
              </a:rPr>
              <a:t>correct</a:t>
            </a:r>
            <a:r>
              <a:rPr sz="980" b="0">
                <a:solidFill>
                  <a:srgbClr val="0B1F3A"/>
                </a:solidFill>
                <a:latin typeface="Segoe UI"/>
              </a:rPr>
              <a:t> code is also refused — the counter, not the code, decides. And </a:t>
            </a:r>
            <a:r>
              <a:rPr sz="980" b="0">
                <a:solidFill>
                  <a:srgbClr val="056ECE"/>
                </a:solidFill>
                <a:latin typeface="Consolas"/>
              </a:rPr>
              <a:t>GET /api/deliveries</a:t>
            </a:r>
            <a:r>
              <a:rPr sz="980" b="0">
                <a:solidFill>
                  <a:srgbClr val="0B1F3A"/>
                </a:solidFill>
                <a:latin typeface="Segoe UI"/>
              </a:rPr>
              <a:t> returns 12 columns with </a:t>
            </a:r>
            <a:r>
              <a:rPr sz="980" b="1">
                <a:solidFill>
                  <a:srgbClr val="0B1F3A"/>
                </a:solidFill>
                <a:latin typeface="Segoe UI"/>
              </a:rPr>
              <a:t>no</a:t>
            </a:r>
            <a:r>
              <a:rPr sz="980" b="0">
                <a:solidFill>
                  <a:srgbClr val="0B1F3A"/>
                </a:solidFill>
                <a:latin typeface="Segoe UI"/>
              </a:rPr>
              <a:t> </a:t>
            </a:r>
            <a:r>
              <a:rPr sz="980" b="0">
                <a:solidFill>
                  <a:srgbClr val="056ECE"/>
                </a:solidFill>
                <a:latin typeface="Consolas"/>
              </a:rPr>
              <a:t>otp_*</a:t>
            </a:r>
            <a:r>
              <a:rPr sz="980" b="0">
                <a:solidFill>
                  <a:srgbClr val="0B1F3A"/>
                </a:solidFill>
                <a:latin typeface="Segoe UI"/>
              </a:rPr>
              <a:t> among them.</a:t>
            </a:r>
          </a:p>
        </p:txBody>
      </p:sp>
      <p:sp>
        <p:nvSpPr>
          <p:cNvPr id="17" name="Rounded Rectangle 16"/>
          <p:cNvSpPr/>
          <p:nvPr/>
        </p:nvSpPr>
        <p:spPr>
          <a:xfrm>
            <a:off x="6635545" y="4653665"/>
            <a:ext cx="5245253" cy="1783710"/>
          </a:xfrm>
          <a:prstGeom prst="roundRect">
            <a:avLst>
              <a:gd name="adj" fmla="val 5500"/>
            </a:avLst>
          </a:prstGeom>
          <a:solidFill>
            <a:srgbClr val="FEF4E2"/>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8" name="Rounded Rectangle 17"/>
          <p:cNvSpPr/>
          <p:nvPr/>
        </p:nvSpPr>
        <p:spPr>
          <a:xfrm>
            <a:off x="6646518" y="4735961"/>
            <a:ext cx="41148" cy="161911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763561" y="4745105"/>
            <a:ext cx="5007509" cy="16802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019" b="0">
                <a:solidFill>
                  <a:srgbClr val="F59E0B"/>
                </a:solidFill>
                <a:latin typeface="Segoe UI"/>
              </a:rPr>
              <a:t>⚖</a:t>
            </a:r>
            <a:r>
              <a:rPr sz="1019" b="0">
                <a:solidFill>
                  <a:srgbClr val="F59E0B"/>
                </a:solidFill>
                <a:latin typeface="Segoe UI"/>
              </a:rPr>
              <a:t>Trade-offs I accept in this design</a:t>
            </a:r>
          </a:p>
        </p:txBody>
      </p:sp>
      <p:sp>
        <p:nvSpPr>
          <p:cNvPr id="20" name="Rounded Rectangle 19"/>
          <p:cNvSpPr/>
          <p:nvPr/>
        </p:nvSpPr>
        <p:spPr>
          <a:xfrm>
            <a:off x="6763561" y="4949702"/>
            <a:ext cx="5007509" cy="138734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19" b="0">
                <a:solidFill>
                  <a:srgbClr val="056ECE"/>
                </a:solidFill>
                <a:latin typeface="Consolas"/>
              </a:rPr>
              <a:t>▸  </a:t>
            </a:r>
            <a:r>
              <a:rPr sz="919" b="1">
                <a:solidFill>
                  <a:srgbClr val="0B1F3A"/>
                </a:solidFill>
                <a:latin typeface="Segoe UI"/>
              </a:rPr>
              <a:t>Plaintext at rest.</a:t>
            </a:r>
            <a:r>
              <a:rPr sz="919" b="0">
                <a:solidFill>
                  <a:srgbClr val="0B1F3A"/>
                </a:solidFill>
                <a:latin typeface="Segoe UI"/>
              </a:rPr>
              <a:t> Hashing is cheap here (compare </a:t>
            </a:r>
            <a:r>
              <a:rPr sz="919" b="0">
                <a:solidFill>
                  <a:srgbClr val="056ECE"/>
                </a:solidFill>
                <a:latin typeface="Consolas"/>
              </a:rPr>
              <a:t>sha256(input)</a:t>
            </a:r>
            <a:r>
              <a:rPr sz="919" b="0">
                <a:solidFill>
                  <a:srgbClr val="0B1F3A"/>
                </a:solidFill>
                <a:latin typeface="Segoe UI"/>
              </a:rPr>
              <a:t>), so plaintext is a choice, not a constraint: it lets an operator read the code back to a driver — which is also why the UI still tries to render it. A hash column plus a reveal-once endpoint would keep the workflow without the table-wide exposure.</a:t>
            </a:r>
          </a:p>
          <a:p>
            <a:pPr algn="l">
              <a:lnSpc>
                <a:spcPct val="116000"/>
              </a:lnSpc>
              <a:spcBef>
                <a:spcPts val="0"/>
              </a:spcBef>
              <a:spcAft>
                <a:spcPts val="0"/>
              </a:spcAft>
            </a:pPr>
            <a:r>
              <a:rPr sz="919" b="0">
                <a:solidFill>
                  <a:srgbClr val="056ECE"/>
                </a:solidFill>
                <a:latin typeface="Consolas"/>
              </a:rPr>
              <a:t>▸  </a:t>
            </a:r>
            <a:r>
              <a:rPr sz="919" b="0">
                <a:solidFill>
                  <a:srgbClr val="0B1F3A"/>
                </a:solidFill>
                <a:latin typeface="Segoe UI"/>
              </a:rPr>
              <a:t>Comparison is not constant-time (</a:t>
            </a:r>
            <a:r>
              <a:rPr sz="919" b="0">
                <a:solidFill>
                  <a:srgbClr val="056ECE"/>
                </a:solidFill>
                <a:latin typeface="Consolas"/>
              </a:rPr>
              <a:t>!=</a:t>
            </a:r>
            <a:r>
              <a:rPr sz="919" b="0">
                <a:solidFill>
                  <a:srgbClr val="0B1F3A"/>
                </a:solidFill>
                <a:latin typeface="Segoe UI"/>
              </a:rPr>
              <a:t> on short digit strings); the 5-attempt lockout is what actually bounds the attack.</a:t>
            </a:r>
          </a:p>
          <a:p>
            <a:pPr algn="l">
              <a:lnSpc>
                <a:spcPct val="116000"/>
              </a:lnSpc>
              <a:spcBef>
                <a:spcPts val="0"/>
              </a:spcBef>
              <a:spcAft>
                <a:spcPts val="0"/>
              </a:spcAft>
            </a:pPr>
            <a:r>
              <a:rPr sz="919" b="0">
                <a:solidFill>
                  <a:srgbClr val="056ECE"/>
                </a:solidFill>
                <a:latin typeface="Consolas"/>
              </a:rPr>
              <a:t>▸  </a:t>
            </a:r>
            <a:r>
              <a:rPr sz="919" b="0">
                <a:solidFill>
                  <a:srgbClr val="0B1F3A"/>
                </a:solidFill>
                <a:latin typeface="Segoe UI"/>
              </a:rPr>
              <a:t>No re-issue endpoint. After the TTL there is no way to get a new code except by editing the DB.</a:t>
            </a:r>
          </a:p>
          <a:p>
            <a:pPr algn="l">
              <a:lnSpc>
                <a:spcPct val="116000"/>
              </a:lnSpc>
              <a:spcBef>
                <a:spcPts val="0"/>
              </a:spcBef>
              <a:spcAft>
                <a:spcPts val="0"/>
              </a:spcAft>
            </a:pPr>
            <a:r>
              <a:rPr sz="919" b="0">
                <a:solidFill>
                  <a:srgbClr val="056ECE"/>
                </a:solidFill>
                <a:latin typeface="Consolas"/>
              </a:rPr>
              <a:t>▸  </a:t>
            </a:r>
            <a:r>
              <a:rPr sz="919" b="0">
                <a:solidFill>
                  <a:srgbClr val="0B1F3A"/>
                </a:solidFill>
                <a:latin typeface="Segoe UI"/>
              </a:rPr>
              <a:t>Lockout is per shipment, not per account — cheap to bypass by switching shipments, but it cannot lock a receiver out of the platform.</a:t>
            </a:r>
          </a:p>
        </p:txBody>
      </p:sp>
      <p:sp>
        <p:nvSpPr>
          <p:cNvPr id="21" name="Rounded Rectangle 20"/>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backend/services.py · _generate_otp / confirm_delivery</a:t>
            </a:r>
            <a:r>
              <a:rPr sz="830" b="0">
                <a:solidFill>
                  <a:srgbClr val="056ECE"/>
                </a:solidFill>
                <a:latin typeface="Consolas"/>
              </a:rPr>
              <a:t>   ·   backend/database.py · deliveries(otp_code, otp_attempts, otp_expires_at)</a:t>
            </a:r>
            <a:r>
              <a:rPr sz="830" b="0">
                <a:solidFill>
                  <a:srgbClr val="056ECE"/>
                </a:solidFill>
                <a:latin typeface="Consolas"/>
              </a:rPr>
              <a:t>   ·   docs/SECURITY_AUDIT.md · F-04, F-05, F-14</a:t>
            </a:r>
            <a:r>
              <a:rPr sz="860" b="1">
                <a:solidFill>
                  <a:srgbClr val="F59E0B"/>
                </a:solidFill>
                <a:latin typeface="Segoe UI"/>
              </a:rPr>
              <a:t>   ·   No SMS/email transport — the code is surfaced by the UI, not sent to the receiver</a:t>
            </a:r>
          </a:p>
        </p:txBody>
      </p:sp>
      <p:sp>
        <p:nvSpPr>
          <p:cNvPr id="22" name="Rounded Rectangle 21"/>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09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09 · ALGORITHMS &amp; DOMAIN LOGIC</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500" b="0">
                <a:solidFill>
                  <a:srgbClr val="062B57"/>
                </a:solidFill>
                <a:latin typeface="Segoe UI"/>
              </a:rPr>
              <a:t>Four algorithms — two real, two deliberately heuristic</a:t>
            </a:r>
          </a:p>
        </p:txBody>
      </p:sp>
      <p:sp>
        <p:nvSpPr>
          <p:cNvPr id="4" name="Rounded Rectangle 3"/>
          <p:cNvSpPr/>
          <p:nvPr/>
        </p:nvSpPr>
        <p:spPr>
          <a:xfrm>
            <a:off x="457200" y="1042416"/>
            <a:ext cx="5638647" cy="2189824"/>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5" name="Rounded Rectangle 4"/>
          <p:cNvSpPr/>
          <p:nvPr/>
        </p:nvSpPr>
        <p:spPr>
          <a:xfrm>
            <a:off x="585216" y="1133856"/>
            <a:ext cx="5400903" cy="17335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060" b="0">
                <a:solidFill>
                  <a:srgbClr val="062B57"/>
                </a:solidFill>
                <a:latin typeface="Segoe UI"/>
              </a:rPr>
              <a:t>⇄</a:t>
            </a:r>
            <a:r>
              <a:rPr sz="1060" b="0">
                <a:solidFill>
                  <a:srgbClr val="062B57"/>
                </a:solidFill>
                <a:latin typeface="Segoe UI"/>
              </a:rPr>
              <a:t>Shipment lifecycle — constraints, not transitions</a:t>
            </a:r>
          </a:p>
        </p:txBody>
      </p:sp>
      <p:sp>
        <p:nvSpPr>
          <p:cNvPr id="6" name="Rounded Rectangle 5"/>
          <p:cNvSpPr/>
          <p:nvPr/>
        </p:nvSpPr>
        <p:spPr>
          <a:xfrm>
            <a:off x="585216" y="1343787"/>
            <a:ext cx="5400903" cy="26860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5000"/>
              </a:lnSpc>
              <a:spcBef>
                <a:spcPts val="0"/>
              </a:spcBef>
              <a:spcAft>
                <a:spcPts val="0"/>
              </a:spcAft>
            </a:pPr>
            <a:r>
              <a:rPr sz="810" b="0">
                <a:solidFill>
                  <a:srgbClr val="056ECE"/>
                </a:solidFill>
                <a:latin typeface="Consolas"/>
              </a:rPr>
              <a:t>Booked   →   Confirmed   →   Picked Up   →   At Warehouse   →   In Transit   →   Out for Delivery   →   Delivered</a:t>
            </a:r>
          </a:p>
        </p:txBody>
      </p:sp>
      <p:sp>
        <p:nvSpPr>
          <p:cNvPr id="7" name="Rounded Rectangle 6"/>
          <p:cNvSpPr/>
          <p:nvPr/>
        </p:nvSpPr>
        <p:spPr>
          <a:xfrm>
            <a:off x="585216" y="1665427"/>
            <a:ext cx="5400903" cy="15148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2000"/>
              </a:lnSpc>
              <a:spcBef>
                <a:spcPts val="0"/>
              </a:spcBef>
              <a:spcAft>
                <a:spcPts val="0"/>
              </a:spcAft>
            </a:pPr>
            <a:r>
              <a:rPr sz="840" b="0">
                <a:solidFill>
                  <a:srgbClr val="5A6F88"/>
                </a:solidFill>
                <a:latin typeface="Segoe UI"/>
              </a:rPr>
              <a:t>exception states: </a:t>
            </a:r>
            <a:r>
              <a:rPr sz="840" b="0">
                <a:solidFill>
                  <a:srgbClr val="056ECE"/>
                </a:solidFill>
                <a:latin typeface="Consolas"/>
              </a:rPr>
              <a:t>Delayed</a:t>
            </a:r>
            <a:r>
              <a:rPr sz="840" b="0">
                <a:solidFill>
                  <a:srgbClr val="5A6F88"/>
                </a:solidFill>
                <a:latin typeface="Segoe UI"/>
              </a:rPr>
              <a:t> </a:t>
            </a:r>
            <a:r>
              <a:rPr sz="840" b="0">
                <a:solidFill>
                  <a:srgbClr val="056ECE"/>
                </a:solidFill>
                <a:latin typeface="Consolas"/>
              </a:rPr>
              <a:t>Cancelled</a:t>
            </a:r>
            <a:r>
              <a:rPr sz="840" b="0">
                <a:solidFill>
                  <a:srgbClr val="5A6F88"/>
                </a:solidFill>
                <a:latin typeface="Segoe UI"/>
              </a:rPr>
              <a:t> </a:t>
            </a:r>
            <a:r>
              <a:rPr sz="840" b="0">
                <a:solidFill>
                  <a:srgbClr val="056ECE"/>
                </a:solidFill>
                <a:latin typeface="Consolas"/>
              </a:rPr>
              <a:t>Returned</a:t>
            </a:r>
            <a:r>
              <a:rPr sz="840" b="0">
                <a:solidFill>
                  <a:srgbClr val="5A6F88"/>
                </a:solidFill>
                <a:latin typeface="Segoe UI"/>
              </a:rPr>
              <a:t> — the 10 values of the schema's </a:t>
            </a:r>
            <a:r>
              <a:rPr sz="840" b="0">
                <a:solidFill>
                  <a:srgbClr val="056ECE"/>
                </a:solidFill>
                <a:latin typeface="Consolas"/>
              </a:rPr>
              <a:t>CHECK(status IN …)</a:t>
            </a:r>
          </a:p>
        </p:txBody>
      </p:sp>
      <p:sp>
        <p:nvSpPr>
          <p:cNvPr id="8" name="Rounded Rectangle 7"/>
          <p:cNvSpPr/>
          <p:nvPr/>
        </p:nvSpPr>
        <p:spPr>
          <a:xfrm>
            <a:off x="585216" y="1869948"/>
            <a:ext cx="5400903" cy="45628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60" b="0">
                <a:solidFill>
                  <a:srgbClr val="0B1F3A"/>
                </a:solidFill>
                <a:latin typeface="Segoe UI"/>
              </a:rPr>
              <a:t>Legal values are declared in </a:t>
            </a:r>
            <a:r>
              <a:rPr sz="960" b="1">
                <a:solidFill>
                  <a:srgbClr val="0B1F3A"/>
                </a:solidFill>
                <a:latin typeface="Segoe UI"/>
              </a:rPr>
              <a:t>SQL</a:t>
            </a:r>
            <a:r>
              <a:rPr sz="960" b="0">
                <a:solidFill>
                  <a:srgbClr val="0B1F3A"/>
                </a:solidFill>
                <a:latin typeface="Segoe UI"/>
              </a:rPr>
              <a:t>, so both engines and both clients obey one definition. I verified an invalid value fails closed: </a:t>
            </a:r>
            <a:r>
              <a:rPr sz="960" b="0">
                <a:solidFill>
                  <a:srgbClr val="056ECE"/>
                </a:solidFill>
                <a:latin typeface="Consolas"/>
              </a:rPr>
              <a:t>PUT {"status":"Teleported"}</a:t>
            </a:r>
            <a:r>
              <a:rPr sz="960" b="0">
                <a:solidFill>
                  <a:srgbClr val="0B1F3A"/>
                </a:solidFill>
                <a:latin typeface="Segoe UI"/>
              </a:rPr>
              <a:t> → </a:t>
            </a:r>
            <a:r>
              <a:rPr sz="960" b="0">
                <a:solidFill>
                  <a:srgbClr val="056ECE"/>
                </a:solidFill>
                <a:latin typeface="Consolas"/>
              </a:rPr>
              <a:t>IntegrityError: CHECK constraint failed</a:t>
            </a:r>
            <a:r>
              <a:rPr sz="960" b="0">
                <a:solidFill>
                  <a:srgbClr val="0B1F3A"/>
                </a:solidFill>
                <a:latin typeface="Segoe UI"/>
              </a:rPr>
              <a:t>.</a:t>
            </a:r>
          </a:p>
        </p:txBody>
      </p:sp>
      <p:sp>
        <p:nvSpPr>
          <p:cNvPr id="9" name="Rounded Rectangle 8"/>
          <p:cNvSpPr/>
          <p:nvPr/>
        </p:nvSpPr>
        <p:spPr>
          <a:xfrm>
            <a:off x="585216" y="2379268"/>
            <a:ext cx="5400903" cy="45628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60" b="1">
                <a:solidFill>
                  <a:srgbClr val="0B1F3A"/>
                </a:solidFill>
                <a:latin typeface="Segoe UI"/>
              </a:rPr>
              <a:t>No edge validation:</a:t>
            </a:r>
            <a:r>
              <a:rPr sz="960" b="0">
                <a:solidFill>
                  <a:srgbClr val="0B1F3A"/>
                </a:solidFill>
                <a:latin typeface="Segoe UI"/>
              </a:rPr>
              <a:t> </a:t>
            </a:r>
            <a:r>
              <a:rPr sz="960" b="0">
                <a:solidFill>
                  <a:srgbClr val="056ECE"/>
                </a:solidFill>
                <a:latin typeface="Consolas"/>
              </a:rPr>
              <a:t>update_shipment_status()</a:t>
            </a:r>
            <a:r>
              <a:rPr sz="960" b="0">
                <a:solidFill>
                  <a:srgbClr val="0B1F3A"/>
                </a:solidFill>
                <a:latin typeface="Segoe UI"/>
              </a:rPr>
              <a:t> never reads the current value, so any state may follow any state. Live check: </a:t>
            </a:r>
            <a:r>
              <a:rPr sz="960" b="0">
                <a:solidFill>
                  <a:srgbClr val="056ECE"/>
                </a:solidFill>
                <a:latin typeface="Consolas"/>
              </a:rPr>
              <a:t>Delivered → Booked</a:t>
            </a:r>
            <a:r>
              <a:rPr sz="960" b="0">
                <a:solidFill>
                  <a:srgbClr val="0B1F3A"/>
                </a:solidFill>
                <a:latin typeface="Segoe UI"/>
              </a:rPr>
              <a:t> returned </a:t>
            </a:r>
            <a:r>
              <a:rPr sz="960" b="1">
                <a:solidFill>
                  <a:srgbClr val="0B1F3A"/>
                </a:solidFill>
                <a:latin typeface="Segoe UI"/>
              </a:rPr>
              <a:t>200</a:t>
            </a:r>
            <a:r>
              <a:rPr sz="960" b="0">
                <a:solidFill>
                  <a:srgbClr val="0B1F3A"/>
                </a:solidFill>
                <a:latin typeface="Segoe UI"/>
              </a:rPr>
              <a:t> — the column was moved backwards with no complaint.</a:t>
            </a:r>
          </a:p>
        </p:txBody>
      </p:sp>
      <p:sp>
        <p:nvSpPr>
          <p:cNvPr id="10" name="Rounded Rectangle 9"/>
          <p:cNvSpPr/>
          <p:nvPr/>
        </p:nvSpPr>
        <p:spPr>
          <a:xfrm>
            <a:off x="585216" y="2888589"/>
            <a:ext cx="5400903" cy="27049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60" b="0">
                <a:solidFill>
                  <a:srgbClr val="0B1F3A"/>
                </a:solidFill>
                <a:latin typeface="Segoe UI"/>
              </a:rPr>
              <a:t>Every accepted transition appends an immutable history row with </a:t>
            </a:r>
            <a:r>
              <a:rPr sz="960" b="0">
                <a:solidFill>
                  <a:srgbClr val="056ECE"/>
                </a:solidFill>
                <a:latin typeface="Consolas"/>
              </a:rPr>
              <a:t>location</a:t>
            </a:r>
            <a:r>
              <a:rPr sz="960" b="0">
                <a:solidFill>
                  <a:srgbClr val="0B1F3A"/>
                </a:solidFill>
                <a:latin typeface="Segoe UI"/>
              </a:rPr>
              <a:t>, </a:t>
            </a:r>
            <a:r>
              <a:rPr sz="960" b="0">
                <a:solidFill>
                  <a:srgbClr val="056ECE"/>
                </a:solidFill>
                <a:latin typeface="Consolas"/>
              </a:rPr>
              <a:t>updated_by</a:t>
            </a:r>
            <a:r>
              <a:rPr sz="960" b="0">
                <a:solidFill>
                  <a:srgbClr val="0B1F3A"/>
                </a:solidFill>
                <a:latin typeface="Segoe UI"/>
              </a:rPr>
              <a:t> (from session, F-08) and </a:t>
            </a:r>
            <a:r>
              <a:rPr sz="960" b="0">
                <a:solidFill>
                  <a:srgbClr val="056ECE"/>
                </a:solidFill>
                <a:latin typeface="Consolas"/>
              </a:rPr>
              <a:t>notes</a:t>
            </a:r>
            <a:r>
              <a:rPr sz="960" b="0">
                <a:solidFill>
                  <a:srgbClr val="0B1F3A"/>
                </a:solidFill>
                <a:latin typeface="Segoe UI"/>
              </a:rPr>
              <a:t> — that table, not the status column, is the audit record. The missing piece is ~15 lines: a dict of allowed successors, checked before the UPDATE.</a:t>
            </a:r>
          </a:p>
        </p:txBody>
      </p:sp>
      <p:sp>
        <p:nvSpPr>
          <p:cNvPr id="11" name="Rounded Rectangle 10"/>
          <p:cNvSpPr/>
          <p:nvPr/>
        </p:nvSpPr>
        <p:spPr>
          <a:xfrm>
            <a:off x="6242151" y="1042416"/>
            <a:ext cx="5638647" cy="2189824"/>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2" name="Rounded Rectangle 11"/>
          <p:cNvSpPr/>
          <p:nvPr/>
        </p:nvSpPr>
        <p:spPr>
          <a:xfrm>
            <a:off x="6370167" y="1133856"/>
            <a:ext cx="5400903" cy="1600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960" b="0">
                <a:solidFill>
                  <a:srgbClr val="062B57"/>
                </a:solidFill>
                <a:latin typeface="Segoe UI"/>
              </a:rPr>
              <a:t>₹</a:t>
            </a:r>
            <a:r>
              <a:rPr sz="960" b="0">
                <a:solidFill>
                  <a:srgbClr val="062B57"/>
                </a:solidFill>
                <a:latin typeface="Segoe UI"/>
              </a:rPr>
              <a:t>Pricing — deterministic formula, non-deterministic result</a:t>
            </a:r>
          </a:p>
        </p:txBody>
      </p:sp>
      <p:sp>
        <p:nvSpPr>
          <p:cNvPr id="13" name="Rounded Rectangle 12"/>
          <p:cNvSpPr/>
          <p:nvPr/>
        </p:nvSpPr>
        <p:spPr>
          <a:xfrm>
            <a:off x="6370167" y="1330452"/>
            <a:ext cx="5400903" cy="699135"/>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backend/services.py · _calculate_shipping_cost()</a:t>
            </a:r>
          </a:p>
          <a:p>
            <a:pPr>
              <a:lnSpc>
                <a:spcPct val="100000"/>
              </a:lnSpc>
              <a:spcBef>
                <a:spcPts val="0"/>
              </a:spcBef>
              <a:spcAft>
                <a:spcPts val="0"/>
              </a:spcAft>
            </a:pPr>
            <a:r>
              <a:rPr sz="650">
                <a:solidFill>
                  <a:srgbClr val="D7E6F7"/>
                </a:solidFill>
                <a:latin typeface="Consolas"/>
              </a:rPr>
              <a:t>base = 1500.0 ; per_kg = weight_kg * 2.5</a:t>
            </a:r>
          </a:p>
          <a:p>
            <a:pPr>
              <a:lnSpc>
                <a:spcPct val="100000"/>
              </a:lnSpc>
              <a:spcBef>
                <a:spcPts val="0"/>
              </a:spcBef>
              <a:spcAft>
                <a:spcPts val="0"/>
              </a:spcAft>
            </a:pPr>
            <a:r>
              <a:rPr sz="650">
                <a:solidFill>
                  <a:srgbClr val="D7E6F7"/>
                </a:solidFill>
                <a:latin typeface="Consolas"/>
              </a:rPr>
              <a:t>distance_factor = abs(hash(pickup + destination)) % 3000 + 500 # ⚠ salted</a:t>
            </a:r>
          </a:p>
          <a:p>
            <a:pPr>
              <a:lnSpc>
                <a:spcPct val="100000"/>
              </a:lnSpc>
              <a:spcBef>
                <a:spcPts val="0"/>
              </a:spcBef>
              <a:spcAft>
                <a:spcPts val="0"/>
              </a:spcAft>
            </a:pPr>
            <a:r>
              <a:rPr sz="650">
                <a:solidFill>
                  <a:srgbClr val="D7E6F7"/>
                </a:solidFill>
                <a:latin typeface="Consolas"/>
              </a:rPr>
              <a:t>return round(base + per_kg + distance_factor * 0.5, 2)</a:t>
            </a:r>
          </a:p>
        </p:txBody>
      </p:sp>
      <p:sp>
        <p:nvSpPr>
          <p:cNvPr id="14" name="Rounded Rectangle 13"/>
          <p:cNvSpPr/>
          <p:nvPr/>
        </p:nvSpPr>
        <p:spPr>
          <a:xfrm>
            <a:off x="6370167" y="2093595"/>
            <a:ext cx="5400903" cy="41208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60" b="1">
                <a:solidFill>
                  <a:srgbClr val="0B1F3A"/>
                </a:solidFill>
                <a:latin typeface="Segoe UI"/>
              </a:rPr>
              <a:t>What I measured:</a:t>
            </a:r>
            <a:r>
              <a:rPr sz="860" b="0">
                <a:solidFill>
                  <a:srgbClr val="0B1F3A"/>
                </a:solidFill>
                <a:latin typeface="Segoe UI"/>
              </a:rPr>
              <a:t> the same shipment (Ludhiana → Delhi, 8 000 kg), priced in seven independent processes, came out between </a:t>
            </a:r>
            <a:r>
              <a:rPr sz="860" b="1">
                <a:solidFill>
                  <a:srgbClr val="0B1F3A"/>
                </a:solidFill>
                <a:latin typeface="Segoe UI"/>
              </a:rPr>
              <a:t>₹21 845 and ₹23 042</a:t>
            </a:r>
            <a:r>
              <a:rPr sz="860" b="0">
                <a:solidFill>
                  <a:srgbClr val="0B1F3A"/>
                </a:solidFill>
                <a:latin typeface="Segoe UI"/>
              </a:rPr>
              <a:t>. Python salted </a:t>
            </a:r>
            <a:r>
              <a:rPr sz="860" b="0">
                <a:solidFill>
                  <a:srgbClr val="056ECE"/>
                </a:solidFill>
                <a:latin typeface="Consolas"/>
              </a:rPr>
              <a:t>str</a:t>
            </a:r>
            <a:r>
              <a:rPr sz="860" b="0">
                <a:solidFill>
                  <a:srgbClr val="0B1F3A"/>
                </a:solidFill>
                <a:latin typeface="Segoe UI"/>
              </a:rPr>
              <a:t> hashing with </a:t>
            </a:r>
            <a:r>
              <a:rPr sz="860" b="0">
                <a:solidFill>
                  <a:srgbClr val="056ECE"/>
                </a:solidFill>
                <a:latin typeface="Consolas"/>
              </a:rPr>
              <a:t>PYTHONHASHSEED</a:t>
            </a:r>
            <a:r>
              <a:rPr sz="860" b="0">
                <a:solidFill>
                  <a:srgbClr val="0B1F3A"/>
                </a:solidFill>
                <a:latin typeface="Segoe UI"/>
              </a:rPr>
              <a:t>, so </a:t>
            </a:r>
            <a:r>
              <a:rPr sz="860" b="0">
                <a:solidFill>
                  <a:srgbClr val="056ECE"/>
                </a:solidFill>
                <a:latin typeface="Consolas"/>
              </a:rPr>
              <a:t>hash()</a:t>
            </a:r>
            <a:r>
              <a:rPr sz="860" b="0">
                <a:solidFill>
                  <a:srgbClr val="0B1F3A"/>
                </a:solidFill>
                <a:latin typeface="Segoe UI"/>
              </a:rPr>
              <a:t> is only stable inside one process.</a:t>
            </a:r>
          </a:p>
        </p:txBody>
      </p:sp>
      <p:sp>
        <p:nvSpPr>
          <p:cNvPr id="15" name="Rounded Rectangle 14"/>
          <p:cNvSpPr/>
          <p:nvPr/>
        </p:nvSpPr>
        <p:spPr>
          <a:xfrm>
            <a:off x="6370167" y="2558719"/>
            <a:ext cx="5400903" cy="41208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60" b="0">
                <a:solidFill>
                  <a:srgbClr val="0B1F3A"/>
                </a:solidFill>
                <a:latin typeface="Segoe UI"/>
              </a:rPr>
              <a:t>And it is not a distance — it is a pseudo-random number derived from the letters of two city names, so a restart changes the price of an identical booking. Fix: the </a:t>
            </a:r>
            <a:r>
              <a:rPr sz="860" b="0">
                <a:solidFill>
                  <a:srgbClr val="056ECE"/>
                </a:solidFill>
                <a:latin typeface="Consolas"/>
              </a:rPr>
              <a:t>routes</a:t>
            </a:r>
            <a:r>
              <a:rPr sz="860" b="0">
                <a:solidFill>
                  <a:srgbClr val="0B1F3A"/>
                </a:solidFill>
                <a:latin typeface="Segoe UI"/>
              </a:rPr>
              <a:t> table already holds real distances; use them, or </a:t>
            </a:r>
            <a:r>
              <a:rPr sz="860" b="0">
                <a:solidFill>
                  <a:srgbClr val="056ECE"/>
                </a:solidFill>
                <a:latin typeface="Consolas"/>
              </a:rPr>
              <a:t>zlib.crc32</a:t>
            </a:r>
            <a:r>
              <a:rPr sz="860" b="0">
                <a:solidFill>
                  <a:srgbClr val="0B1F3A"/>
                </a:solidFill>
                <a:latin typeface="Segoe UI"/>
              </a:rPr>
              <a:t> for a stable pseudo-distance.</a:t>
            </a:r>
          </a:p>
        </p:txBody>
      </p:sp>
      <p:sp>
        <p:nvSpPr>
          <p:cNvPr id="16" name="Rounded Rectangle 15"/>
          <p:cNvSpPr/>
          <p:nvPr/>
        </p:nvSpPr>
        <p:spPr>
          <a:xfrm>
            <a:off x="6370167" y="3023844"/>
            <a:ext cx="5400903" cy="13726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2000"/>
              </a:lnSpc>
              <a:spcBef>
                <a:spcPts val="0"/>
              </a:spcBef>
              <a:spcAft>
                <a:spcPts val="0"/>
              </a:spcAft>
            </a:pPr>
            <a:r>
              <a:rPr sz="740" b="0">
                <a:solidFill>
                  <a:srgbClr val="5A6F88"/>
                </a:solidFill>
                <a:latin typeface="Segoe UI"/>
              </a:rPr>
              <a:t>Also: 18 % GST is hardcoded in </a:t>
            </a:r>
            <a:r>
              <a:rPr sz="740" b="0">
                <a:solidFill>
                  <a:srgbClr val="056ECE"/>
                </a:solidFill>
                <a:latin typeface="Consolas"/>
              </a:rPr>
              <a:t>create_shipment</a:t>
            </a:r>
            <a:r>
              <a:rPr sz="740" b="0">
                <a:solidFill>
                  <a:srgbClr val="5A6F88"/>
                </a:solidFill>
                <a:latin typeface="Segoe UI"/>
              </a:rPr>
              <a:t>, so tax policy lives in the service layer instead of configuration.</a:t>
            </a:r>
          </a:p>
        </p:txBody>
      </p:sp>
      <p:sp>
        <p:nvSpPr>
          <p:cNvPr id="17" name="Rounded Rectangle 16"/>
          <p:cNvSpPr/>
          <p:nvPr/>
        </p:nvSpPr>
        <p:spPr>
          <a:xfrm>
            <a:off x="457200" y="3378544"/>
            <a:ext cx="5638647" cy="3058831"/>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8" name="Rounded Rectangle 17"/>
          <p:cNvSpPr/>
          <p:nvPr/>
        </p:nvSpPr>
        <p:spPr>
          <a:xfrm>
            <a:off x="585216" y="3469984"/>
            <a:ext cx="5400903" cy="1600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960" b="0">
                <a:solidFill>
                  <a:srgbClr val="062B57"/>
                </a:solidFill>
                <a:latin typeface="Segoe UI"/>
              </a:rPr>
              <a:t>🛰</a:t>
            </a:r>
            <a:r>
              <a:rPr sz="960" b="0">
                <a:solidFill>
                  <a:srgbClr val="062B57"/>
                </a:solidFill>
                <a:latin typeface="Segoe UI"/>
              </a:rPr>
              <a:t>“Live” tracking — a clock, not a GPS feed</a:t>
            </a:r>
          </a:p>
        </p:txBody>
      </p:sp>
      <p:sp>
        <p:nvSpPr>
          <p:cNvPr id="19" name="Rounded Rectangle 18"/>
          <p:cNvSpPr/>
          <p:nvPr/>
        </p:nvSpPr>
        <p:spPr>
          <a:xfrm>
            <a:off x="585216" y="3666580"/>
            <a:ext cx="5400903" cy="933577"/>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backend/tracking.py · get_live_tracking_data()</a:t>
            </a:r>
          </a:p>
          <a:p>
            <a:pPr>
              <a:lnSpc>
                <a:spcPct val="100000"/>
              </a:lnSpc>
              <a:spcBef>
                <a:spcPts val="0"/>
              </a:spcBef>
              <a:spcAft>
                <a:spcPts val="0"/>
              </a:spcAft>
            </a:pPr>
            <a:r>
              <a:rPr sz="650">
                <a:solidFill>
                  <a:srgbClr val="D7E6F7"/>
                </a:solidFill>
                <a:latin typeface="Consolas"/>
              </a:rPr>
              <a:t>t = (int(time.time()) % 100) / 100.0 # 0 → 1, every 100 s</a:t>
            </a:r>
          </a:p>
          <a:p>
            <a:pPr>
              <a:lnSpc>
                <a:spcPct val="100000"/>
              </a:lnSpc>
              <a:spcBef>
                <a:spcPts val="0"/>
              </a:spcBef>
              <a:spcAft>
                <a:spcPts val="0"/>
              </a:spcAft>
            </a:pPr>
            <a:r>
              <a:rPr sz="650">
                <a:solidFill>
                  <a:srgbClr val="D7E6F7"/>
                </a:solidFill>
                <a:latin typeface="Consolas"/>
              </a:rPr>
              <a:t>lat = start[0] + (end[0] - start[0]) * current_time_factor</a:t>
            </a:r>
          </a:p>
          <a:p>
            <a:pPr>
              <a:lnSpc>
                <a:spcPct val="100000"/>
              </a:lnSpc>
              <a:spcBef>
                <a:spcPts val="0"/>
              </a:spcBef>
              <a:spcAft>
                <a:spcPts val="0"/>
              </a:spcAft>
            </a:pPr>
            <a:r>
              <a:rPr sz="650">
                <a:solidFill>
                  <a:srgbClr val="D7E6F7"/>
                </a:solidFill>
                <a:latin typeface="Consolas"/>
              </a:rPr>
              <a:t>dist_remaining = haversine_approx * (1.0 - current_time_factor)</a:t>
            </a:r>
          </a:p>
          <a:p>
            <a:pPr>
              <a:lnSpc>
                <a:spcPct val="100000"/>
              </a:lnSpc>
              <a:spcBef>
                <a:spcPts val="0"/>
              </a:spcBef>
              <a:spcAft>
                <a:spcPts val="0"/>
              </a:spcAft>
            </a:pPr>
            <a:r>
              <a:rPr sz="650">
                <a:solidFill>
                  <a:srgbClr val="D7E6F7"/>
                </a:solidFill>
                <a:latin typeface="Consolas"/>
              </a:rPr>
              <a:t>speed = 58 + int(math.sin(time.time()) * 12) # 46–70 km/h</a:t>
            </a:r>
          </a:p>
          <a:p>
            <a:pPr>
              <a:lnSpc>
                <a:spcPct val="100000"/>
              </a:lnSpc>
              <a:spcBef>
                <a:spcPts val="0"/>
              </a:spcBef>
              <a:spcAft>
                <a:spcPts val="0"/>
              </a:spcAft>
            </a:pPr>
            <a:r>
              <a:rPr sz="650">
                <a:solidFill>
                  <a:srgbClr val="D7E6F7"/>
                </a:solidFill>
                <a:latin typeface="Consolas"/>
              </a:rPr>
              <a:t>eta_minutes = int((dist_remaining / max(speed, 30)) * 60)</a:t>
            </a:r>
          </a:p>
        </p:txBody>
      </p:sp>
      <p:sp>
        <p:nvSpPr>
          <p:cNvPr id="20" name="Rounded Rectangle 19"/>
          <p:cNvSpPr/>
          <p:nvPr/>
        </p:nvSpPr>
        <p:spPr>
          <a:xfrm>
            <a:off x="585216" y="4664165"/>
            <a:ext cx="5400903" cy="117226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60" b="0">
                <a:solidFill>
                  <a:srgbClr val="056ECE"/>
                </a:solidFill>
                <a:latin typeface="Consolas"/>
              </a:rPr>
              <a:t>▸  </a:t>
            </a:r>
            <a:r>
              <a:rPr sz="860" b="1">
                <a:solidFill>
                  <a:srgbClr val="0B1F3A"/>
                </a:solidFill>
                <a:latin typeface="Segoe UI"/>
              </a:rPr>
              <a:t>Verified:</a:t>
            </a:r>
            <a:r>
              <a:rPr sz="860" b="0">
                <a:solidFill>
                  <a:srgbClr val="0B1F3A"/>
                </a:solidFill>
                <a:latin typeface="Segoe UI"/>
              </a:rPr>
              <a:t> progress went </a:t>
            </a:r>
            <a:r>
              <a:rPr sz="860" b="0">
                <a:solidFill>
                  <a:srgbClr val="056ECE"/>
                </a:solidFill>
                <a:latin typeface="Consolas"/>
              </a:rPr>
              <a:t>10 % → 14 %</a:t>
            </a:r>
            <a:r>
              <a:rPr sz="860" b="0">
                <a:solidFill>
                  <a:srgbClr val="0B1F3A"/>
                </a:solidFill>
                <a:latin typeface="Segoe UI"/>
              </a:rPr>
              <a:t> in 4 s while the front-end polled every 4 s, and all three active shipments shared one factor — trucks move in lockstep, and rewind when the 100 s window wraps.</a:t>
            </a:r>
          </a:p>
          <a:p>
            <a:pPr algn="l">
              <a:lnSpc>
                <a:spcPct val="116000"/>
              </a:lnSpc>
              <a:spcBef>
                <a:spcPts val="0"/>
              </a:spcBef>
              <a:spcAft>
                <a:spcPts val="0"/>
              </a:spcAft>
            </a:pPr>
            <a:r>
              <a:rPr sz="860" b="0">
                <a:solidFill>
                  <a:srgbClr val="056ECE"/>
                </a:solidFill>
                <a:latin typeface="Consolas"/>
              </a:rPr>
              <a:t>▸  </a:t>
            </a:r>
            <a:r>
              <a:rPr sz="860" b="0">
                <a:solidFill>
                  <a:srgbClr val="0B1F3A"/>
                </a:solidFill>
                <a:latin typeface="Segoe UI"/>
              </a:rPr>
              <a:t>Distance uses </a:t>
            </a:r>
            <a:r>
              <a:rPr sz="860" b="0">
                <a:solidFill>
                  <a:srgbClr val="056ECE"/>
                </a:solidFill>
                <a:latin typeface="Consolas"/>
              </a:rPr>
              <a:t>√(Δlat²+Δlng²)×111</a:t>
            </a:r>
            <a:r>
              <a:rPr sz="860" b="0">
                <a:solidFill>
                  <a:srgbClr val="0B1F3A"/>
                </a:solidFill>
                <a:latin typeface="Segoe UI"/>
              </a:rPr>
              <a:t> — a flat-earth approximation, fine for a demo, wrong across India's latitude span.</a:t>
            </a:r>
          </a:p>
          <a:p>
            <a:pPr algn="l">
              <a:lnSpc>
                <a:spcPct val="116000"/>
              </a:lnSpc>
              <a:spcBef>
                <a:spcPts val="0"/>
              </a:spcBef>
              <a:spcAft>
                <a:spcPts val="0"/>
              </a:spcAft>
            </a:pPr>
            <a:r>
              <a:rPr sz="860" b="0">
                <a:solidFill>
                  <a:srgbClr val="056ECE"/>
                </a:solidFill>
                <a:latin typeface="Consolas"/>
              </a:rPr>
              <a:t>▸  </a:t>
            </a:r>
            <a:r>
              <a:rPr sz="860" b="0">
                <a:solidFill>
                  <a:srgbClr val="0B1F3A"/>
                </a:solidFill>
                <a:latin typeface="Segoe UI"/>
              </a:rPr>
              <a:t>With no in-transit shipment the module returns a </a:t>
            </a:r>
            <a:r>
              <a:rPr sz="860" b="1">
                <a:solidFill>
                  <a:srgbClr val="0B1F3A"/>
                </a:solidFill>
                <a:latin typeface="Segoe UI"/>
              </a:rPr>
              <a:t>hardcoded</a:t>
            </a:r>
            <a:r>
              <a:rPr sz="860" b="0">
                <a:solidFill>
                  <a:srgbClr val="0B1F3A"/>
                </a:solidFill>
                <a:latin typeface="Segoe UI"/>
              </a:rPr>
              <a:t> SHP001 record, so the UI always looks alive.</a:t>
            </a:r>
          </a:p>
          <a:p>
            <a:pPr algn="l">
              <a:lnSpc>
                <a:spcPct val="116000"/>
              </a:lnSpc>
              <a:spcBef>
                <a:spcPts val="0"/>
              </a:spcBef>
              <a:spcAft>
                <a:spcPts val="0"/>
              </a:spcAft>
            </a:pPr>
            <a:r>
              <a:rPr sz="860" b="0">
                <a:solidFill>
                  <a:srgbClr val="056ECE"/>
                </a:solidFill>
                <a:latin typeface="Consolas"/>
              </a:rPr>
              <a:t>▸  </a:t>
            </a:r>
            <a:r>
              <a:rPr sz="860" b="0">
                <a:solidFill>
                  <a:srgbClr val="0B1F3A"/>
                </a:solidFill>
                <a:latin typeface="Segoe UI"/>
              </a:rPr>
              <a:t>The fallback is load-bearing, not lazy: </a:t>
            </a:r>
            <a:r>
              <a:rPr sz="860" b="0">
                <a:solidFill>
                  <a:srgbClr val="056ECE"/>
                </a:solidFill>
                <a:latin typeface="Consolas"/>
              </a:rPr>
              <a:t>shipments.js:61</a:t>
            </a:r>
            <a:r>
              <a:rPr sz="860" b="0">
                <a:solidFill>
                  <a:srgbClr val="0B1F3A"/>
                </a:solidFill>
                <a:latin typeface="Segoe UI"/>
              </a:rPr>
              <a:t> posts </a:t>
            </a:r>
            <a:r>
              <a:rPr sz="860" b="0">
                <a:solidFill>
                  <a:srgbClr val="056ECE"/>
                </a:solidFill>
                <a:latin typeface="Consolas"/>
              </a:rPr>
              <a:t>vehicle_reg</a:t>
            </a:r>
            <a:r>
              <a:rPr sz="860" b="0">
                <a:solidFill>
                  <a:srgbClr val="0B1F3A"/>
                </a:solidFill>
                <a:latin typeface="Segoe UI"/>
              </a:rPr>
              <a:t> and </a:t>
            </a:r>
            <a:r>
              <a:rPr sz="860" b="0">
                <a:solidFill>
                  <a:srgbClr val="056ECE"/>
                </a:solidFill>
                <a:latin typeface="Consolas"/>
              </a:rPr>
              <a:t>driver_name</a:t>
            </a:r>
            <a:r>
              <a:rPr sz="860" b="0">
                <a:solidFill>
                  <a:srgbClr val="0B1F3A"/>
                </a:solidFill>
                <a:latin typeface="Segoe UI"/>
              </a:rPr>
              <a:t>, </a:t>
            </a:r>
            <a:r>
              <a:rPr sz="860" b="1">
                <a:solidFill>
                  <a:srgbClr val="0B1F3A"/>
                </a:solidFill>
                <a:latin typeface="Segoe UI"/>
              </a:rPr>
              <a:t>neither is in the booking allowlist</a:t>
            </a:r>
            <a:r>
              <a:rPr sz="860" b="0">
                <a:solidFill>
                  <a:srgbClr val="0B1F3A"/>
                </a:solidFill>
                <a:latin typeface="Segoe UI"/>
              </a:rPr>
              <a:t>, so all four assignment columns are written </a:t>
            </a:r>
            <a:r>
              <a:rPr sz="860" b="0">
                <a:solidFill>
                  <a:srgbClr val="056ECE"/>
                </a:solidFill>
                <a:latin typeface="Consolas"/>
              </a:rPr>
              <a:t>NULL</a:t>
            </a:r>
            <a:r>
              <a:rPr sz="860" b="0">
                <a:solidFill>
                  <a:srgbClr val="0B1F3A"/>
                </a:solidFill>
                <a:latin typeface="Segoe UI"/>
              </a:rPr>
              <a:t> — and no endpoint can set them afterwards. </a:t>
            </a:r>
            <a:r>
              <a:rPr sz="860" b="0">
                <a:solidFill>
                  <a:srgbClr val="0B1F3A"/>
                </a:solidFill>
                <a:latin typeface="Segoe UI"/>
              </a:rPr>
              <a:t>Every</a:t>
            </a:r>
            <a:r>
              <a:rPr sz="860" b="0">
                <a:solidFill>
                  <a:srgbClr val="0B1F3A"/>
                </a:solidFill>
                <a:latin typeface="Segoe UI"/>
              </a:rPr>
              <a:t> shipment is unassigned, so tracking must invent a vehicle.</a:t>
            </a:r>
          </a:p>
        </p:txBody>
      </p:sp>
      <p:sp>
        <p:nvSpPr>
          <p:cNvPr id="21" name="Rounded Rectangle 20"/>
          <p:cNvSpPr/>
          <p:nvPr/>
        </p:nvSpPr>
        <p:spPr>
          <a:xfrm>
            <a:off x="585216" y="5889461"/>
            <a:ext cx="5400903" cy="24251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2000"/>
              </a:lnSpc>
              <a:spcBef>
                <a:spcPts val="0"/>
              </a:spcBef>
              <a:spcAft>
                <a:spcPts val="0"/>
              </a:spcAft>
            </a:pPr>
            <a:r>
              <a:rPr sz="740" b="0">
                <a:solidFill>
                  <a:srgbClr val="5A6F88"/>
                </a:solidFill>
                <a:latin typeface="Segoe UI"/>
              </a:rPr>
              <a:t>A real feed needs three things: device ingest, a position table, and a dispatch step that actually assigns the vehicle the operator picked. The response shape already supports the first two.</a:t>
            </a:r>
          </a:p>
        </p:txBody>
      </p:sp>
      <p:sp>
        <p:nvSpPr>
          <p:cNvPr id="22" name="Rounded Rectangle 21"/>
          <p:cNvSpPr/>
          <p:nvPr/>
        </p:nvSpPr>
        <p:spPr>
          <a:xfrm>
            <a:off x="6242151" y="3378544"/>
            <a:ext cx="5638647" cy="3058831"/>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3" name="Rounded Rectangle 22"/>
          <p:cNvSpPr/>
          <p:nvPr/>
        </p:nvSpPr>
        <p:spPr>
          <a:xfrm>
            <a:off x="6370167" y="3469984"/>
            <a:ext cx="5400903" cy="1813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20" b="0">
                <a:solidFill>
                  <a:srgbClr val="062B57"/>
                </a:solidFill>
                <a:latin typeface="Segoe UI"/>
              </a:rPr>
              <a:t>🧭</a:t>
            </a:r>
            <a:r>
              <a:rPr sz="1120" b="0">
                <a:solidFill>
                  <a:srgbClr val="062B57"/>
                </a:solidFill>
                <a:latin typeface="Segoe UI"/>
              </a:rPr>
              <a:t>Route “optimisation” — cache-then-heuristic</a:t>
            </a:r>
          </a:p>
        </p:txBody>
      </p:sp>
      <p:sp>
        <p:nvSpPr>
          <p:cNvPr id="24" name="Rounded Rectangle 23"/>
          <p:cNvSpPr/>
          <p:nvPr/>
        </p:nvSpPr>
        <p:spPr>
          <a:xfrm>
            <a:off x="6370167" y="3687916"/>
            <a:ext cx="5400903" cy="1050797"/>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backend/routes.py · optimize_route()</a:t>
            </a:r>
          </a:p>
          <a:p>
            <a:pPr>
              <a:lnSpc>
                <a:spcPct val="100000"/>
              </a:lnSpc>
              <a:spcBef>
                <a:spcPts val="0"/>
              </a:spcBef>
              <a:spcAft>
                <a:spcPts val="0"/>
              </a:spcAft>
            </a:pPr>
            <a:r>
              <a:rPr sz="650">
                <a:solidFill>
                  <a:srgbClr val="D7E6F7"/>
                </a:solidFill>
                <a:latin typeface="Consolas"/>
              </a:rPr>
              <a:t>cursor.execute("SELECT * FROM routes"</a:t>
            </a:r>
          </a:p>
          <a:p>
            <a:pPr>
              <a:lnSpc>
                <a:spcPct val="100000"/>
              </a:lnSpc>
              <a:spcBef>
                <a:spcPts val="0"/>
              </a:spcBef>
              <a:spcAft>
                <a:spcPts val="0"/>
              </a:spcAft>
            </a:pPr>
            <a:r>
              <a:rPr sz="650">
                <a:solidFill>
                  <a:srgbClr val="D7E6F7"/>
                </a:solidFill>
                <a:latin typeface="Consolas"/>
              </a:rPr>
              <a:t>WHERE LOWER(pickup)=LOWER(?) AND LOWER(dest)=LOWER(?)")</a:t>
            </a:r>
          </a:p>
          <a:p>
            <a:pPr>
              <a:lnSpc>
                <a:spcPct val="100000"/>
              </a:lnSpc>
              <a:spcBef>
                <a:spcPts val="0"/>
              </a:spcBef>
              <a:spcAft>
                <a:spcPts val="0"/>
              </a:spcAft>
            </a:pPr>
            <a:r>
              <a:rPr sz="650">
                <a:solidFill>
                  <a:srgbClr val="D7E6F7"/>
                </a:solidFill>
                <a:latin typeface="Consolas"/>
              </a:rPr>
              <a:t>if found: return json_response(data=found) # cached real answer</a:t>
            </a:r>
          </a:p>
          <a:p>
            <a:pPr>
              <a:lnSpc>
                <a:spcPct val="100000"/>
              </a:lnSpc>
              <a:spcBef>
                <a:spcPts val="0"/>
              </a:spcBef>
              <a:spcAft>
                <a:spcPts val="0"/>
              </a:spcAft>
            </a:pPr>
            <a:r>
              <a:rPr sz="650">
                <a:solidFill>
                  <a:srgbClr val="D7E6F7"/>
                </a:solidFill>
                <a:latin typeface="Consolas"/>
              </a:rPr>
              <a:t>dist = 250 + (len(pickup) + len(destination)) * 12 # ⚠ heuristic</a:t>
            </a:r>
          </a:p>
          <a:p>
            <a:pPr>
              <a:lnSpc>
                <a:spcPct val="100000"/>
              </a:lnSpc>
              <a:spcBef>
                <a:spcPts val="0"/>
              </a:spcBef>
              <a:spcAft>
                <a:spcPts val="0"/>
              </a:spcAft>
            </a:pPr>
            <a:r>
              <a:rPr sz="650">
                <a:solidFill>
                  <a:srgbClr val="D7E6F7"/>
                </a:solidFill>
                <a:latin typeface="Consolas"/>
              </a:rPr>
              <a:t>time_hrs = round(dist / 65.0, 1); fuel_cost = int(dist * 8.6)</a:t>
            </a:r>
          </a:p>
          <a:p>
            <a:pPr>
              <a:lnSpc>
                <a:spcPct val="100000"/>
              </a:lnSpc>
              <a:spcBef>
                <a:spcPts val="0"/>
              </a:spcBef>
              <a:spcAft>
                <a:spcPts val="0"/>
              </a:spcAft>
            </a:pPr>
            <a:r>
              <a:rPr sz="650">
                <a:solidFill>
                  <a:srgbClr val="D7E6F7"/>
                </a:solidFill>
                <a:latin typeface="Consolas"/>
              </a:rPr>
              <a:t>stops = [toll_plaza, rest_stop, destination_hub] # names generated</a:t>
            </a:r>
          </a:p>
        </p:txBody>
      </p:sp>
      <p:sp>
        <p:nvSpPr>
          <p:cNvPr id="25" name="Rounded Rectangle 24"/>
          <p:cNvSpPr/>
          <p:nvPr/>
        </p:nvSpPr>
        <p:spPr>
          <a:xfrm>
            <a:off x="6370167" y="4802722"/>
            <a:ext cx="5400903" cy="933602"/>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19" b="0">
                <a:solidFill>
                  <a:srgbClr val="056ECE"/>
                </a:solidFill>
                <a:latin typeface="Consolas"/>
              </a:rPr>
              <a:t>▸  </a:t>
            </a:r>
            <a:r>
              <a:rPr sz="1019" b="1">
                <a:solidFill>
                  <a:srgbClr val="0B1F3A"/>
                </a:solidFill>
                <a:latin typeface="Segoe UI"/>
              </a:rPr>
              <a:t>Measured:</a:t>
            </a:r>
            <a:r>
              <a:rPr sz="1019" b="0">
                <a:solidFill>
                  <a:srgbClr val="0B1F3A"/>
                </a:solidFill>
                <a:latin typeface="Segoe UI"/>
              </a:rPr>
              <a:t> Ludhiana → Chennai returns </a:t>
            </a:r>
            <a:r>
              <a:rPr sz="1019" b="1">
                <a:solidFill>
                  <a:srgbClr val="0B1F3A"/>
                </a:solidFill>
                <a:latin typeface="Segoe UI"/>
              </a:rPr>
              <a:t>430 km</a:t>
            </a:r>
            <a:r>
              <a:rPr sz="1019" b="0">
                <a:solidFill>
                  <a:srgbClr val="0B1F3A"/>
                </a:solidFill>
                <a:latin typeface="Segoe UI"/>
              </a:rPr>
              <a:t> (real ≈ 2 400 km), and “Ludhiana → </a:t>
            </a:r>
            <a:r>
              <a:rPr sz="1019" b="1">
                <a:solidFill>
                  <a:srgbClr val="0B1F3A"/>
                </a:solidFill>
                <a:latin typeface="Segoe UI"/>
              </a:rPr>
              <a:t>Che</a:t>
            </a:r>
            <a:r>
              <a:rPr sz="1019" b="0">
                <a:solidFill>
                  <a:srgbClr val="0B1F3A"/>
                </a:solidFill>
                <a:latin typeface="Segoe UI"/>
              </a:rPr>
              <a:t>” returns </a:t>
            </a:r>
            <a:r>
              <a:rPr sz="1019" b="1">
                <a:solidFill>
                  <a:srgbClr val="0B1F3A"/>
                </a:solidFill>
                <a:latin typeface="Segoe UI"/>
              </a:rPr>
              <a:t>382 km</a:t>
            </a:r>
            <a:r>
              <a:rPr sz="1019" b="0">
                <a:solidFill>
                  <a:srgbClr val="0B1F3A"/>
                </a:solidFill>
                <a:latin typeface="Segoe UI"/>
              </a:rPr>
              <a:t> — the distance is literally a function of the string lengths.</a:t>
            </a:r>
          </a:p>
          <a:p>
            <a:pPr algn="l">
              <a:lnSpc>
                <a:spcPct val="116000"/>
              </a:lnSpc>
              <a:spcBef>
                <a:spcPts val="0"/>
              </a:spcBef>
              <a:spcAft>
                <a:spcPts val="0"/>
              </a:spcAft>
            </a:pPr>
            <a:r>
              <a:rPr sz="1019" b="0">
                <a:solidFill>
                  <a:srgbClr val="056ECE"/>
                </a:solidFill>
                <a:latin typeface="Consolas"/>
              </a:rPr>
              <a:t>▸  </a:t>
            </a:r>
            <a:r>
              <a:rPr sz="1019" b="0">
                <a:solidFill>
                  <a:srgbClr val="0B1F3A"/>
                </a:solidFill>
                <a:latin typeface="Segoe UI"/>
              </a:rPr>
              <a:t>Four seeded corridors (Delhi–Jaipur 286 km …) are honest data; anything unsaved is fabricated, including the stops.</a:t>
            </a:r>
          </a:p>
          <a:p>
            <a:pPr algn="l">
              <a:lnSpc>
                <a:spcPct val="116000"/>
              </a:lnSpc>
              <a:spcBef>
                <a:spcPts val="0"/>
              </a:spcBef>
              <a:spcAft>
                <a:spcPts val="0"/>
              </a:spcAft>
            </a:pPr>
            <a:r>
              <a:rPr sz="1019" b="0">
                <a:solidFill>
                  <a:srgbClr val="056ECE"/>
                </a:solidFill>
                <a:latin typeface="Consolas"/>
              </a:rPr>
              <a:t>▸  </a:t>
            </a:r>
            <a:r>
              <a:rPr sz="1019" b="0">
                <a:solidFill>
                  <a:srgbClr val="0B1F3A"/>
                </a:solidFill>
                <a:latin typeface="Segoe UI"/>
              </a:rPr>
              <a:t>No algorithm here is a solver: no graph, no nearest-neighbour, no OR-Tools. Naming it </a:t>
            </a:r>
            <a:r>
              <a:rPr sz="1019" b="0">
                <a:solidFill>
                  <a:srgbClr val="0B1F3A"/>
                </a:solidFill>
                <a:latin typeface="Segoe UI"/>
              </a:rPr>
              <a:t>optimize</a:t>
            </a:r>
            <a:r>
              <a:rPr sz="1019" b="0">
                <a:solidFill>
                  <a:srgbClr val="0B1F3A"/>
                </a:solidFill>
                <a:latin typeface="Segoe UI"/>
              </a:rPr>
              <a:t> oversells it.</a:t>
            </a:r>
          </a:p>
        </p:txBody>
      </p:sp>
      <p:sp>
        <p:nvSpPr>
          <p:cNvPr id="26" name="Rounded Rectangle 25"/>
          <p:cNvSpPr/>
          <p:nvPr/>
        </p:nvSpPr>
        <p:spPr>
          <a:xfrm>
            <a:off x="6370167" y="5789360"/>
            <a:ext cx="5400903" cy="28803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2000"/>
              </a:lnSpc>
              <a:spcBef>
                <a:spcPts val="0"/>
              </a:spcBef>
              <a:spcAft>
                <a:spcPts val="0"/>
              </a:spcAft>
            </a:pPr>
            <a:r>
              <a:rPr sz="900" b="0">
                <a:solidFill>
                  <a:srgbClr val="5A6F88"/>
                </a:solidFill>
                <a:latin typeface="Segoe UI"/>
              </a:rPr>
              <a:t>Honest framing for the report: “route lookup with a distance-cost estimate”, and a TODO for OSRM/Valhalla.</a:t>
            </a:r>
          </a:p>
        </p:txBody>
      </p:sp>
      <p:sp>
        <p:nvSpPr>
          <p:cNvPr id="27" name="Rounded Rectangle 26"/>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backend/database.py · shipments CHECK(status IN …)</a:t>
            </a:r>
            <a:r>
              <a:rPr sz="830" b="0">
                <a:solidFill>
                  <a:srgbClr val="056ECE"/>
                </a:solidFill>
                <a:latin typeface="Consolas"/>
              </a:rPr>
              <a:t>   ·   backend/services.py · update_shipment_status</a:t>
            </a:r>
            <a:r>
              <a:rPr sz="830" b="0">
                <a:solidFill>
                  <a:srgbClr val="056ECE"/>
                </a:solidFill>
                <a:latin typeface="Consolas"/>
              </a:rPr>
              <a:t>   ·   backend/tracking.py</a:t>
            </a:r>
            <a:r>
              <a:rPr sz="830" b="0">
                <a:solidFill>
                  <a:srgbClr val="056ECE"/>
                </a:solidFill>
                <a:latin typeface="Consolas"/>
              </a:rPr>
              <a:t>   ·   backend/database.py · 4 seeded route rows (data/routes.json holds 2 and is read by nothing)</a:t>
            </a:r>
            <a:r>
              <a:rPr sz="860" b="1">
                <a:solidFill>
                  <a:srgbClr val="EF3348"/>
                </a:solidFill>
                <a:latin typeface="Segoe UI"/>
              </a:rPr>
              <a:t>   ·   Reproduced defects ①–③ are mine to fix, not the framework's</a:t>
            </a:r>
          </a:p>
        </p:txBody>
      </p:sp>
      <p:sp>
        <p:nvSpPr>
          <p:cNvPr id="28" name="Rounded Rectangle 27"/>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10 · BEYOND THE APP: SELF-DIAGNOSING DEPLOYMENT</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250" b="0">
                <a:solidFill>
                  <a:srgbClr val="062B57"/>
                </a:solidFill>
                <a:latin typeface="Segoe UI"/>
              </a:rPr>
              <a:t>1,121 lines of ops automation that bound themselves </a:t>
            </a:r>
            <a:r>
              <a:rPr sz="2250" b="0">
                <a:solidFill>
                  <a:srgbClr val="062B57"/>
                </a:solidFill>
                <a:latin typeface="Segoe UI"/>
              </a:rPr>
              <a:t>— stdlib only, no </a:t>
            </a:r>
            <a:r>
              <a:rPr sz="2250" b="0">
                <a:solidFill>
                  <a:srgbClr val="056ECE"/>
                </a:solidFill>
                <a:latin typeface="Consolas"/>
              </a:rPr>
              <a:t>requests</a:t>
            </a:r>
            <a:r>
              <a:rPr sz="2250" b="0">
                <a:solidFill>
                  <a:srgbClr val="062B57"/>
                </a:solidFill>
                <a:latin typeface="Segoe UI"/>
              </a:rPr>
              <a:t>, no LLM</a:t>
            </a:r>
          </a:p>
        </p:txBody>
      </p:sp>
      <p:sp>
        <p:nvSpPr>
          <p:cNvPr id="4" name="Rounded Rectangle 3"/>
          <p:cNvSpPr/>
          <p:nvPr/>
        </p:nvSpPr>
        <p:spPr>
          <a:xfrm>
            <a:off x="457200" y="1042416"/>
            <a:ext cx="2065263" cy="2124802"/>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push → main</a:t>
            </a:r>
          </a:p>
          <a:p>
            <a:pPr algn="l">
              <a:lnSpc>
                <a:spcPct val="112000"/>
              </a:lnSpc>
              <a:spcBef>
                <a:spcPts val="250"/>
              </a:spcBef>
              <a:spcAft>
                <a:spcPts val="0"/>
              </a:spcAft>
            </a:pPr>
            <a:r>
              <a:rPr sz="840" b="0">
                <a:solidFill>
                  <a:srgbClr val="056ECE"/>
                </a:solidFill>
                <a:latin typeface="Consolas"/>
              </a:rPr>
              <a:t>render-observe.yml</a:t>
            </a:r>
            <a:r>
              <a:rPr sz="840" b="0">
                <a:solidFill>
                  <a:srgbClr val="5A6F88"/>
                </a:solidFill>
                <a:latin typeface="Segoe UI"/>
              </a:rPr>
              <a:t> starts per SHA; </a:t>
            </a:r>
            <a:r>
              <a:rPr sz="840" b="0">
                <a:solidFill>
                  <a:srgbClr val="056ECE"/>
                </a:solidFill>
                <a:latin typeface="Consolas"/>
              </a:rPr>
              <a:t>concurrency</a:t>
            </a:r>
            <a:r>
              <a:rPr sz="840" b="0">
                <a:solidFill>
                  <a:srgbClr val="5A6F88"/>
                </a:solidFill>
                <a:latin typeface="Segoe UI"/>
              </a:rPr>
              <a:t> group serialises runs.</a:t>
            </a:r>
          </a:p>
        </p:txBody>
      </p:sp>
      <p:sp>
        <p:nvSpPr>
          <p:cNvPr id="5" name="TextBox 4"/>
          <p:cNvSpPr txBox="1"/>
          <p:nvPr/>
        </p:nvSpPr>
        <p:spPr>
          <a:xfrm>
            <a:off x="2531607" y="1995089"/>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6" name="Rounded Rectangle 5"/>
          <p:cNvSpPr/>
          <p:nvPr/>
        </p:nvSpPr>
        <p:spPr>
          <a:xfrm>
            <a:off x="2760207" y="1042416"/>
            <a:ext cx="2065263" cy="2124802"/>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Discover service</a:t>
            </a:r>
          </a:p>
          <a:p>
            <a:pPr algn="l">
              <a:lnSpc>
                <a:spcPct val="105000"/>
              </a:lnSpc>
              <a:spcBef>
                <a:spcPts val="150"/>
              </a:spcBef>
              <a:spcAft>
                <a:spcPts val="0"/>
              </a:spcAft>
            </a:pPr>
            <a:r>
              <a:rPr sz="780" b="0">
                <a:solidFill>
                  <a:srgbClr val="056ECE"/>
                </a:solidFill>
                <a:latin typeface="Consolas"/>
              </a:rPr>
              <a:t>render_observe.py</a:t>
            </a:r>
          </a:p>
          <a:p>
            <a:pPr algn="l">
              <a:lnSpc>
                <a:spcPct val="112000"/>
              </a:lnSpc>
              <a:spcBef>
                <a:spcPts val="250"/>
              </a:spcBef>
              <a:spcAft>
                <a:spcPts val="0"/>
              </a:spcAft>
            </a:pPr>
            <a:r>
              <a:rPr sz="840" b="0">
                <a:solidFill>
                  <a:srgbClr val="5A6F88"/>
                </a:solidFill>
                <a:latin typeface="Segoe UI"/>
              </a:rPr>
              <a:t>Env var </a:t>
            </a:r>
            <a:r>
              <a:rPr sz="840" b="0">
                <a:solidFill>
                  <a:srgbClr val="056ECE"/>
                </a:solidFill>
                <a:latin typeface="Consolas"/>
              </a:rPr>
              <a:t>RENDER_SERVICE_ID</a:t>
            </a:r>
            <a:r>
              <a:rPr sz="840" b="0">
                <a:solidFill>
                  <a:srgbClr val="5A6F88"/>
                </a:solidFill>
                <a:latin typeface="Segoe UI"/>
              </a:rPr>
              <a:t>, else paginated </a:t>
            </a:r>
            <a:r>
              <a:rPr sz="840" b="0">
                <a:solidFill>
                  <a:srgbClr val="056ECE"/>
                </a:solidFill>
                <a:latin typeface="Consolas"/>
              </a:rPr>
              <a:t>GET /v1/services</a:t>
            </a:r>
            <a:r>
              <a:rPr sz="840" b="0">
                <a:solidFill>
                  <a:srgbClr val="5A6F88"/>
                </a:solidFill>
                <a:latin typeface="Segoe UI"/>
              </a:rPr>
              <a:t> matched on repo URL (ambiguous → exit 5).</a:t>
            </a:r>
          </a:p>
        </p:txBody>
      </p:sp>
      <p:sp>
        <p:nvSpPr>
          <p:cNvPr id="7" name="TextBox 6"/>
          <p:cNvSpPr txBox="1"/>
          <p:nvPr/>
        </p:nvSpPr>
        <p:spPr>
          <a:xfrm>
            <a:off x="4834615" y="1995089"/>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8" name="Rounded Rectangle 7"/>
          <p:cNvSpPr/>
          <p:nvPr/>
        </p:nvSpPr>
        <p:spPr>
          <a:xfrm>
            <a:off x="5063215" y="1042416"/>
            <a:ext cx="2065263" cy="2124802"/>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Match &amp; poll deploy</a:t>
            </a:r>
          </a:p>
          <a:p>
            <a:pPr algn="l">
              <a:lnSpc>
                <a:spcPct val="112000"/>
              </a:lnSpc>
              <a:spcBef>
                <a:spcPts val="250"/>
              </a:spcBef>
              <a:spcAft>
                <a:spcPts val="0"/>
              </a:spcAft>
            </a:pPr>
            <a:r>
              <a:rPr sz="840" b="0">
                <a:solidFill>
                  <a:srgbClr val="5A6F88"/>
                </a:solidFill>
                <a:latin typeface="Segoe UI"/>
              </a:rPr>
              <a:t>Polls until terminal, matching by commit SHA — so it observes </a:t>
            </a:r>
            <a:r>
              <a:rPr sz="840" b="0">
                <a:solidFill>
                  <a:srgbClr val="5A6F88"/>
                </a:solidFill>
                <a:latin typeface="Segoe UI"/>
              </a:rPr>
              <a:t>my</a:t>
            </a:r>
            <a:r>
              <a:rPr sz="840" b="0">
                <a:solidFill>
                  <a:srgbClr val="5A6F88"/>
                </a:solidFill>
                <a:latin typeface="Segoe UI"/>
              </a:rPr>
              <a:t> deploy, not someone else's.</a:t>
            </a:r>
          </a:p>
        </p:txBody>
      </p:sp>
      <p:sp>
        <p:nvSpPr>
          <p:cNvPr id="9" name="TextBox 8"/>
          <p:cNvSpPr txBox="1"/>
          <p:nvPr/>
        </p:nvSpPr>
        <p:spPr>
          <a:xfrm>
            <a:off x="7137623" y="1995089"/>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10" name="Rounded Rectangle 9"/>
          <p:cNvSpPr/>
          <p:nvPr/>
        </p:nvSpPr>
        <p:spPr>
          <a:xfrm>
            <a:off x="7366223" y="1042416"/>
            <a:ext cx="2065263" cy="2124802"/>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Classify + redact</a:t>
            </a:r>
          </a:p>
          <a:p>
            <a:pPr algn="l">
              <a:lnSpc>
                <a:spcPct val="112000"/>
              </a:lnSpc>
              <a:spcBef>
                <a:spcPts val="250"/>
              </a:spcBef>
              <a:spcAft>
                <a:spcPts val="0"/>
              </a:spcAft>
            </a:pPr>
            <a:r>
              <a:rPr sz="840" b="0">
                <a:solidFill>
                  <a:srgbClr val="5A6F88"/>
                </a:solidFill>
                <a:latin typeface="Segoe UI"/>
              </a:rPr>
              <a:t>21 log fragments → 12 (category, subcategory) signatures across 4 categories; every byte passes the sanitizer before it is written.</a:t>
            </a:r>
          </a:p>
        </p:txBody>
      </p:sp>
      <p:sp>
        <p:nvSpPr>
          <p:cNvPr id="11" name="TextBox 10"/>
          <p:cNvSpPr txBox="1"/>
          <p:nvPr/>
        </p:nvSpPr>
        <p:spPr>
          <a:xfrm>
            <a:off x="9440631" y="1995089"/>
            <a:ext cx="219456" cy="219456"/>
          </a:xfrm>
          <a:prstGeom prst="rect">
            <a:avLst/>
          </a:prstGeom>
          <a:noFill/>
          <a:effectLst/>
        </p:spPr>
        <p:txBody>
          <a:bodyPr wrap="none" lIns="0" rIns="0" tIns="0" bIns="0">
            <a:spAutoFit/>
          </a:bodyPr>
          <a:lstStyle/>
          <a:p>
            <a:pPr algn="ctr"/>
            <a:r>
              <a:rPr sz="1300" b="1">
                <a:solidFill>
                  <a:srgbClr val="0789FF"/>
                </a:solidFill>
              </a:rPr>
              <a:t>→</a:t>
            </a:r>
          </a:p>
        </p:txBody>
      </p:sp>
      <p:sp>
        <p:nvSpPr>
          <p:cNvPr id="12" name="Rounded Rectangle 11"/>
          <p:cNvSpPr/>
          <p:nvPr/>
        </p:nvSpPr>
        <p:spPr>
          <a:xfrm>
            <a:off x="9669231" y="1042416"/>
            <a:ext cx="2065263" cy="2124802"/>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l">
              <a:lnSpc>
                <a:spcPct val="100000"/>
              </a:lnSpc>
              <a:spcBef>
                <a:spcPts val="0"/>
              </a:spcBef>
              <a:spcAft>
                <a:spcPts val="0"/>
              </a:spcAft>
            </a:pPr>
            <a:r>
              <a:rPr sz="1019" b="0">
                <a:solidFill>
                  <a:srgbClr val="062B57"/>
                </a:solidFill>
                <a:latin typeface="Segoe UI"/>
              </a:rPr>
              <a:t>Act, bounded</a:t>
            </a:r>
          </a:p>
          <a:p>
            <a:pPr algn="l">
              <a:lnSpc>
                <a:spcPct val="112000"/>
              </a:lnSpc>
              <a:spcBef>
                <a:spcPts val="250"/>
              </a:spcBef>
              <a:spcAft>
                <a:spcPts val="0"/>
              </a:spcAft>
            </a:pPr>
            <a:r>
              <a:rPr sz="840" b="0">
                <a:solidFill>
                  <a:srgbClr val="056ECE"/>
                </a:solidFill>
                <a:latin typeface="Consolas"/>
              </a:rPr>
              <a:t>render_fix.py</a:t>
            </a:r>
            <a:r>
              <a:rPr sz="840" b="0">
                <a:solidFill>
                  <a:srgbClr val="5A6F88"/>
                </a:solidFill>
                <a:latin typeface="Segoe UI"/>
              </a:rPr>
              <a:t> only for 2 safe classes → PR branch (never </a:t>
            </a:r>
            <a:r>
              <a:rPr sz="840" b="0">
                <a:solidFill>
                  <a:srgbClr val="056ECE"/>
                </a:solidFill>
                <a:latin typeface="Consolas"/>
              </a:rPr>
              <a:t>main</a:t>
            </a:r>
            <a:r>
              <a:rPr sz="840" b="0">
                <a:solidFill>
                  <a:srgbClr val="5A6F88"/>
                </a:solidFill>
                <a:latin typeface="Segoe UI"/>
              </a:rPr>
              <a:t>); </a:t>
            </a:r>
            <a:r>
              <a:rPr sz="840" b="0">
                <a:solidFill>
                  <a:srgbClr val="056ECE"/>
                </a:solidFill>
                <a:latin typeface="Consolas"/>
              </a:rPr>
              <a:t>auth/*</a:t>
            </a:r>
            <a:r>
              <a:rPr sz="840" b="0">
                <a:solidFill>
                  <a:srgbClr val="5A6F88"/>
                </a:solidFill>
                <a:latin typeface="Segoe UI"/>
              </a:rPr>
              <a:t> never auto-fixed; else </a:t>
            </a:r>
            <a:r>
              <a:rPr sz="840" b="0">
                <a:solidFill>
                  <a:srgbClr val="056ECE"/>
                </a:solidFill>
                <a:latin typeface="Consolas"/>
              </a:rPr>
              <a:t>render_escalate.py</a:t>
            </a:r>
            <a:r>
              <a:rPr sz="840" b="0">
                <a:solidFill>
                  <a:srgbClr val="5A6F88"/>
                </a:solidFill>
                <a:latin typeface="Segoe UI"/>
              </a:rPr>
              <a:t>.</a:t>
            </a:r>
          </a:p>
        </p:txBody>
      </p:sp>
      <p:sp>
        <p:nvSpPr>
          <p:cNvPr id="13" name="Rounded Rectangle 12"/>
          <p:cNvSpPr/>
          <p:nvPr/>
        </p:nvSpPr>
        <p:spPr>
          <a:xfrm>
            <a:off x="457200" y="3313522"/>
            <a:ext cx="3882347" cy="1871344"/>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scripts/render_sanitize.py</a:t>
            </a:r>
            <a:r>
              <a:rPr sz="550">
                <a:solidFill>
                  <a:srgbClr val="9FB6CE"/>
                </a:solidFill>
                <a:latin typeface="Segoe UI"/>
              </a:rPr>
              <a:t>   3 layers · 10 patterns</a:t>
            </a:r>
          </a:p>
          <a:p>
            <a:pPr>
              <a:lnSpc>
                <a:spcPct val="100000"/>
              </a:lnSpc>
              <a:spcBef>
                <a:spcPts val="0"/>
              </a:spcBef>
              <a:spcAft>
                <a:spcPts val="0"/>
              </a:spcAft>
            </a:pPr>
            <a:r>
              <a:rPr sz="650">
                <a:solidFill>
                  <a:srgbClr val="D7E6F7"/>
                </a:solidFill>
                <a:latin typeface="Consolas"/>
              </a:rPr>
              <a:t># Layer 1 — walk parsed JSON, redact by key name</a:t>
            </a:r>
          </a:p>
          <a:p>
            <a:pPr>
              <a:lnSpc>
                <a:spcPct val="100000"/>
              </a:lnSpc>
              <a:spcBef>
                <a:spcPts val="0"/>
              </a:spcBef>
              <a:spcAft>
                <a:spcPts val="0"/>
              </a:spcAft>
            </a:pPr>
            <a:r>
              <a:rPr sz="650">
                <a:solidFill>
                  <a:srgbClr val="D7E6F7"/>
                </a:solidFill>
                <a:latin typeface="Consolas"/>
              </a:rPr>
              <a:t>return {k: REDACTED if _key_is_secret(k) else sanitize_json(v)</a:t>
            </a:r>
          </a:p>
          <a:p>
            <a:pPr>
              <a:lnSpc>
                <a:spcPct val="100000"/>
              </a:lnSpc>
              <a:spcBef>
                <a:spcPts val="0"/>
              </a:spcBef>
              <a:spcAft>
                <a:spcPts val="0"/>
              </a:spcAft>
            </a:pPr>
            <a:r>
              <a:rPr sz="650">
                <a:solidFill>
                  <a:srgbClr val="D7E6F7"/>
                </a:solidFill>
                <a:latin typeface="Consolas"/>
              </a:rPr>
              <a:t>for k, v in obj.items()}</a:t>
            </a:r>
          </a:p>
          <a:p>
            <a:pPr>
              <a:lnSpc>
                <a:spcPct val="100000"/>
              </a:lnSpc>
              <a:spcBef>
                <a:spcPts val="0"/>
              </a:spcBef>
              <a:spcAft>
                <a:spcPts val="0"/>
              </a:spcAft>
            </a:pPr>
            <a:r>
              <a:rPr sz="650">
                <a:solidFill>
                  <a:srgbClr val="D7E6F7"/>
                </a:solidFill>
                <a:latin typeface="Consolas"/>
              </a:rPr>
              <a:t> </a:t>
            </a:r>
          </a:p>
          <a:p>
            <a:pPr>
              <a:lnSpc>
                <a:spcPct val="100000"/>
              </a:lnSpc>
              <a:spcBef>
                <a:spcPts val="0"/>
              </a:spcBef>
              <a:spcAft>
                <a:spcPts val="0"/>
              </a:spcAft>
            </a:pPr>
            <a:r>
              <a:rPr sz="650">
                <a:solidFill>
                  <a:srgbClr val="D7E6F7"/>
                </a:solidFill>
                <a:latin typeface="Consolas"/>
              </a:rPr>
              <a:t># Layer 2 — 10 text patterns: PEM blocks, Bearer,</a:t>
            </a:r>
          </a:p>
          <a:p>
            <a:pPr>
              <a:lnSpc>
                <a:spcPct val="100000"/>
              </a:lnSpc>
              <a:spcBef>
                <a:spcPts val="0"/>
              </a:spcBef>
              <a:spcAft>
                <a:spcPts val="0"/>
              </a:spcAft>
            </a:pPr>
            <a:r>
              <a:rPr sz="650">
                <a:solidFill>
                  <a:srgbClr val="D7E6F7"/>
                </a:solidFill>
                <a:latin typeface="Consolas"/>
              </a:rPr>
              <a:t># rnd_* Render keys, userinfo URLs, JWTs, cookies,</a:t>
            </a:r>
          </a:p>
          <a:p>
            <a:pPr>
              <a:lnSpc>
                <a:spcPct val="100000"/>
              </a:lnSpc>
              <a:spcBef>
                <a:spcPts val="0"/>
              </a:spcBef>
              <a:spcAft>
                <a:spcPts val="0"/>
              </a:spcAft>
            </a:pPr>
            <a:r>
              <a:rPr sz="650">
                <a:solidFill>
                  <a:srgbClr val="D7E6F7"/>
                </a:solidFill>
                <a:latin typeface="Consolas"/>
              </a:rPr>
              <a:t># sk/ghp/AIza prefixes, secret=value assignments</a:t>
            </a:r>
          </a:p>
          <a:p>
            <a:pPr>
              <a:lnSpc>
                <a:spcPct val="100000"/>
              </a:lnSpc>
              <a:spcBef>
                <a:spcPts val="0"/>
              </a:spcBef>
              <a:spcAft>
                <a:spcPts val="0"/>
              </a:spcAft>
            </a:pPr>
            <a:r>
              <a:rPr sz="650">
                <a:solidFill>
                  <a:srgbClr val="D7E6F7"/>
                </a:solidFill>
                <a:latin typeface="Consolas"/>
              </a:rPr>
              <a:t>for pattern, replacement in _REDACTION_PATTERNS:</a:t>
            </a:r>
          </a:p>
          <a:p>
            <a:pPr>
              <a:lnSpc>
                <a:spcPct val="100000"/>
              </a:lnSpc>
              <a:spcBef>
                <a:spcPts val="0"/>
              </a:spcBef>
              <a:spcAft>
                <a:spcPts val="0"/>
              </a:spcAft>
            </a:pPr>
            <a:r>
              <a:rPr sz="650">
                <a:solidFill>
                  <a:srgbClr val="D7E6F7"/>
                </a:solidFill>
                <a:latin typeface="Consolas"/>
              </a:rPr>
              <a:t>text = pattern.sub(replacement, text)</a:t>
            </a:r>
          </a:p>
          <a:p>
            <a:pPr>
              <a:lnSpc>
                <a:spcPct val="100000"/>
              </a:lnSpc>
              <a:spcBef>
                <a:spcPts val="0"/>
              </a:spcBef>
              <a:spcAft>
                <a:spcPts val="0"/>
              </a:spcAft>
            </a:pPr>
            <a:r>
              <a:rPr sz="650">
                <a:solidFill>
                  <a:srgbClr val="D7E6F7"/>
                </a:solidFill>
                <a:latin typeface="Consolas"/>
              </a:rPr>
              <a:t> </a:t>
            </a:r>
          </a:p>
          <a:p>
            <a:pPr>
              <a:lnSpc>
                <a:spcPct val="100000"/>
              </a:lnSpc>
              <a:spcBef>
                <a:spcPts val="0"/>
              </a:spcBef>
              <a:spcAft>
                <a:spcPts val="0"/>
              </a:spcAft>
            </a:pPr>
            <a:r>
              <a:rPr sz="650">
                <a:solidFill>
                  <a:srgbClr val="D7E6F7"/>
                </a:solidFill>
                <a:latin typeface="Consolas"/>
              </a:rPr>
              <a:t># Layer 3 — TokenGuard: the literal API key, wherever</a:t>
            </a:r>
          </a:p>
          <a:p>
            <a:pPr>
              <a:lnSpc>
                <a:spcPct val="100000"/>
              </a:lnSpc>
              <a:spcBef>
                <a:spcPts val="0"/>
              </a:spcBef>
              <a:spcAft>
                <a:spcPts val="0"/>
              </a:spcAft>
            </a:pPr>
            <a:r>
              <a:rPr sz="650">
                <a:solidFill>
                  <a:srgbClr val="D7E6F7"/>
                </a:solidFill>
                <a:latin typeface="Consolas"/>
              </a:rPr>
              <a:t># it could have leaked into a response or traceback</a:t>
            </a:r>
          </a:p>
          <a:p>
            <a:pPr>
              <a:lnSpc>
                <a:spcPct val="100000"/>
              </a:lnSpc>
              <a:spcBef>
                <a:spcPts val="0"/>
              </a:spcBef>
              <a:spcAft>
                <a:spcPts val="0"/>
              </a:spcAft>
            </a:pPr>
            <a:r>
              <a:rPr sz="650">
                <a:solidFill>
                  <a:srgbClr val="D7E6F7"/>
                </a:solidFill>
                <a:latin typeface="Consolas"/>
              </a:rPr>
              <a:t>report_text = guard(sanitize_text("\n".join(...)))</a:t>
            </a:r>
          </a:p>
        </p:txBody>
      </p:sp>
      <p:sp>
        <p:nvSpPr>
          <p:cNvPr id="14" name="Rounded Rectangle 13"/>
          <p:cNvSpPr/>
          <p:nvPr/>
        </p:nvSpPr>
        <p:spPr>
          <a:xfrm>
            <a:off x="4485851" y="3313522"/>
            <a:ext cx="3697473" cy="3123853"/>
          </a:xfrm>
          <a:prstGeom prst="roundRect">
            <a:avLst>
              <a:gd name="adj" fmla="val 5500"/>
            </a:avLst>
          </a:prstGeom>
          <a:solidFill>
            <a:srgbClr val="EFEBFD"/>
          </a:solidFill>
          <a:ln w="9525">
            <a:solidFill>
              <a:srgbClr val="6946D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5" name="Rounded Rectangle 14"/>
          <p:cNvSpPr/>
          <p:nvPr/>
        </p:nvSpPr>
        <p:spPr>
          <a:xfrm>
            <a:off x="4496824" y="3395818"/>
            <a:ext cx="41148" cy="2959261"/>
          </a:xfrm>
          <a:prstGeom prst="roundRect">
            <a:avLst>
              <a:gd name="adj" fmla="val 50000"/>
            </a:avLst>
          </a:prstGeom>
          <a:solidFill>
            <a:srgbClr val="694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13867" y="3404962"/>
            <a:ext cx="3459729"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6946D8"/>
                </a:solidFill>
                <a:latin typeface="Segoe UI"/>
              </a:rPr>
              <a:t>◇</a:t>
            </a:r>
            <a:r>
              <a:rPr sz="1180" b="0">
                <a:solidFill>
                  <a:srgbClr val="6946D8"/>
                </a:solidFill>
                <a:latin typeface="Segoe UI"/>
              </a:rPr>
              <a:t>Why the safety design is the interesting part</a:t>
            </a:r>
          </a:p>
        </p:txBody>
      </p:sp>
      <p:sp>
        <p:nvSpPr>
          <p:cNvPr id="17" name="Rounded Rectangle 16"/>
          <p:cNvSpPr/>
          <p:nvPr/>
        </p:nvSpPr>
        <p:spPr>
          <a:xfrm>
            <a:off x="4613867" y="3630895"/>
            <a:ext cx="3459729" cy="194127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Read-only by construction:</a:t>
            </a:r>
            <a:r>
              <a:rPr sz="1080" b="0">
                <a:solidFill>
                  <a:srgbClr val="0B1F3A"/>
                </a:solidFill>
                <a:latin typeface="Segoe UI"/>
              </a:rPr>
              <a:t> </a:t>
            </a:r>
            <a:r>
              <a:rPr sz="1080" b="0">
                <a:solidFill>
                  <a:srgbClr val="056ECE"/>
                </a:solidFill>
                <a:latin typeface="Consolas"/>
              </a:rPr>
              <a:t>_http_get</a:t>
            </a:r>
            <a:r>
              <a:rPr sz="1080" b="0">
                <a:solidFill>
                  <a:srgbClr val="0B1F3A"/>
                </a:solidFill>
                <a:latin typeface="Segoe UI"/>
              </a:rPr>
              <a:t> only; endpoints that return secrets are never called; </a:t>
            </a:r>
            <a:r>
              <a:rPr sz="1080" b="0">
                <a:solidFill>
                  <a:srgbClr val="056ECE"/>
                </a:solidFill>
                <a:latin typeface="Consolas"/>
              </a:rPr>
              <a:t>ipAllowList</a:t>
            </a:r>
            <a:r>
              <a:rPr sz="1080" b="0">
                <a:solidFill>
                  <a:srgbClr val="0B1F3A"/>
                </a:solidFill>
                <a:latin typeface="Segoe UI"/>
              </a:rPr>
              <a:t>/</a:t>
            </a:r>
            <a:r>
              <a:rPr sz="1080" b="0">
                <a:solidFill>
                  <a:srgbClr val="056ECE"/>
                </a:solidFill>
                <a:latin typeface="Consolas"/>
              </a:rPr>
              <a:t>sshAddress</a:t>
            </a:r>
            <a:r>
              <a:rPr sz="1080" b="0">
                <a:solidFill>
                  <a:srgbClr val="0B1F3A"/>
                </a:solidFill>
                <a:latin typeface="Segoe UI"/>
              </a:rPr>
              <a:t> are dropped from the payload.</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Explicit exit codes</a:t>
            </a:r>
            <a:r>
              <a:rPr sz="1080" b="0">
                <a:solidFill>
                  <a:srgbClr val="0B1F3A"/>
                </a:solidFill>
                <a:latin typeface="Segoe UI"/>
              </a:rPr>
              <a:t> (0 live, 3 failed-with-bundle, 4 no matching service, 5 ambiguous, 6 timed out) so CI branches on meaning, not on grep.</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Over-redaction is a deliberate preference</a:t>
            </a:r>
            <a:r>
              <a:rPr sz="1080" b="0">
                <a:solidFill>
                  <a:srgbClr val="0B1F3A"/>
                </a:solidFill>
                <a:latin typeface="Segoe UI"/>
              </a:rPr>
              <a:t> — the module says commit SHAs and request IDs must survive, credentials must not.</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Loop protection:</a:t>
            </a:r>
            <a:r>
              <a:rPr sz="1080" b="0">
                <a:solidFill>
                  <a:srgbClr val="0B1F3A"/>
                </a:solidFill>
                <a:latin typeface="Segoe UI"/>
              </a:rPr>
              <a:t> per-SHA counter, </a:t>
            </a:r>
            <a:r>
              <a:rPr sz="1080" b="0">
                <a:solidFill>
                  <a:srgbClr val="056ECE"/>
                </a:solidFill>
                <a:latin typeface="Consolas"/>
              </a:rPr>
              <a:t>MAX_ATTEMPT = 1</a:t>
            </a:r>
            <a:r>
              <a:rPr sz="1080" b="0">
                <a:solidFill>
                  <a:srgbClr val="0B1F3A"/>
                </a:solidFill>
                <a:latin typeface="Segoe UI"/>
              </a:rPr>
              <a:t>, no push to </a:t>
            </a:r>
            <a:r>
              <a:rPr sz="1080" b="0">
                <a:solidFill>
                  <a:srgbClr val="056ECE"/>
                </a:solidFill>
                <a:latin typeface="Consolas"/>
              </a:rPr>
              <a:t>main</a:t>
            </a:r>
            <a:r>
              <a:rPr sz="1080" b="0">
                <a:solidFill>
                  <a:srgbClr val="0B1F3A"/>
                </a:solidFill>
                <a:latin typeface="Segoe UI"/>
              </a:rPr>
              <a:t>, no auto-merge, auto-deploy disabled on the fix branch.</a:t>
            </a:r>
          </a:p>
        </p:txBody>
      </p:sp>
      <p:sp>
        <p:nvSpPr>
          <p:cNvPr id="18" name="Rounded Rectangle 17"/>
          <p:cNvSpPr/>
          <p:nvPr/>
        </p:nvSpPr>
        <p:spPr>
          <a:xfrm>
            <a:off x="8329629" y="3313522"/>
            <a:ext cx="3697473" cy="3123853"/>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9" name="Rounded Rectangle 18"/>
          <p:cNvSpPr/>
          <p:nvPr/>
        </p:nvSpPr>
        <p:spPr>
          <a:xfrm>
            <a:off x="8457645" y="3404962"/>
            <a:ext cx="3459729"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t>
            </a:r>
            <a:r>
              <a:rPr sz="1180" b="0">
                <a:solidFill>
                  <a:srgbClr val="062B57"/>
                </a:solidFill>
                <a:latin typeface="Segoe UI"/>
              </a:rPr>
              <a:t>What it cannot actually do (verified)</a:t>
            </a:r>
          </a:p>
        </p:txBody>
      </p:sp>
      <p:sp>
        <p:nvSpPr>
          <p:cNvPr id="20" name="Rounded Rectangle 19"/>
          <p:cNvSpPr/>
          <p:nvPr/>
        </p:nvSpPr>
        <p:spPr>
          <a:xfrm>
            <a:off x="8457645" y="3630895"/>
            <a:ext cx="3459729" cy="210037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Both fixers only </a:t>
            </a:r>
            <a:r>
              <a:rPr sz="1080" b="1">
                <a:solidFill>
                  <a:srgbClr val="0B1F3A"/>
                </a:solidFill>
                <a:latin typeface="Segoe UI"/>
              </a:rPr>
              <a:t>diagnose</a:t>
            </a:r>
            <a:r>
              <a:rPr sz="1080" b="0">
                <a:solidFill>
                  <a:srgbClr val="0B1F3A"/>
                </a:solidFill>
                <a:latin typeface="Segoe UI"/>
              </a:rPr>
              <a:t>: </a:t>
            </a:r>
            <a:r>
              <a:rPr sz="1080" b="0">
                <a:solidFill>
                  <a:srgbClr val="056ECE"/>
                </a:solidFill>
                <a:latin typeface="Consolas"/>
              </a:rPr>
              <a:t>attempt_syntax_fix</a:t>
            </a:r>
            <a:r>
              <a:rPr sz="1080" b="0">
                <a:solidFill>
                  <a:srgbClr val="0B1F3A"/>
                </a:solidFill>
                <a:latin typeface="Segoe UI"/>
              </a:rPr>
              <a:t> prints the file and line and returns 2; it never edits. The </a:t>
            </a:r>
            <a:r>
              <a:rPr sz="1080" b="0">
                <a:solidFill>
                  <a:srgbClr val="056ECE"/>
                </a:solidFill>
                <a:latin typeface="Consolas"/>
              </a:rPr>
              <a:t>import</a:t>
            </a:r>
            <a:r>
              <a:rPr sz="1080" b="0">
                <a:solidFill>
                  <a:srgbClr val="0B1F3A"/>
                </a:solidFill>
                <a:latin typeface="Segoe UI"/>
              </a:rPr>
              <a:t> fixer finds a missing package but refuses to guess a version.</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Consequence: </a:t>
            </a:r>
            <a:r>
              <a:rPr sz="1080" b="0">
                <a:solidFill>
                  <a:srgbClr val="056ECE"/>
                </a:solidFill>
                <a:latin typeface="Consolas"/>
              </a:rPr>
              <a:t>result == 0</a:t>
            </a:r>
            <a:r>
              <a:rPr sz="1080" b="0">
                <a:solidFill>
                  <a:srgbClr val="0B1F3A"/>
                </a:solidFill>
                <a:latin typeface="Segoe UI"/>
              </a:rPr>
              <a:t> is unreachable, so the PR-creation step never fires — the automation escalates reliably but does not self-heal. (Its own docstring still says “add it and validate”.)</a:t>
            </a:r>
          </a:p>
          <a:p>
            <a:pPr algn="l">
              <a:lnSpc>
                <a:spcPct val="116000"/>
              </a:lnSpc>
              <a:spcBef>
                <a:spcPts val="0"/>
              </a:spcBef>
              <a:spcAft>
                <a:spcPts val="0"/>
              </a:spcAft>
            </a:pPr>
            <a:r>
              <a:rPr sz="1080" b="0">
                <a:solidFill>
                  <a:srgbClr val="056ECE"/>
                </a:solidFill>
                <a:latin typeface="Consolas"/>
              </a:rPr>
              <a:t>▸  </a:t>
            </a:r>
            <a:r>
              <a:rPr sz="1080" b="0">
                <a:solidFill>
                  <a:srgbClr val="056ECE"/>
                </a:solidFill>
                <a:latin typeface="Consolas"/>
              </a:rPr>
              <a:t>docs/render-agent.md</a:t>
            </a:r>
            <a:r>
              <a:rPr sz="1080" b="0">
                <a:solidFill>
                  <a:srgbClr val="0B1F3A"/>
                </a:solidFill>
                <a:latin typeface="Segoe UI"/>
              </a:rPr>
              <a:t> claims “9-layer sanitization”; the implementation is 3 layers with 10 patterns.</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Counter files are gitignored, so the counter is per-run; cross-run protection rests on one env var.</a:t>
            </a:r>
          </a:p>
        </p:txBody>
      </p:sp>
      <p:sp>
        <p:nvSpPr>
          <p:cNvPr id="21" name="Rounded Rectangle 20"/>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.github/workflows/render-observe.yml · observe | remediate | escalate</a:t>
            </a:r>
            <a:r>
              <a:rPr sz="830" b="0">
                <a:solidFill>
                  <a:srgbClr val="056ECE"/>
                </a:solidFill>
                <a:latin typeface="Consolas"/>
              </a:rPr>
              <a:t>   ·   scripts/render_observe.py · FAILURE_PATTERNS, SAFE_AUTO_FIXES, TokenGuard</a:t>
            </a:r>
            <a:r>
              <a:rPr sz="830" b="0">
                <a:solidFill>
                  <a:srgbClr val="056ECE"/>
                </a:solidFill>
                <a:latin typeface="Consolas"/>
              </a:rPr>
              <a:t>   ·   scripts/render_fix.py · MAX_ATTEMPT = 1</a:t>
            </a:r>
            <a:r>
              <a:rPr sz="860" b="1">
                <a:solidFill>
                  <a:srgbClr val="F59E0B"/>
                </a:solidFill>
                <a:latin typeface="Segoe UI"/>
              </a:rPr>
              <a:t>   ·   Design intent is sound; the fix stage is the unfinished third</a:t>
            </a:r>
          </a:p>
        </p:txBody>
      </p:sp>
      <p:sp>
        <p:nvSpPr>
          <p:cNvPr id="22" name="Rounded Rectangle 21"/>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11 · SECURITY, RELIABILITY &amp; ERROR HANDLING</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250" b="0">
                <a:solidFill>
                  <a:srgbClr val="062B57"/>
                </a:solidFill>
                <a:latin typeface="Segoe UI"/>
              </a:rPr>
              <a:t>What is actually enforced — with the proof, and the three places it isn't</a:t>
            </a:r>
          </a:p>
        </p:txBody>
      </p:sp>
      <p:graphicFrame>
        <p:nvGraphicFramePr>
          <p:cNvPr id="4" name="Table 3"/>
          <p:cNvGraphicFramePr>
            <a:graphicFrameLocks noGrp="1"/>
          </p:cNvGraphicFramePr>
          <p:nvPr/>
        </p:nvGraphicFramePr>
        <p:xfrm>
          <a:off x="457200" y="1042416"/>
          <a:ext cx="6617255" cy="2464308"/>
        </p:xfrm>
        <a:graphic>
          <a:graphicData uri="http://schemas.openxmlformats.org/drawingml/2006/table">
            <a:tbl>
              <a:tblPr firstRow="1" bandRow="1">
                <a:tableStyleId>{5C22544A-7EE6-4342-B048-85BDC9FD1C3A}</a:tableStyleId>
              </a:tblPr>
              <a:tblGrid>
                <a:gridCol w="2205751"/>
                <a:gridCol w="2205751"/>
                <a:gridCol w="2205753"/>
              </a:tblGrid>
              <a:tr h="224028">
                <a:tc>
                  <a:txBody>
                    <a:bodyPr wrap="square"/>
                    <a:lstStyle/>
                    <a:p>
                      <a:pPr>
                        <a:lnSpc>
                          <a:spcPct val="100000"/>
                        </a:lnSpc>
                      </a:pPr>
                      <a:r>
                        <a:rPr sz="880" b="1">
                          <a:solidFill>
                            <a:srgbClr val="FFFFFF"/>
                          </a:solidFill>
                          <a:latin typeface="Segoe UI"/>
                        </a:rPr>
                        <a:t>Control</a:t>
                      </a:r>
                    </a:p>
                  </a:txBody>
                  <a:tcPr marL="54864" marR="45720" marT="18288" marB="18288" anchor="ctr">
                    <a:solidFill>
                      <a:srgbClr val="062B57"/>
                    </a:solidFill>
                  </a:tcPr>
                </a:tc>
                <a:tc>
                  <a:txBody>
                    <a:bodyPr wrap="square"/>
                    <a:lstStyle/>
                    <a:p>
                      <a:pPr>
                        <a:lnSpc>
                          <a:spcPct val="100000"/>
                        </a:lnSpc>
                      </a:pPr>
                      <a:r>
                        <a:rPr sz="880" b="1">
                          <a:solidFill>
                            <a:srgbClr val="FFFFFF"/>
                          </a:solidFill>
                          <a:latin typeface="Segoe UI"/>
                        </a:rPr>
                        <a:t>Implementation in this repository</a:t>
                      </a:r>
                    </a:p>
                  </a:txBody>
                  <a:tcPr marL="54864" marR="45720" marT="18288" marB="18288" anchor="ctr">
                    <a:solidFill>
                      <a:srgbClr val="062B57"/>
                    </a:solidFill>
                  </a:tcPr>
                </a:tc>
                <a:tc>
                  <a:txBody>
                    <a:bodyPr wrap="square"/>
                    <a:lstStyle/>
                    <a:p>
                      <a:pPr algn="ctr">
                        <a:lnSpc>
                          <a:spcPct val="100000"/>
                        </a:lnSpc>
                      </a:pPr>
                      <a:r>
                        <a:rPr sz="880" b="1">
                          <a:solidFill>
                            <a:srgbClr val="FFFFFF"/>
                          </a:solidFill>
                          <a:latin typeface="Segoe UI"/>
                        </a:rPr>
                        <a:t>Status</a:t>
                      </a:r>
                    </a:p>
                  </a:txBody>
                  <a:tcPr marL="54864" marR="45720" marT="18288" marB="18288" anchor="ctr">
                    <a:solidFill>
                      <a:srgbClr val="062B57"/>
                    </a:solidFill>
                  </a:tcPr>
                </a:tc>
              </a:tr>
              <a:tr h="224028">
                <a:tc>
                  <a:txBody>
                    <a:bodyPr wrap="square"/>
                    <a:lstStyle/>
                    <a:p>
                      <a:pPr>
                        <a:lnSpc>
                          <a:spcPct val="100000"/>
                        </a:lnSpc>
                      </a:pPr>
                      <a:r>
                        <a:rPr sz="860" b="1">
                          <a:solidFill>
                            <a:srgbClr val="0B1F3A"/>
                          </a:solidFill>
                          <a:latin typeface="Segoe UI"/>
                        </a:rPr>
                        <a:t>Authentication</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Server-side Flask session; session.clear() before login (fixation); 8 h lifetime; PBKDF2 hashes; hash stripped before any response</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verified</a:t>
                      </a:r>
                    </a:p>
                  </a:txBody>
                  <a:tcPr marL="54864" marR="45720" marT="18288" marB="18288" anchor="ctr">
                    <a:solidFill>
                      <a:srgbClr val="FFFFFF"/>
                    </a:solidFill>
                  </a:tcPr>
                </a:tc>
              </a:tr>
              <a:tr h="224028">
                <a:tc>
                  <a:txBody>
                    <a:bodyPr wrap="square"/>
                    <a:lstStyle/>
                    <a:p>
                      <a:pPr>
                        <a:lnSpc>
                          <a:spcPct val="100000"/>
                        </a:lnSpc>
                      </a:pPr>
                      <a:r>
                        <a:rPr sz="860" b="1">
                          <a:solidFill>
                            <a:srgbClr val="0B1F3A"/>
                          </a:solidFill>
                          <a:latin typeface="Segoe UI"/>
                        </a:rPr>
                        <a:t>Authorisation</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2 decorators × 26 routes; RBAC returns 403 (measured on /api/customers as CUSTOMER); IDOR check on shipment detail (measured 403). But role-scoped ≠ owner-scoped: a DRIVER may overwrite </a:t>
                      </a:r>
                      <a:r>
                        <a:rPr sz="860" b="0">
                          <a:solidFill>
                            <a:srgbClr val="0B1F3A"/>
                          </a:solidFill>
                          <a:latin typeface="Segoe UI"/>
                        </a:rPr>
                        <a:t>any</a:t>
                      </a:r>
                      <a:r>
                        <a:rPr sz="860" b="0">
                          <a:solidFill>
                            <a:srgbClr val="0B1F3A"/>
                          </a:solidFill>
                          <a:latin typeface="Segoe UI"/>
                        </a:rPr>
                        <a:t> shipment's status (measured 200)</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verified</a:t>
                      </a:r>
                    </a:p>
                  </a:txBody>
                  <a:tcPr marL="54864" marR="45720" marT="18288" marB="18288" anchor="ctr">
                    <a:solidFill>
                      <a:srgbClr val="F2F6FB"/>
                    </a:solidFill>
                  </a:tcPr>
                </a:tc>
              </a:tr>
              <a:tr h="224028">
                <a:tc>
                  <a:txBody>
                    <a:bodyPr wrap="square"/>
                    <a:lstStyle/>
                    <a:p>
                      <a:pPr>
                        <a:lnSpc>
                          <a:spcPct val="100000"/>
                        </a:lnSpc>
                      </a:pPr>
                      <a:r>
                        <a:rPr sz="860" b="1">
                          <a:solidFill>
                            <a:srgbClr val="0B1F3A"/>
                          </a:solidFill>
                          <a:latin typeface="Segoe UI"/>
                        </a:rPr>
                        <a:t>Cookie hardening</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HttpOnly · SameSite=Lax · Secure when not DEBUG — confirmed in a live Set-Cookie header</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verified</a:t>
                      </a:r>
                    </a:p>
                  </a:txBody>
                  <a:tcPr marL="54864" marR="45720" marT="18288" marB="18288" anchor="ctr">
                    <a:solidFill>
                      <a:srgbClr val="FFFFFF"/>
                    </a:solidFill>
                  </a:tcPr>
                </a:tc>
              </a:tr>
              <a:tr h="224028">
                <a:tc>
                  <a:txBody>
                    <a:bodyPr wrap="square"/>
                    <a:lstStyle/>
                    <a:p>
                      <a:pPr>
                        <a:lnSpc>
                          <a:spcPct val="100000"/>
                        </a:lnSpc>
                      </a:pPr>
                      <a:r>
                        <a:rPr sz="860" b="1">
                          <a:solidFill>
                            <a:srgbClr val="0B1F3A"/>
                          </a:solidFill>
                          <a:latin typeface="Segoe UI"/>
                        </a:rPr>
                        <a:t>Input handling</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Field allowlist + server-owned fields; parameterised SQL throughout; </a:t>
                      </a:r>
                      <a:r>
                        <a:rPr sz="860" b="1">
                          <a:solidFill>
                            <a:srgbClr val="0B1F3A"/>
                          </a:solidFill>
                          <a:latin typeface="Segoe UI"/>
                        </a:rPr>
                        <a:t>no</a:t>
                      </a:r>
                      <a:r>
                        <a:rPr sz="860" b="0">
                          <a:solidFill>
                            <a:srgbClr val="0B1F3A"/>
                          </a:solidFill>
                          <a:latin typeface="Segoe UI"/>
                        </a:rPr>
                        <a:t> schema validation layer — types coerced inline</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partial</a:t>
                      </a:r>
                    </a:p>
                  </a:txBody>
                  <a:tcPr marL="54864" marR="45720" marT="18288" marB="18288" anchor="ctr">
                    <a:solidFill>
                      <a:srgbClr val="F2F6FB"/>
                    </a:solidFill>
                  </a:tcPr>
                </a:tc>
              </a:tr>
              <a:tr h="224028">
                <a:tc>
                  <a:txBody>
                    <a:bodyPr wrap="square"/>
                    <a:lstStyle/>
                    <a:p>
                      <a:pPr>
                        <a:lnSpc>
                          <a:spcPct val="100000"/>
                        </a:lnSpc>
                      </a:pPr>
                      <a:r>
                        <a:rPr sz="860" b="1">
                          <a:solidFill>
                            <a:srgbClr val="0B1F3A"/>
                          </a:solidFill>
                          <a:latin typeface="Segoe UI"/>
                        </a:rPr>
                        <a:t>Rate limiting</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Default 200/min works (429 measured at request 201). The “10/min login” and “5/min OTP” limits </a:t>
                      </a:r>
                      <a:r>
                        <a:rPr sz="860" b="1">
                          <a:solidFill>
                            <a:srgbClr val="0B1F3A"/>
                          </a:solidFill>
                          <a:latin typeface="Segoe UI"/>
                        </a:rPr>
                        <a:t>do not fire</a:t>
                      </a:r>
                      <a:r>
                        <a:rPr sz="860" b="0">
                          <a:solidFill>
                            <a:srgbClr val="0B1F3A"/>
                          </a:solidFill>
                          <a:latin typeface="Segoe UI"/>
                        </a:rPr>
                        <a:t>: 25 rapid logins → all 401, no X-RateLimit headers</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gap</a:t>
                      </a:r>
                    </a:p>
                  </a:txBody>
                  <a:tcPr marL="54864" marR="45720" marT="18288" marB="18288" anchor="ctr">
                    <a:solidFill>
                      <a:srgbClr val="FFFFFF"/>
                    </a:solidFill>
                  </a:tcPr>
                </a:tc>
              </a:tr>
              <a:tr h="224028">
                <a:tc>
                  <a:txBody>
                    <a:bodyPr wrap="square"/>
                    <a:lstStyle/>
                    <a:p>
                      <a:pPr>
                        <a:lnSpc>
                          <a:spcPct val="100000"/>
                        </a:lnSpc>
                      </a:pPr>
                      <a:r>
                        <a:rPr sz="860" b="1">
                          <a:solidFill>
                            <a:srgbClr val="0B1F3A"/>
                          </a:solidFill>
                          <a:latin typeface="Segoe UI"/>
                        </a:rPr>
                        <a:t>Secrets</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Config raises RuntimeError in prod without SECRET_KEY; seed passwords env-only; gitleaks pre-commit + CI; historical leak documented with a SHA-scoped allowlist</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verified</a:t>
                      </a:r>
                    </a:p>
                  </a:txBody>
                  <a:tcPr marL="54864" marR="45720" marT="18288" marB="18288" anchor="ctr">
                    <a:solidFill>
                      <a:srgbClr val="F2F6FB"/>
                    </a:solidFill>
                  </a:tcPr>
                </a:tc>
              </a:tr>
              <a:tr h="224028">
                <a:tc>
                  <a:txBody>
                    <a:bodyPr wrap="square"/>
                    <a:lstStyle/>
                    <a:p>
                      <a:pPr>
                        <a:lnSpc>
                          <a:spcPct val="100000"/>
                        </a:lnSpc>
                      </a:pPr>
                      <a:r>
                        <a:rPr sz="860" b="1">
                          <a:solidFill>
                            <a:srgbClr val="0B1F3A"/>
                          </a:solidFill>
                          <a:latin typeface="Segoe UI"/>
                        </a:rPr>
                        <a:t>Audit logging</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11 structured JSON events, PII redacted (ad**@domain); log lines confirmed in a real run. No correlation ID; IP recorded as proxy IP (no ProxyFix)</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partial</a:t>
                      </a:r>
                    </a:p>
                  </a:txBody>
                  <a:tcPr marL="54864" marR="45720" marT="18288" marB="18288" anchor="ctr">
                    <a:solidFill>
                      <a:srgbClr val="FFFFFF"/>
                    </a:solidFill>
                  </a:tcPr>
                </a:tc>
              </a:tr>
              <a:tr h="224028">
                <a:tc>
                  <a:txBody>
                    <a:bodyPr wrap="square"/>
                    <a:lstStyle/>
                    <a:p>
                      <a:pPr>
                        <a:lnSpc>
                          <a:spcPct val="100000"/>
                        </a:lnSpc>
                      </a:pPr>
                      <a:r>
                        <a:rPr sz="860" b="1">
                          <a:solidFill>
                            <a:srgbClr val="0B1F3A"/>
                          </a:solidFill>
                          <a:latin typeface="Segoe UI"/>
                        </a:rPr>
                        <a:t>Error handling</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One handler: 429. Everything else → uncaught; DB connections closed manually with no </a:t>
                      </a:r>
                      <a:r>
                        <a:rPr sz="860" b="0">
                          <a:solidFill>
                            <a:srgbClr val="056ECE"/>
                          </a:solidFill>
                          <a:latin typeface="Consolas"/>
                        </a:rPr>
                        <a:t>finally</a:t>
                      </a:r>
                      <a:r>
                        <a:rPr sz="860" b="0">
                          <a:solidFill>
                            <a:srgbClr val="0B1F3A"/>
                          </a:solidFill>
                          <a:latin typeface="Segoe UI"/>
                        </a:rPr>
                        <a:t>, and debug mode renders the SQL error to the client</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gap</a:t>
                      </a:r>
                    </a:p>
                  </a:txBody>
                  <a:tcPr marL="54864" marR="45720" marT="18288" marB="18288" anchor="ctr">
                    <a:solidFill>
                      <a:srgbClr val="F2F6FB"/>
                    </a:solidFill>
                  </a:tcPr>
                </a:tc>
              </a:tr>
              <a:tr h="224028">
                <a:tc>
                  <a:txBody>
                    <a:bodyPr wrap="square"/>
                    <a:lstStyle/>
                    <a:p>
                      <a:pPr>
                        <a:lnSpc>
                          <a:spcPct val="100000"/>
                        </a:lnSpc>
                      </a:pPr>
                      <a:r>
                        <a:rPr sz="860" b="1">
                          <a:solidFill>
                            <a:srgbClr val="0B1F3A"/>
                          </a:solidFill>
                          <a:latin typeface="Segoe UI"/>
                        </a:rPr>
                        <a:t>CSRF · headers</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SameSite=Lax only; no CSRF token, no CSP / HSTS / X-Frame-Options anywhere in the repo</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gap</a:t>
                      </a:r>
                    </a:p>
                  </a:txBody>
                  <a:tcPr marL="54864" marR="45720" marT="18288" marB="18288" anchor="ctr">
                    <a:solidFill>
                      <a:srgbClr val="FFFFFF"/>
                    </a:solidFill>
                  </a:tcPr>
                </a:tc>
              </a:tr>
              <a:tr h="224028">
                <a:tc>
                  <a:txBody>
                    <a:bodyPr wrap="square"/>
                    <a:lstStyle/>
                    <a:p>
                      <a:pPr>
                        <a:lnSpc>
                          <a:spcPct val="100000"/>
                        </a:lnSpc>
                      </a:pPr>
                      <a:r>
                        <a:rPr sz="860" b="1">
                          <a:solidFill>
                            <a:srgbClr val="0B1F3A"/>
                          </a:solidFill>
                          <a:latin typeface="Segoe UI"/>
                        </a:rPr>
                        <a:t>Resilience</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No retries, no circuit breaker, no idempotency keys, no backoff on the DB path; DB-init failure is </a:t>
                      </a:r>
                      <a:r>
                        <a:rPr sz="860" b="0">
                          <a:solidFill>
                            <a:srgbClr val="056ECE"/>
                          </a:solidFill>
                          <a:latin typeface="Consolas"/>
                        </a:rPr>
                        <a:t>print</a:t>
                      </a:r>
                      <a:r>
                        <a:rPr sz="860" b="0">
                          <a:solidFill>
                            <a:srgbClr val="0B1F3A"/>
                          </a:solidFill>
                          <a:latin typeface="Segoe UI"/>
                        </a:rPr>
                        <a:t>ed and the app boots anyway</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gap</a:t>
                      </a:r>
                    </a:p>
                  </a:txBody>
                  <a:tcPr marL="54864" marR="45720" marT="18288" marB="18288" anchor="ctr">
                    <a:solidFill>
                      <a:srgbClr val="F2F6FB"/>
                    </a:solidFill>
                  </a:tcPr>
                </a:tc>
              </a:tr>
            </a:tbl>
          </a:graphicData>
        </a:graphic>
      </p:graphicFrame>
      <p:sp>
        <p:nvSpPr>
          <p:cNvPr id="5" name="Rounded Rectangle 4"/>
          <p:cNvSpPr/>
          <p:nvPr/>
        </p:nvSpPr>
        <p:spPr>
          <a:xfrm>
            <a:off x="7220759" y="1042416"/>
            <a:ext cx="4660039" cy="1168018"/>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backend/logger.py</a:t>
            </a:r>
            <a:r>
              <a:rPr sz="550">
                <a:solidFill>
                  <a:srgbClr val="9FB6CE"/>
                </a:solidFill>
                <a:latin typeface="Segoe UI"/>
              </a:rPr>
              <a:t>   real line from a real login attempt</a:t>
            </a:r>
          </a:p>
          <a:p>
            <a:pPr>
              <a:lnSpc>
                <a:spcPct val="100000"/>
              </a:lnSpc>
              <a:spcBef>
                <a:spcPts val="0"/>
              </a:spcBef>
              <a:spcAft>
                <a:spcPts val="0"/>
              </a:spcAft>
            </a:pPr>
            <a:r>
              <a:rPr sz="650">
                <a:solidFill>
                  <a:srgbClr val="D7E6F7"/>
                </a:solidFill>
                <a:latin typeface="Consolas"/>
              </a:rPr>
              <a:t>{"timestamp": "2026-09-12T08:17:47Z",</a:t>
            </a:r>
          </a:p>
          <a:p>
            <a:pPr>
              <a:lnSpc>
                <a:spcPct val="100000"/>
              </a:lnSpc>
              <a:spcBef>
                <a:spcPts val="0"/>
              </a:spcBef>
              <a:spcAft>
                <a:spcPts val="0"/>
              </a:spcAft>
            </a:pPr>
            <a:r>
              <a:rPr sz="650">
                <a:solidFill>
                  <a:srgbClr val="D7E6F7"/>
                </a:solidFill>
                <a:latin typeface="Consolas"/>
              </a:rPr>
              <a:t>"event": "LOGIN_FAILURE",</a:t>
            </a:r>
          </a:p>
          <a:p>
            <a:pPr>
              <a:lnSpc>
                <a:spcPct val="100000"/>
              </a:lnSpc>
              <a:spcBef>
                <a:spcPts val="0"/>
              </a:spcBef>
              <a:spcAft>
                <a:spcPts val="0"/>
              </a:spcAft>
            </a:pPr>
            <a:r>
              <a:rPr sz="650">
                <a:solidFill>
                  <a:srgbClr val="D7E6F7"/>
                </a:solidFill>
                <a:latin typeface="Consolas"/>
              </a:rPr>
              <a:t>"email": "no**@x.com", # ← PII redacted</a:t>
            </a:r>
          </a:p>
          <a:p>
            <a:pPr>
              <a:lnSpc>
                <a:spcPct val="100000"/>
              </a:lnSpc>
              <a:spcBef>
                <a:spcPts val="0"/>
              </a:spcBef>
              <a:spcAft>
                <a:spcPts val="0"/>
              </a:spcAft>
            </a:pPr>
            <a:r>
              <a:rPr sz="650">
                <a:solidFill>
                  <a:srgbClr val="D7E6F7"/>
                </a:solidFill>
                <a:latin typeface="Consolas"/>
              </a:rPr>
              <a:t>"ip": "127.0.0.1",</a:t>
            </a:r>
          </a:p>
          <a:p>
            <a:pPr>
              <a:lnSpc>
                <a:spcPct val="100000"/>
              </a:lnSpc>
              <a:spcBef>
                <a:spcPts val="0"/>
              </a:spcBef>
              <a:spcAft>
                <a:spcPts val="0"/>
              </a:spcAft>
            </a:pPr>
            <a:r>
              <a:rPr sz="650">
                <a:solidFill>
                  <a:srgbClr val="D7E6F7"/>
                </a:solidFill>
                <a:latin typeface="Consolas"/>
              </a:rPr>
              <a:t>"reason": "user_not_found" } # ← same message for</a:t>
            </a:r>
          </a:p>
          <a:p>
            <a:pPr>
              <a:lnSpc>
                <a:spcPct val="100000"/>
              </a:lnSpc>
              <a:spcBef>
                <a:spcPts val="0"/>
              </a:spcBef>
              <a:spcAft>
                <a:spcPts val="0"/>
              </a:spcAft>
            </a:pPr>
            <a:r>
              <a:rPr sz="650">
                <a:solidFill>
                  <a:srgbClr val="D7E6F7"/>
                </a:solidFill>
                <a:latin typeface="Consolas"/>
              </a:rPr>
              <a:t># unknown user and</a:t>
            </a:r>
          </a:p>
          <a:p>
            <a:pPr>
              <a:lnSpc>
                <a:spcPct val="100000"/>
              </a:lnSpc>
              <a:spcBef>
                <a:spcPts val="0"/>
              </a:spcBef>
              <a:spcAft>
                <a:spcPts val="0"/>
              </a:spcAft>
            </a:pPr>
            <a:r>
              <a:rPr sz="650">
                <a:solidFill>
                  <a:srgbClr val="D7E6F7"/>
                </a:solidFill>
                <a:latin typeface="Consolas"/>
              </a:rPr>
              <a:t># bad password</a:t>
            </a:r>
          </a:p>
        </p:txBody>
      </p:sp>
      <p:sp>
        <p:nvSpPr>
          <p:cNvPr id="6" name="Rounded Rectangle 5"/>
          <p:cNvSpPr/>
          <p:nvPr/>
        </p:nvSpPr>
        <p:spPr>
          <a:xfrm>
            <a:off x="7220759" y="2988761"/>
            <a:ext cx="4660039" cy="2079642"/>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7" name="Rounded Rectangle 6"/>
          <p:cNvSpPr/>
          <p:nvPr/>
        </p:nvSpPr>
        <p:spPr>
          <a:xfrm>
            <a:off x="7348775" y="3080201"/>
            <a:ext cx="4422295"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The three gaps, and their one-line fixes</a:t>
            </a:r>
          </a:p>
        </p:txBody>
      </p:sp>
      <p:sp>
        <p:nvSpPr>
          <p:cNvPr id="8" name="Rounded Rectangle 7"/>
          <p:cNvSpPr/>
          <p:nvPr/>
        </p:nvSpPr>
        <p:spPr>
          <a:xfrm>
            <a:off x="7348775" y="3306134"/>
            <a:ext cx="4422295" cy="146395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1.  </a:t>
            </a:r>
            <a:r>
              <a:rPr sz="1080" b="1">
                <a:solidFill>
                  <a:srgbClr val="0B1F3A"/>
                </a:solidFill>
                <a:latin typeface="Segoe UI"/>
              </a:rPr>
              <a:t>Per-route limits never attach.</a:t>
            </a:r>
            <a:r>
              <a:rPr sz="1080" b="0">
                <a:solidFill>
                  <a:srgbClr val="0B1F3A"/>
                </a:solidFill>
                <a:latin typeface="Segoe UI"/>
              </a:rPr>
              <a:t> </a:t>
            </a:r>
            <a:r>
              <a:rPr sz="1080" b="0">
                <a:solidFill>
                  <a:srgbClr val="056ECE"/>
                </a:solidFill>
                <a:latin typeface="Consolas"/>
              </a:rPr>
              <a:t>limiter.limit(...)</a:t>
            </a:r>
            <a:r>
              <a:rPr sz="1080" b="0">
                <a:solidFill>
                  <a:srgbClr val="0B1F3A"/>
                </a:solidFill>
                <a:latin typeface="Segoe UI"/>
              </a:rPr>
              <a:t> is applied to the view after </a:t>
            </a:r>
            <a:r>
              <a:rPr sz="1080" b="0">
                <a:solidFill>
                  <a:srgbClr val="056ECE"/>
                </a:solidFill>
                <a:latin typeface="Consolas"/>
              </a:rPr>
              <a:t>register_blueprint()</a:t>
            </a:r>
            <a:r>
              <a:rPr sz="1080" b="0">
                <a:solidFill>
                  <a:srgbClr val="0B1F3A"/>
                </a:solidFill>
                <a:latin typeface="Segoe UI"/>
              </a:rPr>
              <a:t>, which flask-limiter does not re-read. Fix: decorate the function in </a:t>
            </a:r>
            <a:r>
              <a:rPr sz="1080" b="0">
                <a:solidFill>
                  <a:srgbClr val="056ECE"/>
                </a:solidFill>
                <a:latin typeface="Consolas"/>
              </a:rPr>
              <a:t>routes.py</a:t>
            </a:r>
            <a:r>
              <a:rPr sz="1080" b="0">
                <a:solidFill>
                  <a:srgbClr val="0B1F3A"/>
                </a:solidFill>
                <a:latin typeface="Segoe UI"/>
              </a:rPr>
              <a:t>.</a:t>
            </a:r>
          </a:p>
          <a:p>
            <a:pPr algn="l">
              <a:lnSpc>
                <a:spcPct val="116000"/>
              </a:lnSpc>
              <a:spcBef>
                <a:spcPts val="0"/>
              </a:spcBef>
              <a:spcAft>
                <a:spcPts val="0"/>
              </a:spcAft>
            </a:pPr>
            <a:r>
              <a:rPr sz="1080" b="0">
                <a:solidFill>
                  <a:srgbClr val="056ECE"/>
                </a:solidFill>
                <a:latin typeface="Consolas"/>
              </a:rPr>
              <a:t>2.  </a:t>
            </a:r>
            <a:r>
              <a:rPr sz="1080" b="1">
                <a:solidFill>
                  <a:srgbClr val="0B1F3A"/>
                </a:solidFill>
                <a:latin typeface="Segoe UI"/>
              </a:rPr>
              <a:t>Leaked DB connections on failure.</a:t>
            </a:r>
            <a:r>
              <a:rPr sz="1080" b="0">
                <a:solidFill>
                  <a:srgbClr val="0B1F3A"/>
                </a:solidFill>
                <a:latin typeface="Segoe UI"/>
              </a:rPr>
              <a:t> On an exception between </a:t>
            </a:r>
            <a:r>
              <a:rPr sz="1080" b="0">
                <a:solidFill>
                  <a:srgbClr val="056ECE"/>
                </a:solidFill>
                <a:latin typeface="Consolas"/>
              </a:rPr>
              <a:t>get_db_connection()</a:t>
            </a:r>
            <a:r>
              <a:rPr sz="1080" b="0">
                <a:solidFill>
                  <a:srgbClr val="0B1F3A"/>
                </a:solidFill>
                <a:latin typeface="Segoe UI"/>
              </a:rPr>
              <a:t> and </a:t>
            </a:r>
            <a:r>
              <a:rPr sz="1080" b="0">
                <a:solidFill>
                  <a:srgbClr val="056ECE"/>
                </a:solidFill>
                <a:latin typeface="Consolas"/>
              </a:rPr>
              <a:t>conn.close()</a:t>
            </a:r>
            <a:r>
              <a:rPr sz="1080" b="0">
                <a:solidFill>
                  <a:srgbClr val="0B1F3A"/>
                </a:solidFill>
                <a:latin typeface="Segoe UI"/>
              </a:rPr>
              <a:t>, the connection stays open holding SQLite's write lock → subsequent writes fail with </a:t>
            </a:r>
            <a:r>
              <a:rPr sz="1080" b="0">
                <a:solidFill>
                  <a:srgbClr val="056ECE"/>
                </a:solidFill>
                <a:latin typeface="Consolas"/>
              </a:rPr>
              <a:t>database is locked</a:t>
            </a:r>
            <a:r>
              <a:rPr sz="1080" b="0">
                <a:solidFill>
                  <a:srgbClr val="0B1F3A"/>
                </a:solidFill>
                <a:latin typeface="Segoe UI"/>
              </a:rPr>
              <a:t>. Fix: </a:t>
            </a:r>
            <a:r>
              <a:rPr sz="1080" b="0">
                <a:solidFill>
                  <a:srgbClr val="056ECE"/>
                </a:solidFill>
                <a:latin typeface="Consolas"/>
              </a:rPr>
              <a:t>try/finally</a:t>
            </a:r>
            <a:r>
              <a:rPr sz="1080" b="0">
                <a:solidFill>
                  <a:srgbClr val="0B1F3A"/>
                </a:solidFill>
                <a:latin typeface="Segoe UI"/>
              </a:rPr>
              <a:t> or a </a:t>
            </a:r>
            <a:r>
              <a:rPr sz="1080" b="0">
                <a:solidFill>
                  <a:srgbClr val="056ECE"/>
                </a:solidFill>
                <a:latin typeface="Consolas"/>
              </a:rPr>
              <a:t>@contextmanager</a:t>
            </a:r>
            <a:r>
              <a:rPr sz="1080" b="0">
                <a:solidFill>
                  <a:srgbClr val="0B1F3A"/>
                </a:solidFill>
                <a:latin typeface="Segoe UI"/>
              </a:rPr>
              <a:t>.</a:t>
            </a:r>
          </a:p>
          <a:p>
            <a:pPr algn="l">
              <a:lnSpc>
                <a:spcPct val="116000"/>
              </a:lnSpc>
              <a:spcBef>
                <a:spcPts val="0"/>
              </a:spcBef>
              <a:spcAft>
                <a:spcPts val="0"/>
              </a:spcAft>
            </a:pPr>
            <a:r>
              <a:rPr sz="1080" b="0">
                <a:solidFill>
                  <a:srgbClr val="056ECE"/>
                </a:solidFill>
                <a:latin typeface="Consolas"/>
              </a:rPr>
              <a:t>3.  </a:t>
            </a:r>
            <a:r>
              <a:rPr sz="1080" b="1">
                <a:solidFill>
                  <a:srgbClr val="0B1F3A"/>
                </a:solidFill>
                <a:latin typeface="Segoe UI"/>
              </a:rPr>
              <a:t>Client identity vs. owner field.</a:t>
            </a:r>
            <a:r>
              <a:rPr sz="1080" b="0">
                <a:solidFill>
                  <a:srgbClr val="0B1F3A"/>
                </a:solidFill>
                <a:latin typeface="Segoe UI"/>
              </a:rPr>
              <a:t> </a:t>
            </a:r>
            <a:r>
              <a:rPr sz="1080" b="0">
                <a:solidFill>
                  <a:srgbClr val="056ECE"/>
                </a:solidFill>
                <a:latin typeface="Consolas"/>
              </a:rPr>
              <a:t>customer_id</a:t>
            </a:r>
            <a:r>
              <a:rPr sz="1080" b="0">
                <a:solidFill>
                  <a:srgbClr val="0B1F3A"/>
                </a:solidFill>
                <a:latin typeface="Segoe UI"/>
              </a:rPr>
              <a:t> bypasses the allowlist (slide 8); FK violation is the only thing that stops it.</a:t>
            </a:r>
          </a:p>
        </p:txBody>
      </p:sp>
      <p:sp>
        <p:nvSpPr>
          <p:cNvPr id="9" name="Rounded Rectangle 8"/>
          <p:cNvSpPr/>
          <p:nvPr/>
        </p:nvSpPr>
        <p:spPr>
          <a:xfrm>
            <a:off x="7220759" y="5214708"/>
            <a:ext cx="4660039" cy="1222667"/>
          </a:xfrm>
          <a:prstGeom prst="roundRect">
            <a:avLst>
              <a:gd name="adj" fmla="val 5500"/>
            </a:avLst>
          </a:prstGeom>
          <a:solidFill>
            <a:srgbClr val="E5F8EE"/>
          </a:solidFill>
          <a:ln w="9525">
            <a:solidFill>
              <a:srgbClr val="08A75A"/>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0" name="Rounded Rectangle 9"/>
          <p:cNvSpPr/>
          <p:nvPr/>
        </p:nvSpPr>
        <p:spPr>
          <a:xfrm>
            <a:off x="7231732" y="5297004"/>
            <a:ext cx="41148" cy="1058075"/>
          </a:xfrm>
          <a:prstGeom prst="roundRect">
            <a:avLst>
              <a:gd name="adj" fmla="val 50000"/>
            </a:avLst>
          </a:prstGeom>
          <a:solidFill>
            <a:srgbClr val="08A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48775" y="5306148"/>
            <a:ext cx="4422295"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8A75A"/>
                </a:solidFill>
                <a:latin typeface="Segoe UI"/>
              </a:rPr>
              <a:t>✓</a:t>
            </a:r>
            <a:r>
              <a:rPr sz="1180" b="0">
                <a:solidFill>
                  <a:srgbClr val="08A75A"/>
                </a:solidFill>
                <a:latin typeface="Segoe UI"/>
              </a:rPr>
              <a:t>Injection check</a:t>
            </a:r>
          </a:p>
        </p:txBody>
      </p:sp>
      <p:sp>
        <p:nvSpPr>
          <p:cNvPr id="12" name="Rounded Rectangle 11"/>
          <p:cNvSpPr/>
          <p:nvPr/>
        </p:nvSpPr>
        <p:spPr>
          <a:xfrm>
            <a:off x="7348775" y="5532081"/>
            <a:ext cx="4422295" cy="66842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?search=' OR 1=1--</a:t>
            </a:r>
            <a:r>
              <a:rPr sz="1080" b="0">
                <a:solidFill>
                  <a:srgbClr val="0B1F3A"/>
                </a:solidFill>
                <a:latin typeface="Segoe UI"/>
              </a:rPr>
              <a:t> returned an empty result set, and a non-enum status was rejected by the schema's </a:t>
            </a:r>
            <a:r>
              <a:rPr sz="1080" b="0">
                <a:solidFill>
                  <a:srgbClr val="056ECE"/>
                </a:solidFill>
                <a:latin typeface="Consolas"/>
              </a:rPr>
              <a:t>CHECK</a:t>
            </a:r>
            <a:r>
              <a:rPr sz="1080" b="0">
                <a:solidFill>
                  <a:srgbClr val="0B1F3A"/>
                </a:solidFill>
                <a:latin typeface="Segoe UI"/>
              </a:rPr>
              <a:t>. There is no string-formatted SQL in the backend: every query I read uses </a:t>
            </a:r>
            <a:r>
              <a:rPr sz="1080" b="0">
                <a:solidFill>
                  <a:srgbClr val="056ECE"/>
                </a:solidFill>
                <a:latin typeface="Consolas"/>
              </a:rPr>
              <a:t>?</a:t>
            </a:r>
            <a:r>
              <a:rPr sz="1080" b="0">
                <a:solidFill>
                  <a:srgbClr val="0B1F3A"/>
                </a:solidFill>
                <a:latin typeface="Segoe UI"/>
              </a:rPr>
              <a:t> placeholders — including the ops scripts.</a:t>
            </a:r>
          </a:p>
        </p:txBody>
      </p:sp>
      <p:sp>
        <p:nvSpPr>
          <p:cNvPr id="13" name="Rounded Rectangle 12"/>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backend/auth.py</a:t>
            </a:r>
            <a:r>
              <a:rPr sz="830" b="0">
                <a:solidFill>
                  <a:srgbClr val="056ECE"/>
                </a:solidFill>
                <a:latin typeface="Consolas"/>
              </a:rPr>
              <a:t>   ·   backend/app.py · limiter + errorhandler(429)</a:t>
            </a:r>
            <a:r>
              <a:rPr sz="830" b="0">
                <a:solidFill>
                  <a:srgbClr val="056ECE"/>
                </a:solidFill>
                <a:latin typeface="Consolas"/>
              </a:rPr>
              <a:t>   ·   backend/services.py · _SHIPMENT_ALLOWED_FIELDS</a:t>
            </a:r>
            <a:r>
              <a:rPr sz="830" b="0">
                <a:solidFill>
                  <a:srgbClr val="056ECE"/>
                </a:solidFill>
                <a:latin typeface="Consolas"/>
              </a:rPr>
              <a:t>   ·   docs/SECURITY_AUDIT.md · F-01…F-15</a:t>
            </a:r>
            <a:r>
              <a:rPr sz="860" b="1">
                <a:solidFill>
                  <a:srgbClr val="08A75A"/>
                </a:solidFill>
                <a:latin typeface="Segoe UI"/>
              </a:rPr>
              <a:t>   ·   Green rows reproduced by me</a:t>
            </a:r>
            <a:r>
              <a:rPr sz="860" b="1">
                <a:solidFill>
                  <a:srgbClr val="EF3348"/>
                </a:solidFill>
                <a:latin typeface="Segoe UI"/>
              </a:rPr>
              <a:t>   ·   Amber/red rows reproduced too — they are not guesses</a:t>
            </a:r>
          </a:p>
        </p:txBody>
      </p:sp>
      <p:sp>
        <p:nvSpPr>
          <p:cNvPr id="14" name="Rounded Rectangle 13"/>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12 · TESTING &amp; QUALITY</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500" b="0">
                <a:solidFill>
                  <a:srgbClr val="062B57"/>
                </a:solidFill>
                <a:latin typeface="Segoe UI"/>
              </a:rPr>
              <a:t>Strong gates, no tests — an honest picture of the quality bar</a:t>
            </a:r>
          </a:p>
        </p:txBody>
      </p:sp>
      <p:sp>
        <p:nvSpPr>
          <p:cNvPr id="4" name="Rounded Rectangle 3"/>
          <p:cNvSpPr/>
          <p:nvPr/>
        </p:nvSpPr>
        <p:spPr>
          <a:xfrm>
            <a:off x="457200" y="1042416"/>
            <a:ext cx="6374123" cy="1234124"/>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5" name="Rounded Rectangle 4"/>
          <p:cNvSpPr/>
          <p:nvPr/>
        </p:nvSpPr>
        <p:spPr>
          <a:xfrm>
            <a:off x="585216" y="1133856"/>
            <a:ext cx="6136379" cy="16802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019" b="0">
                <a:solidFill>
                  <a:srgbClr val="062B57"/>
                </a:solidFill>
                <a:latin typeface="Segoe UI"/>
              </a:rPr>
              <a:t>▶</a:t>
            </a:r>
            <a:r>
              <a:rPr sz="1019" b="0">
                <a:solidFill>
                  <a:srgbClr val="062B57"/>
                </a:solidFill>
                <a:latin typeface="Segoe UI"/>
              </a:rPr>
              <a:t>CI job 1 — </a:t>
            </a:r>
            <a:r>
              <a:rPr sz="1019" b="0">
                <a:solidFill>
                  <a:srgbClr val="056ECE"/>
                </a:solidFill>
                <a:latin typeface="Consolas"/>
              </a:rPr>
              <a:t>fast-checks</a:t>
            </a:r>
            <a:r>
              <a:rPr sz="1019" b="0">
                <a:solidFill>
                  <a:srgbClr val="062B57"/>
                </a:solidFill>
                <a:latin typeface="Segoe UI"/>
              </a:rPr>
              <a:t> (&lt; 60 s, blocks merge)</a:t>
            </a:r>
          </a:p>
        </p:txBody>
      </p:sp>
      <p:sp>
        <p:nvSpPr>
          <p:cNvPr id="6" name="Rounded Rectangle 5"/>
          <p:cNvSpPr/>
          <p:nvPr/>
        </p:nvSpPr>
        <p:spPr>
          <a:xfrm>
            <a:off x="585216" y="1338453"/>
            <a:ext cx="6136379" cy="28803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spcBef>
                <a:spcPts val="0"/>
              </a:spcBef>
              <a:spcAft>
                <a:spcPts val="0"/>
              </a:spcAft>
            </a:pPr>
            <a:r>
              <a:rPr sz="839" b="0">
                <a:solidFill>
                  <a:srgbClr val="056ECE"/>
                </a:solidFill>
                <a:latin typeface="Consolas"/>
              </a:rPr>
              <a:t>py_compile · 11 files   ·   gitleaks · fetch-depth 0   ·   semgrep --config .semgrep.yml --error   ·   YAML parse of every workflow   ·   prohibited-files grep (.db · .env · __pycache__)</a:t>
            </a:r>
          </a:p>
        </p:txBody>
      </p:sp>
      <p:sp>
        <p:nvSpPr>
          <p:cNvPr id="7" name="Rounded Rectangle 6"/>
          <p:cNvSpPr/>
          <p:nvPr/>
        </p:nvSpPr>
        <p:spPr>
          <a:xfrm>
            <a:off x="585216" y="1679524"/>
            <a:ext cx="6136379" cy="52386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19" b="0">
                <a:solidFill>
                  <a:srgbClr val="0B1F3A"/>
                </a:solidFill>
                <a:latin typeface="Segoe UI"/>
              </a:rPr>
              <a:t>Least privilege is declared at workflow level (</a:t>
            </a:r>
            <a:r>
              <a:rPr sz="919" b="0">
                <a:solidFill>
                  <a:srgbClr val="056ECE"/>
                </a:solidFill>
                <a:latin typeface="Consolas"/>
              </a:rPr>
              <a:t>permissions: contents: read</a:t>
            </a:r>
            <a:r>
              <a:rPr sz="919" b="0">
                <a:solidFill>
                  <a:srgbClr val="0B1F3A"/>
                </a:solidFill>
                <a:latin typeface="Segoe UI"/>
              </a:rPr>
              <a:t>) and the </a:t>
            </a:r>
            <a:r>
              <a:rPr sz="919" b="0">
                <a:solidFill>
                  <a:srgbClr val="056ECE"/>
                </a:solidFill>
                <a:latin typeface="Consolas"/>
              </a:rPr>
              <a:t>fast-checks</a:t>
            </a:r>
            <a:r>
              <a:rPr sz="919" b="0">
                <a:solidFill>
                  <a:srgbClr val="0B1F3A"/>
                </a:solidFill>
                <a:latin typeface="Segoe UI"/>
              </a:rPr>
              <a:t> job blocks the test job, so a leaked secret never reaches the second stage. I reproduced steps 1, 3, 4 and 5 on this checkout — </a:t>
            </a:r>
            <a:r>
              <a:rPr sz="919" b="0">
                <a:solidFill>
                  <a:srgbClr val="056ECE"/>
                </a:solidFill>
                <a:latin typeface="Consolas"/>
              </a:rPr>
              <a:t>py_compile</a:t>
            </a:r>
            <a:r>
              <a:rPr sz="919" b="0">
                <a:solidFill>
                  <a:srgbClr val="0B1F3A"/>
                </a:solidFill>
                <a:latin typeface="Segoe UI"/>
              </a:rPr>
              <a:t>, Semgrep, YAML parse and the prohibited-file check — </a:t>
            </a:r>
            <a:r>
              <a:rPr sz="919" b="1">
                <a:solidFill>
                  <a:srgbClr val="0B1F3A"/>
                </a:solidFill>
                <a:latin typeface="Segoe UI"/>
              </a:rPr>
              <a:t>all clean</a:t>
            </a:r>
            <a:r>
              <a:rPr sz="919" b="0">
                <a:solidFill>
                  <a:srgbClr val="0B1F3A"/>
                </a:solidFill>
                <a:latin typeface="Segoe UI"/>
              </a:rPr>
              <a:t>. (Gitleaks needs its own binary, so that one I read rather than ran.)</a:t>
            </a:r>
          </a:p>
        </p:txBody>
      </p:sp>
      <p:sp>
        <p:nvSpPr>
          <p:cNvPr id="8" name="Rounded Rectangle 7"/>
          <p:cNvSpPr/>
          <p:nvPr/>
        </p:nvSpPr>
        <p:spPr>
          <a:xfrm>
            <a:off x="457200" y="2422844"/>
            <a:ext cx="6374123" cy="1881874"/>
          </a:xfrm>
          <a:prstGeom prst="roundRect">
            <a:avLst>
              <a:gd name="adj" fmla="val 5500"/>
            </a:avLst>
          </a:prstGeom>
          <a:solidFill>
            <a:srgbClr val="FEF4E2"/>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9" name="Rounded Rectangle 8"/>
          <p:cNvSpPr/>
          <p:nvPr/>
        </p:nvSpPr>
        <p:spPr>
          <a:xfrm>
            <a:off x="468172" y="2505140"/>
            <a:ext cx="41148" cy="1717282"/>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5216" y="2514284"/>
            <a:ext cx="6136379" cy="16268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980" b="0">
                <a:solidFill>
                  <a:srgbClr val="F59E0B"/>
                </a:solidFill>
                <a:latin typeface="Segoe UI"/>
              </a:rPr>
              <a:t>!</a:t>
            </a:r>
            <a:r>
              <a:rPr sz="980" b="0">
                <a:solidFill>
                  <a:srgbClr val="F59E0B"/>
                </a:solidFill>
                <a:latin typeface="Segoe UI"/>
              </a:rPr>
              <a:t>CI job 2 — </a:t>
            </a:r>
            <a:r>
              <a:rPr sz="980" b="0">
                <a:solidFill>
                  <a:srgbClr val="056ECE"/>
                </a:solidFill>
                <a:latin typeface="Consolas"/>
              </a:rPr>
              <a:t>test-sqlite</a:t>
            </a:r>
            <a:r>
              <a:rPr sz="980" b="0">
                <a:solidFill>
                  <a:srgbClr val="F59E0B"/>
                </a:solidFill>
                <a:latin typeface="Segoe UI"/>
              </a:rPr>
              <a:t> is green </a:t>
            </a:r>
            <a:r>
              <a:rPr sz="980" b="0">
                <a:solidFill>
                  <a:srgbClr val="F59E0B"/>
                </a:solidFill>
                <a:latin typeface="Segoe UI"/>
              </a:rPr>
              <a:t>vacuously</a:t>
            </a:r>
          </a:p>
        </p:txBody>
      </p:sp>
      <p:sp>
        <p:nvSpPr>
          <p:cNvPr id="11" name="Rounded Rectangle 10"/>
          <p:cNvSpPr/>
          <p:nvPr/>
        </p:nvSpPr>
        <p:spPr>
          <a:xfrm>
            <a:off x="585216" y="2713547"/>
            <a:ext cx="6136379" cy="933577"/>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.github/workflows/ci.yml</a:t>
            </a:r>
          </a:p>
          <a:p>
            <a:pPr>
              <a:lnSpc>
                <a:spcPct val="100000"/>
              </a:lnSpc>
              <a:spcBef>
                <a:spcPts val="0"/>
              </a:spcBef>
              <a:spcAft>
                <a:spcPts val="0"/>
              </a:spcAft>
            </a:pPr>
            <a:r>
              <a:rPr sz="650">
                <a:solidFill>
                  <a:srgbClr val="D7E6F7"/>
                </a:solidFill>
                <a:latin typeface="Consolas"/>
              </a:rPr>
              <a:t>if [ -d tests ]; then</a:t>
            </a:r>
          </a:p>
          <a:p>
            <a:pPr>
              <a:lnSpc>
                <a:spcPct val="100000"/>
              </a:lnSpc>
              <a:spcBef>
                <a:spcPts val="0"/>
              </a:spcBef>
              <a:spcAft>
                <a:spcPts val="0"/>
              </a:spcAft>
            </a:pPr>
            <a:r>
              <a:rPr sz="650">
                <a:solidFill>
                  <a:srgbClr val="D7E6F7"/>
                </a:solidFill>
                <a:latin typeface="Consolas"/>
              </a:rPr>
              <a:t>pytest tests/ -v --tb=short --cov=backend --cov-report=term-missing</a:t>
            </a:r>
          </a:p>
          <a:p>
            <a:pPr>
              <a:lnSpc>
                <a:spcPct val="100000"/>
              </a:lnSpc>
              <a:spcBef>
                <a:spcPts val="0"/>
              </a:spcBef>
              <a:spcAft>
                <a:spcPts val="0"/>
              </a:spcAft>
            </a:pPr>
            <a:r>
              <a:rPr sz="650">
                <a:solidFill>
                  <a:srgbClr val="D7E6F7"/>
                </a:solidFill>
                <a:latin typeface="Consolas"/>
              </a:rPr>
              <a:t>else</a:t>
            </a:r>
          </a:p>
          <a:p>
            <a:pPr>
              <a:lnSpc>
                <a:spcPct val="100000"/>
              </a:lnSpc>
              <a:spcBef>
                <a:spcPts val="0"/>
              </a:spcBef>
              <a:spcAft>
                <a:spcPts val="0"/>
              </a:spcAft>
            </a:pPr>
            <a:r>
              <a:rPr sz="650">
                <a:solidFill>
                  <a:srgbClr val="D7E6F7"/>
                </a:solidFill>
                <a:latin typeface="Consolas"/>
              </a:rPr>
              <a:t>echo "⚠️ No tests/ directory found. Skipping." # exit 0 → job “passes”</a:t>
            </a:r>
          </a:p>
          <a:p>
            <a:pPr>
              <a:lnSpc>
                <a:spcPct val="100000"/>
              </a:lnSpc>
              <a:spcBef>
                <a:spcPts val="0"/>
              </a:spcBef>
              <a:spcAft>
                <a:spcPts val="0"/>
              </a:spcAft>
            </a:pPr>
            <a:r>
              <a:rPr sz="650">
                <a:solidFill>
                  <a:srgbClr val="D7E6F7"/>
                </a:solidFill>
                <a:latin typeface="Consolas"/>
              </a:rPr>
              <a:t>fi</a:t>
            </a:r>
          </a:p>
        </p:txBody>
      </p:sp>
      <p:sp>
        <p:nvSpPr>
          <p:cNvPr id="12" name="Rounded Rectangle 11"/>
          <p:cNvSpPr/>
          <p:nvPr/>
        </p:nvSpPr>
        <p:spPr>
          <a:xfrm>
            <a:off x="585216" y="3711132"/>
            <a:ext cx="6136379" cy="42092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80" b="0">
                <a:solidFill>
                  <a:srgbClr val="056ECE"/>
                </a:solidFill>
                <a:latin typeface="Consolas"/>
              </a:rPr>
              <a:t>find . -name "test*" -o -name "*_test.py"</a:t>
            </a:r>
            <a:r>
              <a:rPr sz="880" b="0">
                <a:solidFill>
                  <a:srgbClr val="0B1F3A"/>
                </a:solidFill>
                <a:latin typeface="Segoe UI"/>
              </a:rPr>
              <a:t> → </a:t>
            </a:r>
            <a:r>
              <a:rPr sz="880" b="1">
                <a:solidFill>
                  <a:srgbClr val="0B1F3A"/>
                </a:solidFill>
                <a:latin typeface="Segoe UI"/>
              </a:rPr>
              <a:t>nothing</a:t>
            </a:r>
            <a:r>
              <a:rPr sz="880" b="0">
                <a:solidFill>
                  <a:srgbClr val="0B1F3A"/>
                </a:solidFill>
                <a:latin typeface="Segoe UI"/>
              </a:rPr>
              <a:t>. No unit, no integration, no E2E, no frontend tests, no coverage number exists to report. Job 3, </a:t>
            </a:r>
            <a:r>
              <a:rPr sz="880" b="0">
                <a:solidFill>
                  <a:srgbClr val="056ECE"/>
                </a:solidFill>
                <a:latin typeface="Consolas"/>
              </a:rPr>
              <a:t>pip-audit</a:t>
            </a:r>
            <a:r>
              <a:rPr sz="880" b="0">
                <a:solidFill>
                  <a:srgbClr val="0B1F3A"/>
                </a:solidFill>
                <a:latin typeface="Segoe UI"/>
              </a:rPr>
              <a:t>, is explicitly informational (</a:t>
            </a:r>
            <a:r>
              <a:rPr sz="880" b="0">
                <a:solidFill>
                  <a:srgbClr val="056ECE"/>
                </a:solidFill>
                <a:latin typeface="Consolas"/>
              </a:rPr>
              <a:t>|| true</a:t>
            </a:r>
            <a:r>
              <a:rPr sz="880" b="0">
                <a:solidFill>
                  <a:srgbClr val="0B1F3A"/>
                </a:solidFill>
                <a:latin typeface="Segoe UI"/>
              </a:rPr>
              <a:t>) until a clean baseline exists.</a:t>
            </a:r>
          </a:p>
        </p:txBody>
      </p:sp>
      <p:sp>
        <p:nvSpPr>
          <p:cNvPr id="13" name="Rounded Rectangle 12"/>
          <p:cNvSpPr/>
          <p:nvPr/>
        </p:nvSpPr>
        <p:spPr>
          <a:xfrm>
            <a:off x="457200" y="4451023"/>
            <a:ext cx="6374123" cy="1986352"/>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4" name="Rounded Rectangle 13"/>
          <p:cNvSpPr/>
          <p:nvPr/>
        </p:nvSpPr>
        <p:spPr>
          <a:xfrm>
            <a:off x="585216" y="4542463"/>
            <a:ext cx="6136379" cy="16802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019" b="0">
                <a:solidFill>
                  <a:srgbClr val="062B57"/>
                </a:solidFill>
                <a:latin typeface="Segoe UI"/>
              </a:rPr>
              <a:t>⌁</a:t>
            </a:r>
            <a:r>
              <a:rPr sz="1019" b="0">
                <a:solidFill>
                  <a:srgbClr val="062B57"/>
                </a:solidFill>
                <a:latin typeface="Segoe UI"/>
              </a:rPr>
              <a:t>Static analysis: 7 custom Semgrep rules — I planted violations to see which fire</a:t>
            </a:r>
          </a:p>
        </p:txBody>
      </p:sp>
      <p:sp>
        <p:nvSpPr>
          <p:cNvPr id="15" name="Rounded Rectangle 14"/>
          <p:cNvSpPr/>
          <p:nvPr/>
        </p:nvSpPr>
        <p:spPr>
          <a:xfrm>
            <a:off x="585216" y="4747060"/>
            <a:ext cx="6136379" cy="303072"/>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19" b="0">
                <a:solidFill>
                  <a:srgbClr val="0B1F3A"/>
                </a:solidFill>
                <a:latin typeface="Segoe UI"/>
              </a:rPr>
              <a:t>I copied the backend, injected one violation per rule, and ran </a:t>
            </a:r>
            <a:r>
              <a:rPr sz="919" b="0">
                <a:solidFill>
                  <a:srgbClr val="056ECE"/>
                </a:solidFill>
                <a:latin typeface="Consolas"/>
              </a:rPr>
              <a:t>semgrep --config .semgrep.yml backend/</a:t>
            </a:r>
            <a:r>
              <a:rPr sz="919" b="0">
                <a:solidFill>
                  <a:srgbClr val="0B1F3A"/>
                </a:solidFill>
                <a:latin typeface="Segoe UI"/>
              </a:rPr>
              <a:t> exactly as CI does, then restored the files.</a:t>
            </a:r>
          </a:p>
        </p:txBody>
      </p:sp>
      <p:graphicFrame>
        <p:nvGraphicFramePr>
          <p:cNvPr id="16" name="Table 15"/>
          <p:cNvGraphicFramePr>
            <a:graphicFrameLocks noGrp="1"/>
          </p:cNvGraphicFramePr>
          <p:nvPr/>
        </p:nvGraphicFramePr>
        <p:xfrm>
          <a:off x="585216" y="5103168"/>
          <a:ext cx="6136379" cy="896112"/>
        </p:xfrm>
        <a:graphic>
          <a:graphicData uri="http://schemas.openxmlformats.org/drawingml/2006/table">
            <a:tbl>
              <a:tblPr firstRow="1" bandRow="1">
                <a:tableStyleId>{5C22544A-7EE6-4342-B048-85BDC9FD1C3A}</a:tableStyleId>
              </a:tblPr>
              <a:tblGrid>
                <a:gridCol w="3068189"/>
                <a:gridCol w="3068190"/>
              </a:tblGrid>
              <a:tr h="224028">
                <a:tc>
                  <a:txBody>
                    <a:bodyPr wrap="square"/>
                    <a:lstStyle/>
                    <a:p>
                      <a:pPr>
                        <a:lnSpc>
                          <a:spcPct val="100000"/>
                        </a:lnSpc>
                      </a:pPr>
                      <a:r>
                        <a:rPr sz="880" b="1">
                          <a:solidFill>
                            <a:srgbClr val="FFFFFF"/>
                          </a:solidFill>
                          <a:latin typeface="Segoe UI"/>
                        </a:rPr>
                        <a:t>Rule</a:t>
                      </a:r>
                    </a:p>
                  </a:txBody>
                  <a:tcPr marL="54864" marR="45720" marT="18288" marB="18288" anchor="ctr">
                    <a:solidFill>
                      <a:srgbClr val="062B57"/>
                    </a:solidFill>
                  </a:tcPr>
                </a:tc>
                <a:tc>
                  <a:txBody>
                    <a:bodyPr wrap="square"/>
                    <a:lstStyle/>
                    <a:p>
                      <a:pPr algn="ctr">
                        <a:lnSpc>
                          <a:spcPct val="100000"/>
                        </a:lnSpc>
                      </a:pPr>
                      <a:r>
                        <a:rPr sz="880" b="1">
                          <a:solidFill>
                            <a:srgbClr val="FFFFFF"/>
                          </a:solidFill>
                          <a:latin typeface="Segoe UI"/>
                        </a:rPr>
                        <a:t>Planted-violation result</a:t>
                      </a:r>
                    </a:p>
                  </a:txBody>
                  <a:tcPr marL="54864" marR="45720" marT="18288" marB="18288" anchor="ctr">
                    <a:solidFill>
                      <a:srgbClr val="062B57"/>
                    </a:solidFill>
                  </a:tcPr>
                </a:tc>
              </a:tr>
              <a:tr h="224028">
                <a:tc>
                  <a:txBody>
                    <a:bodyPr wrap="square"/>
                    <a:lstStyle/>
                    <a:p>
                      <a:pPr>
                        <a:lnSpc>
                          <a:spcPct val="100000"/>
                        </a:lnSpc>
                      </a:pPr>
                      <a:r>
                        <a:rPr sz="860" b="0">
                          <a:solidFill>
                            <a:srgbClr val="0B1F3A"/>
                          </a:solidFill>
                          <a:latin typeface="Segoe UI"/>
                        </a:rPr>
                        <a:t>unauthenticated-route · updated-by-from-request</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fired</a:t>
                      </a:r>
                    </a:p>
                  </a:txBody>
                  <a:tcPr marL="54864" marR="45720" marT="18288" marB="18288" anchor="ctr">
                    <a:solidFill>
                      <a:srgbClr val="FFFFFF"/>
                    </a:solidFill>
                  </a:tcPr>
                </a:tc>
              </a:tr>
              <a:tr h="224028">
                <a:tc>
                  <a:txBody>
                    <a:bodyPr wrap="square"/>
                    <a:lstStyle/>
                    <a:p>
                      <a:pPr>
                        <a:lnSpc>
                          <a:spcPct val="100000"/>
                        </a:lnSpc>
                      </a:pPr>
                      <a:r>
                        <a:rPr sz="860" b="0">
                          <a:solidFill>
                            <a:srgbClr val="0B1F3A"/>
                          </a:solidFill>
                          <a:latin typeface="Segoe UI"/>
                        </a:rPr>
                        <a:t>mass-assignment-status · -payment · hardcoded-secret · weak-otp</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fired</a:t>
                      </a:r>
                    </a:p>
                  </a:txBody>
                  <a:tcPr marL="54864" marR="45720" marT="18288" marB="18288" anchor="ctr">
                    <a:solidFill>
                      <a:srgbClr val="F2F6FB"/>
                    </a:solidFill>
                  </a:tcPr>
                </a:tc>
              </a:tr>
              <a:tr h="224028">
                <a:tc>
                  <a:txBody>
                    <a:bodyPr wrap="square"/>
                    <a:lstStyle/>
                    <a:p>
                      <a:pPr>
                        <a:lnSpc>
                          <a:spcPct val="100000"/>
                        </a:lnSpc>
                      </a:pPr>
                      <a:r>
                        <a:rPr sz="860" b="0">
                          <a:solidFill>
                            <a:srgbClr val="0B1F3A"/>
                          </a:solidFill>
                          <a:latin typeface="Segoe UI"/>
                        </a:rPr>
                        <a:t>apexflow-select-star — </a:t>
                      </a:r>
                      <a:r>
                        <a:rPr sz="860" b="1">
                          <a:solidFill>
                            <a:srgbClr val="0B1F3A"/>
                          </a:solidFill>
                          <a:latin typeface="Segoe UI"/>
                        </a:rPr>
                        <a:t>16 real </a:t>
                      </a:r>
                      <a:r>
                        <a:rPr sz="860" b="1">
                          <a:solidFill>
                            <a:srgbClr val="056ECE"/>
                          </a:solidFill>
                          <a:latin typeface="Consolas"/>
                        </a:rPr>
                        <a:t>SELECT *</a:t>
                      </a:r>
                      <a:r>
                        <a:rPr sz="860" b="1">
                          <a:solidFill>
                            <a:srgbClr val="0B1F3A"/>
                          </a:solidFill>
                          <a:latin typeface="Segoe UI"/>
                        </a:rPr>
                        <a:t> sites today</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never matches</a:t>
                      </a:r>
                    </a:p>
                  </a:txBody>
                  <a:tcPr marL="54864" marR="45720" marT="18288" marB="18288" anchor="ctr">
                    <a:solidFill>
                      <a:srgbClr val="FFFFFF"/>
                    </a:solidFill>
                  </a:tcPr>
                </a:tc>
              </a:tr>
            </a:tbl>
          </a:graphicData>
        </a:graphic>
      </p:graphicFrame>
      <p:sp>
        <p:nvSpPr>
          <p:cNvPr id="17" name="Rounded Rectangle 16"/>
          <p:cNvSpPr/>
          <p:nvPr/>
        </p:nvSpPr>
        <p:spPr>
          <a:xfrm>
            <a:off x="585216" y="6063288"/>
            <a:ext cx="6136379" cy="30093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19" b="0">
                <a:solidFill>
                  <a:srgbClr val="0B1F3A"/>
                </a:solidFill>
                <a:latin typeface="Segoe UI"/>
              </a:rPr>
              <a:t>6 of 7 rules are live. The </a:t>
            </a:r>
            <a:r>
              <a:rPr sz="919" b="0">
                <a:solidFill>
                  <a:srgbClr val="056ECE"/>
                </a:solidFill>
                <a:latin typeface="Consolas"/>
              </a:rPr>
              <a:t>SELECT *</a:t>
            </a:r>
            <a:r>
              <a:rPr sz="919" b="0">
                <a:solidFill>
                  <a:srgbClr val="0B1F3A"/>
                </a:solidFill>
                <a:latin typeface="Segoe UI"/>
              </a:rPr>
              <a:t> rule is inert — </a:t>
            </a:r>
            <a:r>
              <a:rPr sz="919" b="0">
                <a:solidFill>
                  <a:srgbClr val="056ECE"/>
                </a:solidFill>
                <a:latin typeface="Consolas"/>
              </a:rPr>
              <a:t>"SELECT * FROM ..."</a:t>
            </a:r>
            <a:r>
              <a:rPr sz="919" b="0">
                <a:solidFill>
                  <a:srgbClr val="0B1F3A"/>
                </a:solidFill>
                <a:latin typeface="Segoe UI"/>
              </a:rPr>
              <a:t> is matched literally, so </a:t>
            </a:r>
            <a:r>
              <a:rPr sz="919" b="0">
                <a:solidFill>
                  <a:srgbClr val="056ECE"/>
                </a:solidFill>
                <a:latin typeface="Consolas"/>
              </a:rPr>
              <a:t>cursor.execute("SELECT * FROM</a:t>
            </a:r>
          </a:p>
          <a:p>
            <a:pPr algn="l">
              <a:lnSpc>
                <a:spcPct val="116000"/>
              </a:lnSpc>
              <a:spcBef>
                <a:spcPts val="0"/>
              </a:spcBef>
              <a:spcAft>
                <a:spcPts val="0"/>
              </a:spcAft>
            </a:pPr>
            <a:r>
              <a:rPr sz="919" b="0">
                <a:solidFill>
                  <a:srgbClr val="056ECE"/>
                </a:solidFill>
                <a:latin typeface="Consolas"/>
              </a:rPr>
              <a:t>        users WHERE x = ?", …)</a:t>
            </a:r>
            <a:r>
              <a:rPr sz="919" b="0">
                <a:solidFill>
                  <a:srgbClr val="0B1F3A"/>
                </a:solidFill>
                <a:latin typeface="Segoe UI"/>
              </a:rPr>
              <a:t> slips through. A guard that cannot fire is worse than no guard: it manufactures confidence. (Also, </a:t>
            </a:r>
            <a:r>
              <a:rPr sz="919" b="0">
                <a:solidFill>
                  <a:srgbClr val="056ECE"/>
                </a:solidFill>
                <a:latin typeface="Consolas"/>
              </a:rPr>
              <a:t>SECURITY_AUDIT.md</a:t>
            </a:r>
            <a:r>
              <a:rPr sz="919" b="0">
                <a:solidFill>
                  <a:srgbClr val="0B1F3A"/>
                </a:solidFill>
                <a:latin typeface="Segoe UI"/>
              </a:rPr>
              <a:t> still documents “6 rules”.)</a:t>
            </a:r>
          </a:p>
        </p:txBody>
      </p:sp>
      <p:sp>
        <p:nvSpPr>
          <p:cNvPr id="18" name="Rounded Rectangle 17"/>
          <p:cNvSpPr/>
          <p:nvPr/>
        </p:nvSpPr>
        <p:spPr>
          <a:xfrm>
            <a:off x="6977627" y="1042416"/>
            <a:ext cx="4903171" cy="1827197"/>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9" name="Rounded Rectangle 18"/>
          <p:cNvSpPr/>
          <p:nvPr/>
        </p:nvSpPr>
        <p:spPr>
          <a:xfrm>
            <a:off x="7105643" y="1133856"/>
            <a:ext cx="4665427"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Other quality machinery in the repo</a:t>
            </a:r>
          </a:p>
        </p:txBody>
      </p:sp>
      <p:sp>
        <p:nvSpPr>
          <p:cNvPr id="20" name="Rounded Rectangle 19"/>
          <p:cNvSpPr/>
          <p:nvPr/>
        </p:nvSpPr>
        <p:spPr>
          <a:xfrm>
            <a:off x="7105643" y="1359789"/>
            <a:ext cx="4665427" cy="114574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pre-commit</a:t>
            </a:r>
            <a:r>
              <a:rPr sz="1080" b="0">
                <a:solidFill>
                  <a:srgbClr val="0B1F3A"/>
                </a:solidFill>
                <a:latin typeface="Segoe UI"/>
              </a:rPr>
              <a:t>: gitleaks + semgrep + private-key/merge-conflict/JSON-YAML checks (</a:t>
            </a:r>
            <a:r>
              <a:rPr sz="1080" b="0">
                <a:solidFill>
                  <a:srgbClr val="056ECE"/>
                </a:solidFill>
                <a:latin typeface="Consolas"/>
              </a:rPr>
              <a:t>.pre-commit-config.yaml</a:t>
            </a:r>
            <a:r>
              <a:rPr sz="1080" b="0">
                <a:solidFill>
                  <a:srgbClr val="0B1F3A"/>
                </a:solidFill>
                <a:latin typeface="Segoe UI"/>
              </a:rPr>
              <a:t>)</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commit-msg hook</a:t>
            </a:r>
            <a:r>
              <a:rPr sz="1080" b="0">
                <a:solidFill>
                  <a:srgbClr val="0B1F3A"/>
                </a:solidFill>
                <a:latin typeface="Segoe UI"/>
              </a:rPr>
              <a:t>: Conventional Commits with a </a:t>
            </a:r>
            <a:r>
              <a:rPr sz="1080" b="0">
                <a:solidFill>
                  <a:srgbClr val="056ECE"/>
                </a:solidFill>
                <a:latin typeface="Consolas"/>
              </a:rPr>
              <a:t>security</a:t>
            </a:r>
            <a:r>
              <a:rPr sz="1080" b="0">
                <a:solidFill>
                  <a:srgbClr val="0B1F3A"/>
                </a:solidFill>
                <a:latin typeface="Segoe UI"/>
              </a:rPr>
              <a:t> type allowed — history is machine-readable</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CODEOWNERS</a:t>
            </a:r>
            <a:r>
              <a:rPr sz="1080" b="0">
                <a:solidFill>
                  <a:srgbClr val="0B1F3A"/>
                </a:solidFill>
                <a:latin typeface="Segoe UI"/>
              </a:rPr>
              <a:t> + PR template with a security checklist</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docs as contracts</a:t>
            </a:r>
            <a:r>
              <a:rPr sz="1080" b="0">
                <a:solidFill>
                  <a:srgbClr val="0B1F3A"/>
                </a:solidFill>
                <a:latin typeface="Segoe UI"/>
              </a:rPr>
              <a:t>: API.md (every endpoint, with the exact error codes) and SECURITY_AUDIT.md (15 findings, each with before/after code)</a:t>
            </a:r>
          </a:p>
        </p:txBody>
      </p:sp>
      <p:sp>
        <p:nvSpPr>
          <p:cNvPr id="21" name="Rounded Rectangle 20"/>
          <p:cNvSpPr/>
          <p:nvPr/>
        </p:nvSpPr>
        <p:spPr>
          <a:xfrm>
            <a:off x="6977627" y="3015917"/>
            <a:ext cx="4903171" cy="1271540"/>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2" name="Rounded Rectangle 21"/>
          <p:cNvSpPr/>
          <p:nvPr/>
        </p:nvSpPr>
        <p:spPr>
          <a:xfrm>
            <a:off x="7105643" y="3107357"/>
            <a:ext cx="4665427"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My substitute for a test suite</a:t>
            </a:r>
          </a:p>
        </p:txBody>
      </p:sp>
      <p:sp>
        <p:nvSpPr>
          <p:cNvPr id="23" name="Rounded Rectangle 22"/>
          <p:cNvSpPr/>
          <p:nvPr/>
        </p:nvSpPr>
        <p:spPr>
          <a:xfrm>
            <a:off x="7105643" y="3333290"/>
            <a:ext cx="4665427" cy="66842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Because there are no tests, I verified behaviour by driving the HTTP API directly — the </a:t>
            </a:r>
            <a:r>
              <a:rPr sz="1080" b="1">
                <a:solidFill>
                  <a:srgbClr val="0B1F3A"/>
                </a:solidFill>
                <a:latin typeface="Segoe UI"/>
              </a:rPr>
              <a:t>14 results on the next slide</a:t>
            </a:r>
            <a:r>
              <a:rPr sz="1080" b="0">
                <a:solidFill>
                  <a:srgbClr val="0B1F3A"/>
                </a:solidFill>
                <a:latin typeface="Segoe UI"/>
              </a:rPr>
              <a:t> come from that harness (Python </a:t>
            </a:r>
            <a:r>
              <a:rPr sz="1080" b="0">
                <a:solidFill>
                  <a:srgbClr val="056ECE"/>
                </a:solidFill>
                <a:latin typeface="Consolas"/>
              </a:rPr>
              <a:t>urllib</a:t>
            </a:r>
            <a:r>
              <a:rPr sz="1080" b="0">
                <a:solidFill>
                  <a:srgbClr val="0B1F3A"/>
                </a:solidFill>
                <a:latin typeface="Segoe UI"/>
              </a:rPr>
              <a:t>, cookie jar, 4 role logins, 127.0.0.1). It is throwaway, not committed, and not a CI gate — which is precisely the gap.</a:t>
            </a:r>
          </a:p>
        </p:txBody>
      </p:sp>
      <p:sp>
        <p:nvSpPr>
          <p:cNvPr id="24" name="Rounded Rectangle 23"/>
          <p:cNvSpPr/>
          <p:nvPr/>
        </p:nvSpPr>
        <p:spPr>
          <a:xfrm>
            <a:off x="6977627" y="4433761"/>
            <a:ext cx="4903171" cy="2003614"/>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5" name="Rounded Rectangle 24"/>
          <p:cNvSpPr/>
          <p:nvPr/>
        </p:nvSpPr>
        <p:spPr>
          <a:xfrm>
            <a:off x="7105643" y="4525201"/>
            <a:ext cx="4665427"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What I would write first</a:t>
            </a:r>
          </a:p>
        </p:txBody>
      </p:sp>
      <p:sp>
        <p:nvSpPr>
          <p:cNvPr id="26" name="Rounded Rectangle 25"/>
          <p:cNvSpPr/>
          <p:nvPr/>
        </p:nvSpPr>
        <p:spPr>
          <a:xfrm>
            <a:off x="7105643" y="4751134"/>
            <a:ext cx="4665427" cy="146395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1.  </a:t>
            </a:r>
            <a:r>
              <a:rPr sz="1080" b="1">
                <a:solidFill>
                  <a:srgbClr val="0B1F3A"/>
                </a:solidFill>
                <a:latin typeface="Segoe UI"/>
              </a:rPr>
              <a:t>pytest fixtures</a:t>
            </a:r>
            <a:r>
              <a:rPr sz="1080" b="0">
                <a:solidFill>
                  <a:srgbClr val="0B1F3A"/>
                </a:solidFill>
                <a:latin typeface="Segoe UI"/>
              </a:rPr>
              <a:t> on a temp SQLite file + </a:t>
            </a:r>
            <a:r>
              <a:rPr sz="1080" b="0">
                <a:solidFill>
                  <a:srgbClr val="056ECE"/>
                </a:solidFill>
                <a:latin typeface="Consolas"/>
              </a:rPr>
              <a:t>app.test_client()</a:t>
            </a:r>
            <a:r>
              <a:rPr sz="1080" b="0">
                <a:solidFill>
                  <a:srgbClr val="0B1F3A"/>
                </a:solidFill>
                <a:latin typeface="Segoe UI"/>
              </a:rPr>
              <a:t>; a conftest that sets </a:t>
            </a:r>
            <a:r>
              <a:rPr sz="1080" b="0">
                <a:solidFill>
                  <a:srgbClr val="056ECE"/>
                </a:solidFill>
                <a:latin typeface="Consolas"/>
              </a:rPr>
              <a:t>SECRET_KEY</a:t>
            </a:r>
            <a:r>
              <a:rPr sz="1080" b="0">
                <a:solidFill>
                  <a:srgbClr val="0B1F3A"/>
                </a:solidFill>
                <a:latin typeface="Segoe UI"/>
              </a:rPr>
              <a:t> and seed passwords so CI never boots without them</a:t>
            </a:r>
          </a:p>
          <a:p>
            <a:pPr algn="l">
              <a:lnSpc>
                <a:spcPct val="116000"/>
              </a:lnSpc>
              <a:spcBef>
                <a:spcPts val="0"/>
              </a:spcBef>
              <a:spcAft>
                <a:spcPts val="0"/>
              </a:spcAft>
            </a:pPr>
            <a:r>
              <a:rPr sz="1080" b="0">
                <a:solidFill>
                  <a:srgbClr val="056ECE"/>
                </a:solidFill>
                <a:latin typeface="Consolas"/>
              </a:rPr>
              <a:t>2.  </a:t>
            </a:r>
            <a:r>
              <a:rPr sz="1080" b="0">
                <a:solidFill>
                  <a:srgbClr val="0B1F3A"/>
                </a:solidFill>
                <a:latin typeface="Segoe UI"/>
              </a:rPr>
              <a:t>Contract tests for the security invariants: 401 unauthenticated, 403 wrong role, 403 IDOR, 201 ignoring </a:t>
            </a:r>
            <a:r>
              <a:rPr sz="1080" b="0">
                <a:solidFill>
                  <a:srgbClr val="056ECE"/>
                </a:solidFill>
                <a:latin typeface="Consolas"/>
              </a:rPr>
              <a:t>status</a:t>
            </a:r>
            <a:r>
              <a:rPr sz="1080" b="0">
                <a:solidFill>
                  <a:srgbClr val="0B1F3A"/>
                </a:solidFill>
                <a:latin typeface="Segoe UI"/>
              </a:rPr>
              <a:t>/</a:t>
            </a:r>
            <a:r>
              <a:rPr sz="1080" b="0">
                <a:solidFill>
                  <a:srgbClr val="056ECE"/>
                </a:solidFill>
                <a:latin typeface="Consolas"/>
              </a:rPr>
              <a:t>payment_status</a:t>
            </a:r>
          </a:p>
          <a:p>
            <a:pPr algn="l">
              <a:lnSpc>
                <a:spcPct val="116000"/>
              </a:lnSpc>
              <a:spcBef>
                <a:spcPts val="0"/>
              </a:spcBef>
              <a:spcAft>
                <a:spcPts val="0"/>
              </a:spcAft>
            </a:pPr>
            <a:r>
              <a:rPr sz="1080" b="0">
                <a:solidFill>
                  <a:srgbClr val="056ECE"/>
                </a:solidFill>
                <a:latin typeface="Consolas"/>
              </a:rPr>
              <a:t>3.  </a:t>
            </a:r>
            <a:r>
              <a:rPr sz="1080" b="0">
                <a:solidFill>
                  <a:srgbClr val="0B1F3A"/>
                </a:solidFill>
                <a:latin typeface="Segoe UI"/>
              </a:rPr>
              <a:t>The cascade test (OTP → delivered + paid) and the two lockout tests — they would have caught the </a:t>
            </a:r>
            <a:r>
              <a:rPr sz="1080" b="0">
                <a:solidFill>
                  <a:srgbClr val="056ECE"/>
                </a:solidFill>
                <a:latin typeface="Consolas"/>
              </a:rPr>
              <a:t>customer_id</a:t>
            </a:r>
            <a:r>
              <a:rPr sz="1080" b="0">
                <a:solidFill>
                  <a:srgbClr val="0B1F3A"/>
                </a:solidFill>
                <a:latin typeface="Segoe UI"/>
              </a:rPr>
              <a:t> and connection-leak defects</a:t>
            </a:r>
          </a:p>
          <a:p>
            <a:pPr algn="l">
              <a:lnSpc>
                <a:spcPct val="116000"/>
              </a:lnSpc>
              <a:spcBef>
                <a:spcPts val="0"/>
              </a:spcBef>
              <a:spcAft>
                <a:spcPts val="0"/>
              </a:spcAft>
            </a:pPr>
            <a:r>
              <a:rPr sz="1080" b="0">
                <a:solidFill>
                  <a:srgbClr val="056ECE"/>
                </a:solidFill>
                <a:latin typeface="Consolas"/>
              </a:rPr>
              <a:t>4.  </a:t>
            </a:r>
            <a:r>
              <a:rPr sz="1080" b="0">
                <a:solidFill>
                  <a:srgbClr val="0B1F3A"/>
                </a:solidFill>
                <a:latin typeface="Segoe UI"/>
              </a:rPr>
              <a:t>Then make </a:t>
            </a:r>
            <a:r>
              <a:rPr sz="1080" b="0">
                <a:solidFill>
                  <a:srgbClr val="056ECE"/>
                </a:solidFill>
                <a:latin typeface="Consolas"/>
              </a:rPr>
              <a:t>test-sqlite</a:t>
            </a:r>
            <a:r>
              <a:rPr sz="1080" b="0">
                <a:solidFill>
                  <a:srgbClr val="0B1F3A"/>
                </a:solidFill>
                <a:latin typeface="Segoe UI"/>
              </a:rPr>
              <a:t> fail if </a:t>
            </a:r>
            <a:r>
              <a:rPr sz="1080" b="0">
                <a:solidFill>
                  <a:srgbClr val="056ECE"/>
                </a:solidFill>
                <a:latin typeface="Consolas"/>
              </a:rPr>
              <a:t>tests/</a:t>
            </a:r>
            <a:r>
              <a:rPr sz="1080" b="0">
                <a:solidFill>
                  <a:srgbClr val="0B1F3A"/>
                </a:solidFill>
                <a:latin typeface="Segoe UI"/>
              </a:rPr>
              <a:t> is missing</a:t>
            </a:r>
          </a:p>
        </p:txBody>
      </p:sp>
      <p:sp>
        <p:nvSpPr>
          <p:cNvPr id="27" name="Rounded Rectangle 26"/>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.github/workflows/ci.yml · 3 jobs</a:t>
            </a:r>
            <a:r>
              <a:rPr sz="830" b="0">
                <a:solidFill>
                  <a:srgbClr val="056ECE"/>
                </a:solidFill>
                <a:latin typeface="Consolas"/>
              </a:rPr>
              <a:t>   ·   .semgrep.yml · 7 rules</a:t>
            </a:r>
            <a:r>
              <a:rPr sz="830" b="0">
                <a:solidFill>
                  <a:srgbClr val="056ECE"/>
                </a:solidFill>
                <a:latin typeface="Consolas"/>
              </a:rPr>
              <a:t>   ·   .pre-commit-config.yaml</a:t>
            </a:r>
            <a:r>
              <a:rPr sz="830" b="0">
                <a:solidFill>
                  <a:srgbClr val="056ECE"/>
                </a:solidFill>
                <a:latin typeface="Consolas"/>
              </a:rPr>
              <a:t>   ·   .git-hooks/commit-msg</a:t>
            </a:r>
            <a:r>
              <a:rPr sz="860" b="1">
                <a:solidFill>
                  <a:srgbClr val="EF3348"/>
                </a:solidFill>
                <a:latin typeface="Segoe UI"/>
              </a:rPr>
              <a:t>   ·   Test coverage: 0 % — 0 tests exist, and I am not going to imply otherwise</a:t>
            </a:r>
          </a:p>
        </p:txBody>
      </p:sp>
      <p:sp>
        <p:nvSpPr>
          <p:cNvPr id="28" name="Rounded Rectangle 27"/>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13 · RESULTS &amp; VERIFICATION</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500" b="0">
                <a:solidFill>
                  <a:srgbClr val="062B57"/>
                </a:solidFill>
                <a:latin typeface="Segoe UI"/>
              </a:rPr>
              <a:t>I ran the system, not just the analysis — 16 claims, measured</a:t>
            </a:r>
          </a:p>
        </p:txBody>
      </p:sp>
      <p:graphicFrame>
        <p:nvGraphicFramePr>
          <p:cNvPr id="4" name="Table 3"/>
          <p:cNvGraphicFramePr>
            <a:graphicFrameLocks noGrp="1"/>
          </p:cNvGraphicFramePr>
          <p:nvPr/>
        </p:nvGraphicFramePr>
        <p:xfrm>
          <a:off x="457200" y="1042416"/>
          <a:ext cx="6766377" cy="3808476"/>
        </p:xfrm>
        <a:graphic>
          <a:graphicData uri="http://schemas.openxmlformats.org/drawingml/2006/table">
            <a:tbl>
              <a:tblPr firstRow="1" bandRow="1">
                <a:tableStyleId>{5C22544A-7EE6-4342-B048-85BDC9FD1C3A}</a:tableStyleId>
              </a:tblPr>
              <a:tblGrid>
                <a:gridCol w="2255459"/>
                <a:gridCol w="2255459"/>
                <a:gridCol w="2255459"/>
              </a:tblGrid>
              <a:tr h="224028">
                <a:tc>
                  <a:txBody>
                    <a:bodyPr wrap="square"/>
                    <a:lstStyle/>
                    <a:p>
                      <a:pPr>
                        <a:lnSpc>
                          <a:spcPct val="100000"/>
                        </a:lnSpc>
                      </a:pPr>
                      <a:r>
                        <a:rPr sz="880" b="1">
                          <a:solidFill>
                            <a:srgbClr val="FFFFFF"/>
                          </a:solidFill>
                          <a:latin typeface="Segoe UI"/>
                        </a:rPr>
                        <a:t>Claim from the code</a:t>
                      </a:r>
                    </a:p>
                  </a:txBody>
                  <a:tcPr marL="54864" marR="45720" marT="18288" marB="18288" anchor="ctr">
                    <a:solidFill>
                      <a:srgbClr val="062B57"/>
                    </a:solidFill>
                  </a:tcPr>
                </a:tc>
                <a:tc>
                  <a:txBody>
                    <a:bodyPr wrap="square"/>
                    <a:lstStyle/>
                    <a:p>
                      <a:pPr>
                        <a:lnSpc>
                          <a:spcPct val="100000"/>
                        </a:lnSpc>
                      </a:pPr>
                      <a:r>
                        <a:rPr sz="880" b="1">
                          <a:solidFill>
                            <a:srgbClr val="FFFFFF"/>
                          </a:solidFill>
                          <a:latin typeface="Segoe UI"/>
                        </a:rPr>
                        <a:t>Measured behaviour (live Flask instance, this checkout)</a:t>
                      </a:r>
                    </a:p>
                  </a:txBody>
                  <a:tcPr marL="54864" marR="45720" marT="18288" marB="18288" anchor="ctr">
                    <a:solidFill>
                      <a:srgbClr val="062B57"/>
                    </a:solidFill>
                  </a:tcPr>
                </a:tc>
                <a:tc>
                  <a:txBody>
                    <a:bodyPr wrap="square"/>
                    <a:lstStyle/>
                    <a:p>
                      <a:pPr algn="ctr">
                        <a:lnSpc>
                          <a:spcPct val="100000"/>
                        </a:lnSpc>
                      </a:pPr>
                      <a:r>
                        <a:rPr sz="880" b="1">
                          <a:solidFill>
                            <a:srgbClr val="FFFFFF"/>
                          </a:solidFill>
                          <a:latin typeface="Segoe UI"/>
                        </a:rPr>
                        <a:t>Result</a:t>
                      </a:r>
                    </a:p>
                  </a:txBody>
                  <a:tcPr marL="54864" marR="45720" marT="18288" marB="18288" anchor="ctr">
                    <a:solidFill>
                      <a:srgbClr val="062B57"/>
                    </a:solidFill>
                  </a:tcPr>
                </a:tc>
              </a:tr>
              <a:tr h="224028">
                <a:tc>
                  <a:txBody>
                    <a:bodyPr wrap="square"/>
                    <a:lstStyle/>
                    <a:p>
                      <a:pPr>
                        <a:lnSpc>
                          <a:spcPct val="100000"/>
                        </a:lnSpc>
                      </a:pPr>
                      <a:r>
                        <a:rPr sz="860" b="0">
                          <a:solidFill>
                            <a:srgbClr val="0B1F3A"/>
                          </a:solidFill>
                          <a:latin typeface="Segoe UI"/>
                        </a:rPr>
                        <a:t>Every protected route requires a session</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GET /api/shipments with no cookie → 401 </a:t>
                      </a:r>
                      <a:r>
                        <a:rPr sz="860" b="0">
                          <a:solidFill>
                            <a:srgbClr val="056ECE"/>
                          </a:solidFill>
                          <a:latin typeface="Consolas"/>
                        </a:rPr>
                        <a:t>{"success":false,"message":"Authentication required"}</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pass</a:t>
                      </a:r>
                    </a:p>
                  </a:txBody>
                  <a:tcPr marL="54864" marR="45720" marT="18288" marB="18288" anchor="ctr">
                    <a:solidFill>
                      <a:srgbClr val="FFFFFF"/>
                    </a:solidFill>
                  </a:tcPr>
                </a:tc>
              </a:tr>
              <a:tr h="224028">
                <a:tc>
                  <a:txBody>
                    <a:bodyPr wrap="square"/>
                    <a:lstStyle/>
                    <a:p>
                      <a:pPr>
                        <a:lnSpc>
                          <a:spcPct val="100000"/>
                        </a:lnSpc>
                      </a:pPr>
                      <a:r>
                        <a:rPr sz="860" b="0">
                          <a:solidFill>
                            <a:srgbClr val="0B1F3A"/>
                          </a:solidFill>
                          <a:latin typeface="Segoe UI"/>
                        </a:rPr>
                        <a:t>RBAC: customers cannot list customers</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GET /api/customers as CUSTOMER → 403 “requires role: ADMIN or MANAGER”</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pass</a:t>
                      </a:r>
                    </a:p>
                  </a:txBody>
                  <a:tcPr marL="54864" marR="45720" marT="18288" marB="18288" anchor="ctr">
                    <a:solidFill>
                      <a:srgbClr val="F2F6FB"/>
                    </a:solidFill>
                  </a:tcPr>
                </a:tc>
              </a:tr>
              <a:tr h="224028">
                <a:tc>
                  <a:txBody>
                    <a:bodyPr wrap="square"/>
                    <a:lstStyle/>
                    <a:p>
                      <a:pPr>
                        <a:lnSpc>
                          <a:spcPct val="100000"/>
                        </a:lnSpc>
                      </a:pPr>
                      <a:r>
                        <a:rPr sz="860" b="0">
                          <a:solidFill>
                            <a:srgbClr val="0B1F3A"/>
                          </a:solidFill>
                          <a:latin typeface="Segoe UI"/>
                        </a:rPr>
                        <a:t>IDOR guard on shipment detail</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GET /api/shipments/SHP001 as a different customer → 403</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pass</a:t>
                      </a:r>
                    </a:p>
                  </a:txBody>
                  <a:tcPr marL="54864" marR="45720" marT="18288" marB="18288" anchor="ctr">
                    <a:solidFill>
                      <a:srgbClr val="FFFFFF"/>
                    </a:solidFill>
                  </a:tcPr>
                </a:tc>
              </a:tr>
              <a:tr h="224028">
                <a:tc>
                  <a:txBody>
                    <a:bodyPr wrap="square"/>
                    <a:lstStyle/>
                    <a:p>
                      <a:pPr>
                        <a:lnSpc>
                          <a:spcPct val="100000"/>
                        </a:lnSpc>
                      </a:pPr>
                      <a:r>
                        <a:rPr sz="860" b="0">
                          <a:solidFill>
                            <a:srgbClr val="0B1F3A"/>
                          </a:solidFill>
                          <a:latin typeface="Segoe UI"/>
                        </a:rPr>
                        <a:t>Mass assignment blocked on booking</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sent </a:t>
                      </a:r>
                      <a:r>
                        <a:rPr sz="860" b="0">
                          <a:solidFill>
                            <a:srgbClr val="056ECE"/>
                          </a:solidFill>
                          <a:latin typeface="Consolas"/>
                        </a:rPr>
                        <a:t>status/payment_status/shipping_cost</a:t>
                      </a:r>
                      <a:r>
                        <a:rPr sz="860" b="0">
                          <a:solidFill>
                            <a:srgbClr val="0B1F3A"/>
                          </a:solidFill>
                          <a:latin typeface="Segoe UI"/>
                        </a:rPr>
                        <a:t> → stored </a:t>
                      </a:r>
                      <a:r>
                        <a:rPr sz="860" b="0">
                          <a:solidFill>
                            <a:srgbClr val="056ECE"/>
                          </a:solidFill>
                          <a:latin typeface="Consolas"/>
                        </a:rPr>
                        <a:t>Booked / Pending / ₹3 169</a:t>
                      </a:r>
                      <a:r>
                        <a:rPr sz="860" b="0">
                          <a:solidFill>
                            <a:srgbClr val="0B1F3A"/>
                          </a:solidFill>
                          <a:latin typeface="Segoe UI"/>
                        </a:rPr>
                        <a:t> (server-computed)</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pass</a:t>
                      </a:r>
                    </a:p>
                  </a:txBody>
                  <a:tcPr marL="54864" marR="45720" marT="18288" marB="18288" anchor="ctr">
                    <a:solidFill>
                      <a:srgbClr val="F2F6FB"/>
                    </a:solidFill>
                  </a:tcPr>
                </a:tc>
              </a:tr>
              <a:tr h="224028">
                <a:tc>
                  <a:txBody>
                    <a:bodyPr wrap="square"/>
                    <a:lstStyle/>
                    <a:p>
                      <a:pPr>
                        <a:lnSpc>
                          <a:spcPct val="100000"/>
                        </a:lnSpc>
                      </a:pPr>
                      <a:r>
                        <a:rPr sz="860" b="0">
                          <a:solidFill>
                            <a:srgbClr val="0B1F3A"/>
                          </a:solidFill>
                          <a:latin typeface="Segoe UI"/>
                        </a:rPr>
                        <a:t>OTP never leaves the API</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GET /api/deliveries → 12 keys, zero </a:t>
                      </a:r>
                      <a:r>
                        <a:rPr sz="860" b="0">
                          <a:solidFill>
                            <a:srgbClr val="056ECE"/>
                          </a:solidFill>
                          <a:latin typeface="Consolas"/>
                        </a:rPr>
                        <a:t>otp_*</a:t>
                      </a:r>
                      <a:r>
                        <a:rPr sz="860" b="0">
                          <a:solidFill>
                            <a:srgbClr val="0B1F3A"/>
                          </a:solidFill>
                          <a:latin typeface="Segoe UI"/>
                        </a:rPr>
                        <a:t>; OTP readable only in the DB</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pass</a:t>
                      </a:r>
                    </a:p>
                  </a:txBody>
                  <a:tcPr marL="54864" marR="45720" marT="18288" marB="18288" anchor="ctr">
                    <a:solidFill>
                      <a:srgbClr val="FFFFFF"/>
                    </a:solidFill>
                  </a:tcPr>
                </a:tc>
              </a:tr>
              <a:tr h="224028">
                <a:tc>
                  <a:txBody>
                    <a:bodyPr wrap="square"/>
                    <a:lstStyle/>
                    <a:p>
                      <a:pPr>
                        <a:lnSpc>
                          <a:spcPct val="100000"/>
                        </a:lnSpc>
                      </a:pPr>
                      <a:r>
                        <a:rPr sz="860" b="0">
                          <a:solidFill>
                            <a:srgbClr val="0B1F3A"/>
                          </a:solidFill>
                          <a:latin typeface="Segoe UI"/>
                        </a:rPr>
                        <a:t>OTP: 6 digits, 30 min TTL, 5 attempts</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created 6-digit code, </a:t>
                      </a:r>
                      <a:r>
                        <a:rPr sz="860" b="0">
                          <a:solidFill>
                            <a:srgbClr val="056ECE"/>
                          </a:solidFill>
                          <a:latin typeface="Consolas"/>
                        </a:rPr>
                        <a:t>otp_expires_at = +30 min</a:t>
                      </a:r>
                      <a:r>
                        <a:rPr sz="860" b="0">
                          <a:solidFill>
                            <a:srgbClr val="0B1F3A"/>
                          </a:solidFill>
                          <a:latin typeface="Segoe UI"/>
                        </a:rPr>
                        <a:t>, attempts 4→3→2→1, then locked; correct code after lockout still refused</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pass</a:t>
                      </a:r>
                    </a:p>
                  </a:txBody>
                  <a:tcPr marL="54864" marR="45720" marT="18288" marB="18288" anchor="ctr">
                    <a:solidFill>
                      <a:srgbClr val="F2F6FB"/>
                    </a:solidFill>
                  </a:tcPr>
                </a:tc>
              </a:tr>
              <a:tr h="224028">
                <a:tc>
                  <a:txBody>
                    <a:bodyPr wrap="square"/>
                    <a:lstStyle/>
                    <a:p>
                      <a:pPr>
                        <a:lnSpc>
                          <a:spcPct val="100000"/>
                        </a:lnSpc>
                      </a:pPr>
                      <a:r>
                        <a:rPr sz="860" b="0">
                          <a:solidFill>
                            <a:srgbClr val="0B1F3A"/>
                          </a:solidFill>
                          <a:latin typeface="Segoe UI"/>
                        </a:rPr>
                        <a:t>Delivery confirm cascades 4 tables</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shipment </a:t>
                      </a:r>
                      <a:r>
                        <a:rPr sz="860" b="0">
                          <a:solidFill>
                            <a:srgbClr val="056ECE"/>
                          </a:solidFill>
                          <a:latin typeface="Consolas"/>
                        </a:rPr>
                        <a:t>Delivered</a:t>
                      </a:r>
                      <a:r>
                        <a:rPr sz="860" b="0">
                          <a:solidFill>
                            <a:srgbClr val="0B1F3A"/>
                          </a:solidFill>
                          <a:latin typeface="Segoe UI"/>
                        </a:rPr>
                        <a:t>, delivery </a:t>
                      </a:r>
                      <a:r>
                        <a:rPr sz="860" b="0">
                          <a:solidFill>
                            <a:srgbClr val="056ECE"/>
                          </a:solidFill>
                          <a:latin typeface="Consolas"/>
                        </a:rPr>
                        <a:t>Delivered</a:t>
                      </a:r>
                      <a:r>
                        <a:rPr sz="860" b="0">
                          <a:solidFill>
                            <a:srgbClr val="0B1F3A"/>
                          </a:solidFill>
                          <a:latin typeface="Segoe UI"/>
                        </a:rPr>
                        <a:t>+timestamp, invoice </a:t>
                      </a:r>
                      <a:r>
                        <a:rPr sz="860" b="0">
                          <a:solidFill>
                            <a:srgbClr val="056ECE"/>
                          </a:solidFill>
                          <a:latin typeface="Consolas"/>
                        </a:rPr>
                        <a:t>Paid</a:t>
                      </a:r>
                      <a:r>
                        <a:rPr sz="860" b="0">
                          <a:solidFill>
                            <a:srgbClr val="0B1F3A"/>
                          </a:solidFill>
                          <a:latin typeface="Segoe UI"/>
                        </a:rPr>
                        <a:t>+</a:t>
                      </a:r>
                      <a:r>
                        <a:rPr sz="860" b="0">
                          <a:solidFill>
                            <a:srgbClr val="056ECE"/>
                          </a:solidFill>
                          <a:latin typeface="Consolas"/>
                        </a:rPr>
                        <a:t>paid_date</a:t>
                      </a:r>
                      <a:r>
                        <a:rPr sz="860" b="0">
                          <a:solidFill>
                            <a:srgbClr val="0B1F3A"/>
                          </a:solidFill>
                          <a:latin typeface="Segoe UI"/>
                        </a:rPr>
                        <a:t>, history row appended</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pass</a:t>
                      </a:r>
                    </a:p>
                  </a:txBody>
                  <a:tcPr marL="54864" marR="45720" marT="18288" marB="18288" anchor="ctr">
                    <a:solidFill>
                      <a:srgbClr val="FFFFFF"/>
                    </a:solidFill>
                  </a:tcPr>
                </a:tc>
              </a:tr>
              <a:tr h="224028">
                <a:tc>
                  <a:txBody>
                    <a:bodyPr wrap="square"/>
                    <a:lstStyle/>
                    <a:p>
                      <a:pPr>
                        <a:lnSpc>
                          <a:spcPct val="100000"/>
                        </a:lnSpc>
                      </a:pPr>
                      <a:r>
                        <a:rPr sz="860" b="0">
                          <a:solidFill>
                            <a:srgbClr val="0B1F3A"/>
                          </a:solidFill>
                          <a:latin typeface="Segoe UI"/>
                        </a:rPr>
                        <a:t>Schema enforces the status enum</a:t>
                      </a:r>
                    </a:p>
                  </a:txBody>
                  <a:tcPr marL="54864" marR="45720" marT="18288" marB="18288" anchor="ctr">
                    <a:solidFill>
                      <a:srgbClr val="F2F6FB"/>
                    </a:solidFill>
                  </a:tcPr>
                </a:tc>
                <a:tc>
                  <a:txBody>
                    <a:bodyPr wrap="square"/>
                    <a:lstStyle/>
                    <a:p>
                      <a:pPr>
                        <a:lnSpc>
                          <a:spcPct val="100000"/>
                        </a:lnSpc>
                      </a:pPr>
                      <a:r>
                        <a:rPr sz="860" b="0">
                          <a:solidFill>
                            <a:srgbClr val="056ECE"/>
                          </a:solidFill>
                          <a:latin typeface="Consolas"/>
                        </a:rPr>
                        <a:t>PUT {"status":"Teleported"}</a:t>
                      </a:r>
                      <a:r>
                        <a:rPr sz="860" b="0">
                          <a:solidFill>
                            <a:srgbClr val="0B1F3A"/>
                          </a:solidFill>
                          <a:latin typeface="Segoe UI"/>
                        </a:rPr>
                        <a:t> → </a:t>
                      </a:r>
                      <a:r>
                        <a:rPr sz="860" b="0">
                          <a:solidFill>
                            <a:srgbClr val="056ECE"/>
                          </a:solidFill>
                          <a:latin typeface="Consolas"/>
                        </a:rPr>
                        <a:t>IntegrityError: CHECK constraint failed</a:t>
                      </a:r>
                      <a:r>
                        <a:rPr sz="860" b="0">
                          <a:solidFill>
                            <a:srgbClr val="0B1F3A"/>
                          </a:solidFill>
                          <a:latin typeface="Segoe UI"/>
                        </a:rPr>
                        <a:t> (but as a 500, not a 400)</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pass, ugly</a:t>
                      </a:r>
                    </a:p>
                  </a:txBody>
                  <a:tcPr marL="54864" marR="45720" marT="18288" marB="18288" anchor="ctr">
                    <a:solidFill>
                      <a:srgbClr val="F2F6FB"/>
                    </a:solidFill>
                  </a:tcPr>
                </a:tc>
              </a:tr>
              <a:tr h="224028">
                <a:tc>
                  <a:txBody>
                    <a:bodyPr wrap="square"/>
                    <a:lstStyle/>
                    <a:p>
                      <a:pPr>
                        <a:lnSpc>
                          <a:spcPct val="100000"/>
                        </a:lnSpc>
                      </a:pPr>
                      <a:r>
                        <a:rPr sz="860" b="0">
                          <a:solidFill>
                            <a:srgbClr val="0B1F3A"/>
                          </a:solidFill>
                          <a:latin typeface="Segoe UI"/>
                        </a:rPr>
                        <a:t>Parameterised SQL (no injection)</a:t>
                      </a:r>
                    </a:p>
                  </a:txBody>
                  <a:tcPr marL="54864" marR="45720" marT="18288" marB="18288" anchor="ctr">
                    <a:solidFill>
                      <a:srgbClr val="FFFFFF"/>
                    </a:solidFill>
                  </a:tcPr>
                </a:tc>
                <a:tc>
                  <a:txBody>
                    <a:bodyPr wrap="square"/>
                    <a:lstStyle/>
                    <a:p>
                      <a:pPr>
                        <a:lnSpc>
                          <a:spcPct val="100000"/>
                        </a:lnSpc>
                      </a:pPr>
                      <a:r>
                        <a:rPr sz="860" b="0">
                          <a:solidFill>
                            <a:srgbClr val="056ECE"/>
                          </a:solidFill>
                          <a:latin typeface="Consolas"/>
                        </a:rPr>
                        <a:t>?search=' OR 1=1--</a:t>
                      </a:r>
                      <a:r>
                        <a:rPr sz="860" b="0">
                          <a:solidFill>
                            <a:srgbClr val="0B1F3A"/>
                          </a:solidFill>
                          <a:latin typeface="Segoe UI"/>
                        </a:rPr>
                        <a:t> → 200 with an empty list; 16 </a:t>
                      </a:r>
                      <a:r>
                        <a:rPr sz="860" b="0">
                          <a:solidFill>
                            <a:srgbClr val="056ECE"/>
                          </a:solidFill>
                          <a:latin typeface="Consolas"/>
                        </a:rPr>
                        <a:t>SELECT *</a:t>
                      </a:r>
                      <a:r>
                        <a:rPr sz="860" b="0">
                          <a:solidFill>
                            <a:srgbClr val="0B1F3A"/>
                          </a:solidFill>
                          <a:latin typeface="Segoe UI"/>
                        </a:rPr>
                        <a:t> queries all use </a:t>
                      </a:r>
                      <a:r>
                        <a:rPr sz="860" b="0">
                          <a:solidFill>
                            <a:srgbClr val="056ECE"/>
                          </a:solidFill>
                          <a:latin typeface="Consolas"/>
                        </a:rPr>
                        <a:t>?</a:t>
                      </a:r>
                      <a:r>
                        <a:rPr sz="860" b="0">
                          <a:solidFill>
                            <a:srgbClr val="0B1F3A"/>
                          </a:solidFill>
                          <a:latin typeface="Segoe UI"/>
                        </a:rPr>
                        <a:t> binds</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pass</a:t>
                      </a:r>
                    </a:p>
                  </a:txBody>
                  <a:tcPr marL="54864" marR="45720" marT="18288" marB="18288" anchor="ctr">
                    <a:solidFill>
                      <a:srgbClr val="FFFFFF"/>
                    </a:solidFill>
                  </a:tcPr>
                </a:tc>
              </a:tr>
              <a:tr h="224028">
                <a:tc>
                  <a:txBody>
                    <a:bodyPr wrap="square"/>
                    <a:lstStyle/>
                    <a:p>
                      <a:pPr>
                        <a:lnSpc>
                          <a:spcPct val="100000"/>
                        </a:lnSpc>
                      </a:pPr>
                      <a:r>
                        <a:rPr sz="860" b="0">
                          <a:solidFill>
                            <a:srgbClr val="0B1F3A"/>
                          </a:solidFill>
                          <a:latin typeface="Segoe UI"/>
                        </a:rPr>
                        <a:t>Login limited to 10 / minute</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25 rapid bad logins → 25 × 401, </a:t>
                      </a:r>
                      <a:r>
                        <a:rPr sz="860" b="1">
                          <a:solidFill>
                            <a:srgbClr val="0B1F3A"/>
                          </a:solidFill>
                          <a:latin typeface="Segoe UI"/>
                        </a:rPr>
                        <a:t>no 429</a:t>
                      </a:r>
                      <a:r>
                        <a:rPr sz="860" b="0">
                          <a:solidFill>
                            <a:srgbClr val="0B1F3A"/>
                          </a:solidFill>
                          <a:latin typeface="Segoe UI"/>
                        </a:rPr>
                        <a:t>, no X-RateLimit headers. Reproduced on flask-limiter 4.1.1 </a:t>
                      </a:r>
                      <a:r>
                        <a:rPr sz="860" b="0">
                          <a:solidFill>
                            <a:srgbClr val="0B1F3A"/>
                          </a:solidFill>
                          <a:latin typeface="Segoe UI"/>
                        </a:rPr>
                        <a:t>and</a:t>
                      </a:r>
                      <a:r>
                        <a:rPr sz="860" b="0">
                          <a:solidFill>
                            <a:srgbClr val="0B1F3A"/>
                          </a:solidFill>
                          <a:latin typeface="Segoe UI"/>
                        </a:rPr>
                        <a:t> 3.5.1</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fail</a:t>
                      </a:r>
                    </a:p>
                  </a:txBody>
                  <a:tcPr marL="54864" marR="45720" marT="18288" marB="18288" anchor="ctr">
                    <a:solidFill>
                      <a:srgbClr val="F2F6FB"/>
                    </a:solidFill>
                  </a:tcPr>
                </a:tc>
              </a:tr>
              <a:tr h="224028">
                <a:tc>
                  <a:txBody>
                    <a:bodyPr wrap="square"/>
                    <a:lstStyle/>
                    <a:p>
                      <a:pPr>
                        <a:lnSpc>
                          <a:spcPct val="100000"/>
                        </a:lnSpc>
                      </a:pPr>
                      <a:r>
                        <a:rPr sz="860" b="0">
                          <a:solidFill>
                            <a:srgbClr val="0B1F3A"/>
                          </a:solidFill>
                          <a:latin typeface="Segoe UI"/>
                        </a:rPr>
                        <a:t>Default limit 200 / minute</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first 429 at request </a:t>
                      </a:r>
                      <a:r>
                        <a:rPr sz="860" b="1">
                          <a:solidFill>
                            <a:srgbClr val="0B1F3A"/>
                          </a:solidFill>
                          <a:latin typeface="Segoe UI"/>
                        </a:rPr>
                        <a:t>201</a:t>
                      </a:r>
                      <a:r>
                        <a:rPr sz="860" b="0">
                          <a:solidFill>
                            <a:srgbClr val="0B1F3A"/>
                          </a:solidFill>
                          <a:latin typeface="Segoe UI"/>
                        </a:rPr>
                        <a:t>, with </a:t>
                      </a:r>
                      <a:r>
                        <a:rPr sz="860" b="0">
                          <a:solidFill>
                            <a:srgbClr val="056ECE"/>
                          </a:solidFill>
                          <a:latin typeface="Consolas"/>
                        </a:rPr>
                        <a:t>X-RateLimit-*</a:t>
                      </a:r>
                      <a:r>
                        <a:rPr sz="860" b="0">
                          <a:solidFill>
                            <a:srgbClr val="0B1F3A"/>
                          </a:solidFill>
                          <a:latin typeface="Segoe UI"/>
                        </a:rPr>
                        <a:t> headers → proves the limiter works, only the per-route attach is broken</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pass</a:t>
                      </a:r>
                    </a:p>
                  </a:txBody>
                  <a:tcPr marL="54864" marR="45720" marT="18288" marB="18288" anchor="ctr">
                    <a:solidFill>
                      <a:srgbClr val="FFFFFF"/>
                    </a:solidFill>
                  </a:tcPr>
                </a:tc>
              </a:tr>
              <a:tr h="224028">
                <a:tc>
                  <a:txBody>
                    <a:bodyPr wrap="square"/>
                    <a:lstStyle/>
                    <a:p>
                      <a:pPr>
                        <a:lnSpc>
                          <a:spcPct val="100000"/>
                        </a:lnSpc>
                      </a:pPr>
                      <a:r>
                        <a:rPr sz="860" b="0">
                          <a:solidFill>
                            <a:srgbClr val="0B1F3A"/>
                          </a:solidFill>
                          <a:latin typeface="Segoe UI"/>
                        </a:rPr>
                        <a:t>Every shipment is dispatched to a vehicle and driver</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the form's two selects are posted, dropped by the field allowlist and stored </a:t>
                      </a:r>
                      <a:r>
                        <a:rPr sz="860" b="0">
                          <a:solidFill>
                            <a:srgbClr val="056ECE"/>
                          </a:solidFill>
                          <a:latin typeface="Consolas"/>
                        </a:rPr>
                        <a:t>NULL</a:t>
                      </a:r>
                      <a:r>
                        <a:rPr sz="860" b="0">
                          <a:solidFill>
                            <a:srgbClr val="0B1F3A"/>
                          </a:solidFill>
                          <a:latin typeface="Segoe UI"/>
                        </a:rPr>
                        <a:t>; no assignment endpoint exists — </a:t>
                      </a:r>
                      <a:r>
                        <a:rPr sz="860" b="0">
                          <a:solidFill>
                            <a:srgbClr val="056ECE"/>
                          </a:solidFill>
                          <a:latin typeface="Consolas"/>
                        </a:rPr>
                        <a:t>/api/tracking</a:t>
                      </a:r>
                      <a:r>
                        <a:rPr sz="860" b="0">
                          <a:solidFill>
                            <a:srgbClr val="0B1F3A"/>
                          </a:solidFill>
                          <a:latin typeface="Segoe UI"/>
                        </a:rPr>
                        <a:t> falls back to </a:t>
                      </a:r>
                      <a:r>
                        <a:rPr sz="860" b="0">
                          <a:solidFill>
                            <a:srgbClr val="056ECE"/>
                          </a:solidFill>
                          <a:latin typeface="Consolas"/>
                        </a:rPr>
                        <a:t>VEH001</a:t>
                      </a:r>
                      <a:r>
                        <a:rPr sz="860" b="0">
                          <a:solidFill>
                            <a:srgbClr val="0B1F3A"/>
                          </a:solidFill>
                          <a:latin typeface="Segoe UI"/>
                        </a:rPr>
                        <a:t> / “Rajesh Kumar”</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gap</a:t>
                      </a:r>
                    </a:p>
                  </a:txBody>
                  <a:tcPr marL="54864" marR="45720" marT="18288" marB="18288" anchor="ctr">
                    <a:solidFill>
                      <a:srgbClr val="F2F6FB"/>
                    </a:solidFill>
                  </a:tcPr>
                </a:tc>
              </a:tr>
              <a:tr h="224028">
                <a:tc>
                  <a:txBody>
                    <a:bodyPr wrap="square"/>
                    <a:lstStyle/>
                    <a:p>
                      <a:pPr>
                        <a:lnSpc>
                          <a:spcPct val="100000"/>
                        </a:lnSpc>
                      </a:pPr>
                      <a:r>
                        <a:rPr sz="860" b="0">
                          <a:solidFill>
                            <a:srgbClr val="0B1F3A"/>
                          </a:solidFill>
                          <a:latin typeface="Segoe UI"/>
                        </a:rPr>
                        <a:t>Booking is safe for any role</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CUSTOMER booking → 500: </a:t>
                      </a:r>
                      <a:r>
                        <a:rPr sz="860" b="0">
                          <a:solidFill>
                            <a:srgbClr val="056ECE"/>
                          </a:solidFill>
                          <a:latin typeface="Consolas"/>
                        </a:rPr>
                        <a:t>FOREIGN KEY constraint failed</a:t>
                      </a:r>
                      <a:r>
                        <a:rPr sz="860" b="0">
                          <a:solidFill>
                            <a:srgbClr val="0B1F3A"/>
                          </a:solidFill>
                          <a:latin typeface="Segoe UI"/>
                        </a:rPr>
                        <a:t> (</a:t>
                      </a:r>
                      <a:r>
                        <a:rPr sz="860" b="0">
                          <a:solidFill>
                            <a:srgbClr val="056ECE"/>
                          </a:solidFill>
                          <a:latin typeface="Consolas"/>
                        </a:rPr>
                        <a:t>customer_id := user_id “USR004”</a:t>
                      </a:r>
                      <a:r>
                        <a:rPr sz="860" b="0">
                          <a:solidFill>
                            <a:srgbClr val="0B1F3A"/>
                          </a:solidFill>
                          <a:latin typeface="Segoe UI"/>
                        </a:rPr>
                        <a:t>, absent from </a:t>
                      </a:r>
                      <a:r>
                        <a:rPr sz="860" b="0">
                          <a:solidFill>
                            <a:srgbClr val="056ECE"/>
                          </a:solidFill>
                          <a:latin typeface="Consolas"/>
                        </a:rPr>
                        <a:t>customers</a:t>
                      </a:r>
                      <a:r>
                        <a:rPr sz="860" b="0">
                          <a:solidFill>
                            <a:srgbClr val="0B1F3A"/>
                          </a:solidFill>
                          <a:latin typeface="Segoe UI"/>
                        </a:rPr>
                        <a:t>)</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fail</a:t>
                      </a:r>
                    </a:p>
                  </a:txBody>
                  <a:tcPr marL="54864" marR="45720" marT="18288" marB="18288" anchor="ctr">
                    <a:solidFill>
                      <a:srgbClr val="FFFFFF"/>
                    </a:solidFill>
                  </a:tcPr>
                </a:tc>
              </a:tr>
              <a:tr h="224028">
                <a:tc>
                  <a:txBody>
                    <a:bodyPr wrap="square"/>
                    <a:lstStyle/>
                    <a:p>
                      <a:pPr>
                        <a:lnSpc>
                          <a:spcPct val="100000"/>
                        </a:lnSpc>
                      </a:pPr>
                      <a:r>
                        <a:rPr sz="860" b="0">
                          <a:solidFill>
                            <a:srgbClr val="0B1F3A"/>
                          </a:solidFill>
                          <a:latin typeface="Segoe UI"/>
                        </a:rPr>
                        <a:t>DB connections are released</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one failed write leaks the connection → next valid write fails after 5.02 s with </a:t>
                      </a:r>
                      <a:r>
                        <a:rPr sz="860" b="0">
                          <a:solidFill>
                            <a:srgbClr val="056ECE"/>
                          </a:solidFill>
                          <a:latin typeface="Consolas"/>
                        </a:rPr>
                        <a:t>database is locked</a:t>
                      </a:r>
                      <a:r>
                        <a:rPr sz="860" b="0">
                          <a:solidFill>
                            <a:srgbClr val="0B1F3A"/>
                          </a:solidFill>
                          <a:latin typeface="Segoe UI"/>
                        </a:rPr>
                        <a:t> (reproduced deterministically; 20 concurrent </a:t>
                      </a:r>
                      <a:r>
                        <a:rPr sz="860" b="0">
                          <a:solidFill>
                            <a:srgbClr val="0B1F3A"/>
                          </a:solidFill>
                          <a:latin typeface="Segoe UI"/>
                        </a:rPr>
                        <a:t>valid</a:t>
                      </a:r>
                      <a:r>
                        <a:rPr sz="860" b="0">
                          <a:solidFill>
                            <a:srgbClr val="0B1F3A"/>
                          </a:solidFill>
                          <a:latin typeface="Segoe UI"/>
                        </a:rPr>
                        <a:t> writes all succeeded in 0.15 s, so it is the leak, not contention)</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fail</a:t>
                      </a:r>
                    </a:p>
                  </a:txBody>
                  <a:tcPr marL="54864" marR="45720" marT="18288" marB="18288" anchor="ctr">
                    <a:solidFill>
                      <a:srgbClr val="F2F6FB"/>
                    </a:solidFill>
                  </a:tcPr>
                </a:tc>
              </a:tr>
              <a:tr h="224028">
                <a:tc>
                  <a:txBody>
                    <a:bodyPr wrap="square"/>
                    <a:lstStyle/>
                    <a:p>
                      <a:pPr>
                        <a:lnSpc>
                          <a:spcPct val="100000"/>
                        </a:lnSpc>
                      </a:pPr>
                      <a:r>
                        <a:rPr sz="860" b="0">
                          <a:solidFill>
                            <a:srgbClr val="0B1F3A"/>
                          </a:solidFill>
                          <a:latin typeface="Segoe UI"/>
                        </a:rPr>
                        <a:t>Shipment lifecycle is a state machine</a:t>
                      </a:r>
                    </a:p>
                  </a:txBody>
                  <a:tcPr marL="54864" marR="45720" marT="18288" marB="18288" anchor="ctr">
                    <a:solidFill>
                      <a:srgbClr val="FFFFFF"/>
                    </a:solidFill>
                  </a:tcPr>
                </a:tc>
                <a:tc>
                  <a:txBody>
                    <a:bodyPr wrap="square"/>
                    <a:lstStyle/>
                    <a:p>
                      <a:pPr>
                        <a:lnSpc>
                          <a:spcPct val="100000"/>
                        </a:lnSpc>
                      </a:pPr>
                      <a:r>
                        <a:rPr sz="860" b="0">
                          <a:solidFill>
                            <a:srgbClr val="0B1F3A"/>
                          </a:solidFill>
                          <a:latin typeface="Segoe UI"/>
                        </a:rPr>
                        <a:t>no transition table exists: </a:t>
                      </a:r>
                      <a:r>
                        <a:rPr sz="860" b="0">
                          <a:solidFill>
                            <a:srgbClr val="056ECE"/>
                          </a:solidFill>
                          <a:latin typeface="Consolas"/>
                        </a:rPr>
                        <a:t>Delivered → Booked</a:t>
                      </a:r>
                      <a:r>
                        <a:rPr sz="860" b="0">
                          <a:solidFill>
                            <a:srgbClr val="0B1F3A"/>
                          </a:solidFill>
                          <a:latin typeface="Segoe UI"/>
                        </a:rPr>
                        <a:t> accepted with </a:t>
                      </a:r>
                      <a:r>
                        <a:rPr sz="860" b="0">
                          <a:solidFill>
                            <a:srgbClr val="056ECE"/>
                          </a:solidFill>
                          <a:latin typeface="Consolas"/>
                        </a:rPr>
                        <a:t>200</a:t>
                      </a:r>
                      <a:r>
                        <a:rPr sz="860" b="0">
                          <a:solidFill>
                            <a:srgbClr val="0B1F3A"/>
                          </a:solidFill>
                          <a:latin typeface="Segoe UI"/>
                        </a:rPr>
                        <a:t>; a DRIVER updated an unassigned shipment</a:t>
                      </a:r>
                    </a:p>
                  </a:txBody>
                  <a:tcPr marL="54864" marR="45720" marT="18288" marB="18288" anchor="ctr">
                    <a:solidFill>
                      <a:srgbClr val="FFFFFF"/>
                    </a:solidFill>
                  </a:tcPr>
                </a:tc>
                <a:tc>
                  <a:txBody>
                    <a:bodyPr wrap="square"/>
                    <a:lstStyle/>
                    <a:p>
                      <a:pPr algn="ctr">
                        <a:lnSpc>
                          <a:spcPct val="100000"/>
                        </a:lnSpc>
                      </a:pPr>
                      <a:r>
                        <a:rPr sz="860" b="0">
                          <a:solidFill>
                            <a:srgbClr val="0B1F3A"/>
                          </a:solidFill>
                          <a:latin typeface="Segoe UI"/>
                        </a:rPr>
                        <a:t>gap</a:t>
                      </a:r>
                    </a:p>
                  </a:txBody>
                  <a:tcPr marL="54864" marR="45720" marT="18288" marB="18288" anchor="ctr">
                    <a:solidFill>
                      <a:srgbClr val="FFFFFF"/>
                    </a:solidFill>
                  </a:tcPr>
                </a:tc>
              </a:tr>
              <a:tr h="224028">
                <a:tc>
                  <a:txBody>
                    <a:bodyPr wrap="square"/>
                    <a:lstStyle/>
                    <a:p>
                      <a:pPr>
                        <a:lnSpc>
                          <a:spcPct val="100000"/>
                        </a:lnSpc>
                      </a:pPr>
                      <a:r>
                        <a:rPr sz="860" b="0">
                          <a:solidFill>
                            <a:srgbClr val="0B1F3A"/>
                          </a:solidFill>
                          <a:latin typeface="Segoe UI"/>
                        </a:rPr>
                        <a:t>Cost, ETA and distance are computed</a:t>
                      </a:r>
                    </a:p>
                  </a:txBody>
                  <a:tcPr marL="54864" marR="45720" marT="18288" marB="18288" anchor="ctr">
                    <a:solidFill>
                      <a:srgbClr val="F2F6FB"/>
                    </a:solidFill>
                  </a:tcPr>
                </a:tc>
                <a:tc>
                  <a:txBody>
                    <a:bodyPr wrap="square"/>
                    <a:lstStyle/>
                    <a:p>
                      <a:pPr>
                        <a:lnSpc>
                          <a:spcPct val="100000"/>
                        </a:lnSpc>
                      </a:pPr>
                      <a:r>
                        <a:rPr sz="860" b="0">
                          <a:solidFill>
                            <a:srgbClr val="0B1F3A"/>
                          </a:solidFill>
                          <a:latin typeface="Segoe UI"/>
                        </a:rPr>
                        <a:t>same shipment priced ₹21 845…₹23 042 across 7 processes; Ludhiana→Chennai = 430 km from string length; all trucks share one progress clock (10 %→14 % in 4 s)</a:t>
                      </a:r>
                    </a:p>
                  </a:txBody>
                  <a:tcPr marL="54864" marR="45720" marT="18288" marB="18288" anchor="ctr">
                    <a:solidFill>
                      <a:srgbClr val="F2F6FB"/>
                    </a:solidFill>
                  </a:tcPr>
                </a:tc>
                <a:tc>
                  <a:txBody>
                    <a:bodyPr wrap="square"/>
                    <a:lstStyle/>
                    <a:p>
                      <a:pPr algn="ctr">
                        <a:lnSpc>
                          <a:spcPct val="100000"/>
                        </a:lnSpc>
                      </a:pPr>
                      <a:r>
                        <a:rPr sz="860" b="0">
                          <a:solidFill>
                            <a:srgbClr val="0B1F3A"/>
                          </a:solidFill>
                          <a:latin typeface="Segoe UI"/>
                        </a:rPr>
                        <a:t>not real</a:t>
                      </a:r>
                    </a:p>
                  </a:txBody>
                  <a:tcPr marL="54864" marR="45720" marT="18288" marB="18288" anchor="ctr">
                    <a:solidFill>
                      <a:srgbClr val="F2F6FB"/>
                    </a:solidFill>
                  </a:tcPr>
                </a:tc>
              </a:tr>
            </a:tbl>
          </a:graphicData>
        </a:graphic>
      </p:graphicFrame>
      <p:sp>
        <p:nvSpPr>
          <p:cNvPr id="5" name="Rounded Rectangle 4"/>
          <p:cNvSpPr/>
          <p:nvPr/>
        </p:nvSpPr>
        <p:spPr>
          <a:xfrm>
            <a:off x="7369881" y="1042416"/>
            <a:ext cx="4510918" cy="1519682"/>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GET /api/reports/dashboard · live</a:t>
            </a:r>
            <a:r>
              <a:rPr sz="550">
                <a:solidFill>
                  <a:srgbClr val="9FB6CE"/>
                </a:solidFill>
                <a:latin typeface="Segoe UI"/>
              </a:rPr>
              <a:t>   seeded DB, no mock</a:t>
            </a:r>
          </a:p>
          <a:p>
            <a:pPr>
              <a:lnSpc>
                <a:spcPct val="100000"/>
              </a:lnSpc>
              <a:spcBef>
                <a:spcPts val="0"/>
              </a:spcBef>
              <a:spcAft>
                <a:spcPts val="0"/>
              </a:spcAft>
            </a:pPr>
            <a:r>
              <a:rPr sz="650">
                <a:solidFill>
                  <a:srgbClr val="D7E6F7"/>
                </a:solidFill>
                <a:latin typeface="Consolas"/>
              </a:rPr>
              <a:t>{ "success": true,</a:t>
            </a:r>
          </a:p>
          <a:p>
            <a:pPr>
              <a:lnSpc>
                <a:spcPct val="100000"/>
              </a:lnSpc>
              <a:spcBef>
                <a:spcPts val="0"/>
              </a:spcBef>
              <a:spcAft>
                <a:spcPts val="0"/>
              </a:spcAft>
            </a:pPr>
            <a:r>
              <a:rPr sz="650">
                <a:solidFill>
                  <a:srgbClr val="D7E6F7"/>
                </a:solidFill>
                <a:latin typeface="Consolas"/>
              </a:rPr>
              <a:t>"data": {</a:t>
            </a:r>
          </a:p>
          <a:p>
            <a:pPr>
              <a:lnSpc>
                <a:spcPct val="100000"/>
              </a:lnSpc>
              <a:spcBef>
                <a:spcPts val="0"/>
              </a:spcBef>
              <a:spcAft>
                <a:spcPts val="0"/>
              </a:spcAft>
            </a:pPr>
            <a:r>
              <a:rPr sz="650">
                <a:solidFill>
                  <a:srgbClr val="D7E6F7"/>
                </a:solidFill>
                <a:latin typeface="Consolas"/>
              </a:rPr>
              <a:t>"total_shipments": 5, "in_transit": 2,</a:t>
            </a:r>
          </a:p>
          <a:p>
            <a:pPr>
              <a:lnSpc>
                <a:spcPct val="100000"/>
              </a:lnSpc>
              <a:spcBef>
                <a:spcPts val="0"/>
              </a:spcBef>
              <a:spcAft>
                <a:spcPts val="0"/>
              </a:spcAft>
            </a:pPr>
            <a:r>
              <a:rPr sz="650">
                <a:solidFill>
                  <a:srgbClr val="D7E6F7"/>
                </a:solidFill>
                <a:latin typeface="Consolas"/>
              </a:rPr>
              <a:t>"delivered": 1, "delayed": 1,</a:t>
            </a:r>
          </a:p>
          <a:p>
            <a:pPr>
              <a:lnSpc>
                <a:spcPct val="100000"/>
              </a:lnSpc>
              <a:spcBef>
                <a:spcPts val="0"/>
              </a:spcBef>
              <a:spcAft>
                <a:spcPts val="0"/>
              </a:spcAft>
            </a:pPr>
            <a:r>
              <a:rPr sz="650">
                <a:solidFill>
                  <a:srgbClr val="D7E6F7"/>
                </a:solidFill>
                <a:latin typeface="Consolas"/>
              </a:rPr>
              <a:t>"available_vehicles": 2, "total_vehicles": 5,</a:t>
            </a:r>
          </a:p>
          <a:p>
            <a:pPr>
              <a:lnSpc>
                <a:spcPct val="100000"/>
              </a:lnSpc>
              <a:spcBef>
                <a:spcPts val="0"/>
              </a:spcBef>
              <a:spcAft>
                <a:spcPts val="0"/>
              </a:spcAft>
            </a:pPr>
            <a:r>
              <a:rPr sz="650">
                <a:solidFill>
                  <a:srgbClr val="D7E6F7"/>
                </a:solidFill>
                <a:latin typeface="Consolas"/>
              </a:rPr>
              <a:t>"active_drivers": 4, "total_drivers": 5,</a:t>
            </a:r>
          </a:p>
          <a:p>
            <a:pPr>
              <a:lnSpc>
                <a:spcPct val="100000"/>
              </a:lnSpc>
              <a:spcBef>
                <a:spcPts val="0"/>
              </a:spcBef>
              <a:spcAft>
                <a:spcPts val="0"/>
              </a:spcAft>
            </a:pPr>
            <a:r>
              <a:rPr sz="650">
                <a:solidFill>
                  <a:srgbClr val="D7E6F7"/>
                </a:solidFill>
                <a:latin typeface="Consolas"/>
              </a:rPr>
              <a:t>"total_revenue": 99200.0,</a:t>
            </a:r>
          </a:p>
          <a:p>
            <a:pPr>
              <a:lnSpc>
                <a:spcPct val="100000"/>
              </a:lnSpc>
              <a:spcBef>
                <a:spcPts val="0"/>
              </a:spcBef>
              <a:spcAft>
                <a:spcPts val="0"/>
              </a:spcAft>
            </a:pPr>
            <a:r>
              <a:rPr sz="650">
                <a:solidFill>
                  <a:srgbClr val="D7E6F7"/>
                </a:solidFill>
                <a:latin typeface="Consolas"/>
              </a:rPr>
              <a:t>"estimated_fuel_cost": 50880.0,</a:t>
            </a:r>
          </a:p>
          <a:p>
            <a:pPr>
              <a:lnSpc>
                <a:spcPct val="100000"/>
              </a:lnSpc>
              <a:spcBef>
                <a:spcPts val="0"/>
              </a:spcBef>
              <a:spcAft>
                <a:spcPts val="0"/>
              </a:spcAft>
            </a:pPr>
            <a:r>
              <a:rPr sz="650">
                <a:solidFill>
                  <a:srgbClr val="D7E6F7"/>
                </a:solidFill>
                <a:latin typeface="Consolas"/>
              </a:rPr>
              <a:t>"recent_shipments": [ 5 rows ],</a:t>
            </a:r>
          </a:p>
          <a:p>
            <a:pPr>
              <a:lnSpc>
                <a:spcPct val="100000"/>
              </a:lnSpc>
              <a:spcBef>
                <a:spcPts val="0"/>
              </a:spcBef>
              <a:spcAft>
                <a:spcPts val="0"/>
              </a:spcAft>
            </a:pPr>
            <a:r>
              <a:rPr sz="650">
                <a:solidFill>
                  <a:srgbClr val="D7E6F7"/>
                </a:solidFill>
                <a:latin typeface="Consolas"/>
              </a:rPr>
              <a:t>"recent_vehicles": [ 5 rows ] } }</a:t>
            </a:r>
          </a:p>
        </p:txBody>
      </p:sp>
      <p:sp>
        <p:nvSpPr>
          <p:cNvPr id="6" name="Rounded Rectangle 5"/>
          <p:cNvSpPr/>
          <p:nvPr/>
        </p:nvSpPr>
        <p:spPr>
          <a:xfrm>
            <a:off x="7369881" y="2956097"/>
            <a:ext cx="4510918" cy="816356"/>
          </a:xfrm>
          <a:prstGeom prst="roundRect">
            <a:avLst>
              <a:gd name="adj" fmla="val 5500"/>
            </a:avLst>
          </a:prstGeom>
          <a:solidFill>
            <a:srgbClr val="071A30"/>
          </a:solidFill>
          <a:ln w="635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spcAft>
                <a:spcPts val="200"/>
              </a:spcAft>
            </a:pPr>
            <a:r>
              <a:rPr sz="600">
                <a:solidFill>
                  <a:srgbClr val="7FA8D0"/>
                </a:solidFill>
                <a:latin typeface="Consolas"/>
              </a:rPr>
              <a:t>● GET /api/tracking/SHP001 · live telemetry</a:t>
            </a:r>
          </a:p>
          <a:p>
            <a:pPr>
              <a:lnSpc>
                <a:spcPct val="100000"/>
              </a:lnSpc>
              <a:spcBef>
                <a:spcPts val="0"/>
              </a:spcBef>
              <a:spcAft>
                <a:spcPts val="0"/>
              </a:spcAft>
            </a:pPr>
            <a:r>
              <a:rPr sz="650">
                <a:solidFill>
                  <a:srgbClr val="D7E6F7"/>
                </a:solidFill>
                <a:latin typeface="Consolas"/>
              </a:rPr>
              <a:t>{ "vehicle_reg": "HR26BX4587", "status": "In Transit",</a:t>
            </a:r>
          </a:p>
          <a:p>
            <a:pPr>
              <a:lnSpc>
                <a:spcPct val="100000"/>
              </a:lnSpc>
              <a:spcBef>
                <a:spcPts val="0"/>
              </a:spcBef>
              <a:spcAft>
                <a:spcPts val="0"/>
              </a:spcAft>
            </a:pPr>
            <a:r>
              <a:rPr sz="650">
                <a:solidFill>
                  <a:srgbClr val="D7E6F7"/>
                </a:solidFill>
                <a:latin typeface="Consolas"/>
              </a:rPr>
              <a:t>"latitude": 30.67229, "longitude": 77.00762,</a:t>
            </a:r>
          </a:p>
          <a:p>
            <a:pPr>
              <a:lnSpc>
                <a:spcPct val="100000"/>
              </a:lnSpc>
              <a:spcBef>
                <a:spcPts val="0"/>
              </a:spcBef>
              <a:spcAft>
                <a:spcPts val="0"/>
              </a:spcAft>
            </a:pPr>
            <a:r>
              <a:rPr sz="650">
                <a:solidFill>
                  <a:srgbClr val="D7E6F7"/>
                </a:solidFill>
                <a:latin typeface="Consolas"/>
              </a:rPr>
              <a:t>"speed_kmh": 51, "distance_remaining_km": 265.4,</a:t>
            </a:r>
          </a:p>
          <a:p>
            <a:pPr>
              <a:lnSpc>
                <a:spcPct val="100000"/>
              </a:lnSpc>
              <a:spcBef>
                <a:spcPts val="0"/>
              </a:spcBef>
              <a:spcAft>
                <a:spcPts val="0"/>
              </a:spcAft>
            </a:pPr>
            <a:r>
              <a:rPr sz="650">
                <a:solidFill>
                  <a:srgbClr val="D7E6F7"/>
                </a:solidFill>
                <a:latin typeface="Consolas"/>
              </a:rPr>
              <a:t>"eta": "5h 12m", "progress_percent": 10 }</a:t>
            </a:r>
          </a:p>
        </p:txBody>
      </p:sp>
      <p:sp>
        <p:nvSpPr>
          <p:cNvPr id="7" name="Rounded Rectangle 6"/>
          <p:cNvSpPr/>
          <p:nvPr/>
        </p:nvSpPr>
        <p:spPr>
          <a:xfrm>
            <a:off x="7369881" y="3972457"/>
            <a:ext cx="4510918" cy="1020007"/>
          </a:xfrm>
          <a:prstGeom prst="roundRect">
            <a:avLst>
              <a:gd name="adj" fmla="val 5500"/>
            </a:avLst>
          </a:prstGeom>
          <a:solidFill>
            <a:srgbClr val="E5F8EE"/>
          </a:solidFill>
          <a:ln w="9525">
            <a:solidFill>
              <a:srgbClr val="08A75A"/>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8" name="Rounded Rectangle 7"/>
          <p:cNvSpPr/>
          <p:nvPr/>
        </p:nvSpPr>
        <p:spPr>
          <a:xfrm>
            <a:off x="7380853" y="4054753"/>
            <a:ext cx="41148" cy="855415"/>
          </a:xfrm>
          <a:prstGeom prst="roundRect">
            <a:avLst>
              <a:gd name="adj" fmla="val 50000"/>
            </a:avLst>
          </a:prstGeom>
          <a:solidFill>
            <a:srgbClr val="08A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97897" y="4063897"/>
            <a:ext cx="4273174" cy="17335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060" b="0">
                <a:solidFill>
                  <a:srgbClr val="08A75A"/>
                </a:solidFill>
                <a:latin typeface="Segoe UI"/>
              </a:rPr>
              <a:t>✓</a:t>
            </a:r>
            <a:r>
              <a:rPr sz="1060" b="0">
                <a:solidFill>
                  <a:srgbClr val="08A75A"/>
                </a:solidFill>
                <a:latin typeface="Segoe UI"/>
              </a:rPr>
              <a:t>What the system does produce</a:t>
            </a:r>
          </a:p>
        </p:txBody>
      </p:sp>
      <p:sp>
        <p:nvSpPr>
          <p:cNvPr id="10" name="Rounded Rectangle 9"/>
          <p:cNvSpPr/>
          <p:nvPr/>
        </p:nvSpPr>
        <p:spPr>
          <a:xfrm>
            <a:off x="7497897" y="4273828"/>
            <a:ext cx="4273174" cy="597712"/>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60" b="0">
                <a:solidFill>
                  <a:srgbClr val="0B1F3A"/>
                </a:solidFill>
                <a:latin typeface="Segoe UI"/>
              </a:rPr>
              <a:t>From 6 seeded JSON files and one </a:t>
            </a:r>
            <a:r>
              <a:rPr sz="960" b="0">
                <a:solidFill>
                  <a:srgbClr val="056ECE"/>
                </a:solidFill>
                <a:latin typeface="Consolas"/>
              </a:rPr>
              <a:t>initialize_database()</a:t>
            </a:r>
            <a:r>
              <a:rPr sz="960" b="0">
                <a:solidFill>
                  <a:srgbClr val="0B1F3A"/>
                </a:solidFill>
                <a:latin typeface="Segoe UI"/>
              </a:rPr>
              <a:t> call: 5 shipments, 5 vehicles, 5 drivers, 4 corridors, 3 deliveries with live OTPs, 4 invoices, 4 notifications, and a dashboard whose numbers are real </a:t>
            </a:r>
            <a:r>
              <a:rPr sz="960" b="0">
                <a:solidFill>
                  <a:srgbClr val="056ECE"/>
                </a:solidFill>
                <a:latin typeface="Consolas"/>
              </a:rPr>
              <a:t>GROUP BY</a:t>
            </a:r>
            <a:r>
              <a:rPr sz="960" b="0">
                <a:solidFill>
                  <a:srgbClr val="0B1F3A"/>
                </a:solidFill>
                <a:latin typeface="Segoe UI"/>
              </a:rPr>
              <a:t> aggregates over those rows — not sample data rendered client-side.</a:t>
            </a:r>
          </a:p>
        </p:txBody>
      </p:sp>
      <p:sp>
        <p:nvSpPr>
          <p:cNvPr id="11" name="Rounded Rectangle 10"/>
          <p:cNvSpPr/>
          <p:nvPr/>
        </p:nvSpPr>
        <p:spPr>
          <a:xfrm>
            <a:off x="7369881" y="5138769"/>
            <a:ext cx="4510918" cy="1298606"/>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2" name="Rounded Rectangle 11"/>
          <p:cNvSpPr/>
          <p:nvPr/>
        </p:nvSpPr>
        <p:spPr>
          <a:xfrm>
            <a:off x="7497897" y="5230209"/>
            <a:ext cx="4273174" cy="16535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000" b="0">
                <a:solidFill>
                  <a:srgbClr val="062B57"/>
                </a:solidFill>
                <a:latin typeface="Segoe UI"/>
              </a:rPr>
              <a:t>Reproduce in five commands</a:t>
            </a:r>
          </a:p>
        </p:txBody>
      </p:sp>
      <p:sp>
        <p:nvSpPr>
          <p:cNvPr id="13" name="Rounded Rectangle 12"/>
          <p:cNvSpPr/>
          <p:nvPr/>
        </p:nvSpPr>
        <p:spPr>
          <a:xfrm>
            <a:off x="7497897" y="5432139"/>
            <a:ext cx="4273174" cy="55626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spcBef>
                <a:spcPts val="0"/>
              </a:spcBef>
              <a:spcAft>
                <a:spcPts val="0"/>
              </a:spcAft>
            </a:pPr>
            <a:r>
              <a:rPr sz="860" b="0">
                <a:solidFill>
                  <a:srgbClr val="056ECE"/>
                </a:solidFill>
                <a:latin typeface="Segoe UI"/>
              </a:rPr>
              <a:t> python3 -m venv venv &amp;&amp; . venv/bin/activate</a:t>
            </a:r>
          </a:p>
          <a:p>
            <a:pPr algn="l">
              <a:lnSpc>
                <a:spcPct val="120000"/>
              </a:lnSpc>
              <a:spcBef>
                <a:spcPts val="0"/>
              </a:spcBef>
              <a:spcAft>
                <a:spcPts val="0"/>
              </a:spcAft>
            </a:pPr>
            <a:r>
              <a:rPr sz="860" b="0">
                <a:solidFill>
                  <a:srgbClr val="056ECE"/>
                </a:solidFill>
                <a:latin typeface="Segoe UI"/>
              </a:rPr>
              <a:t> pip install -r requirements.txt</a:t>
            </a:r>
          </a:p>
          <a:p>
            <a:pPr algn="l">
              <a:lnSpc>
                <a:spcPct val="120000"/>
              </a:lnSpc>
              <a:spcBef>
                <a:spcPts val="0"/>
              </a:spcBef>
              <a:spcAft>
                <a:spcPts val="0"/>
              </a:spcAft>
            </a:pPr>
            <a:r>
              <a:rPr sz="860" b="0">
                <a:solidFill>
                  <a:srgbClr val="056ECE"/>
                </a:solidFill>
                <a:latin typeface="Segoe UI"/>
              </a:rPr>
              <a:t> python3 backend/app.py</a:t>
            </a:r>
          </a:p>
          <a:p>
            <a:pPr algn="l">
              <a:lnSpc>
                <a:spcPct val="120000"/>
              </a:lnSpc>
              <a:spcBef>
                <a:spcPts val="0"/>
              </a:spcBef>
              <a:spcAft>
                <a:spcPts val="0"/>
              </a:spcAft>
            </a:pPr>
            <a:r>
              <a:rPr sz="860" b="0">
                <a:solidFill>
                  <a:srgbClr val="056ECE"/>
                </a:solidFill>
                <a:latin typeface="Segoe UI"/>
              </a:rPr>
              <a:t> curl -s -c /tmp/c -X POST localhost:5050/api/auth/login \</a:t>
            </a:r>
          </a:p>
          <a:p>
            <a:pPr algn="l">
              <a:lnSpc>
                <a:spcPct val="120000"/>
              </a:lnSpc>
              <a:spcBef>
                <a:spcPts val="0"/>
              </a:spcBef>
              <a:spcAft>
                <a:spcPts val="0"/>
              </a:spcAft>
            </a:pPr>
            <a:r>
              <a:rPr sz="860" b="0">
                <a:solidFill>
                  <a:srgbClr val="056ECE"/>
                </a:solidFill>
                <a:latin typeface="Segoe UI"/>
              </a:rPr>
              <a:t>   -H 'Content-Type: application/json' -d '{"email":"admin@apexflow.com","password":"…"}'</a:t>
            </a:r>
          </a:p>
          <a:p>
            <a:pPr algn="l">
              <a:lnSpc>
                <a:spcPct val="120000"/>
              </a:lnSpc>
              <a:spcBef>
                <a:spcPts val="0"/>
              </a:spcBef>
              <a:spcAft>
                <a:spcPts val="0"/>
              </a:spcAft>
            </a:pPr>
            <a:r>
              <a:rPr sz="860" b="0">
                <a:solidFill>
                  <a:srgbClr val="056ECE"/>
                </a:solidFill>
                <a:latin typeface="Segoe UI"/>
              </a:rPr>
              <a:t> curl -s -b /tmp/c localhost:5050/api/reports/dashboard</a:t>
            </a:r>
          </a:p>
        </p:txBody>
      </p:sp>
      <p:sp>
        <p:nvSpPr>
          <p:cNvPr id="14" name="Rounded Rectangle 13"/>
          <p:cNvSpPr/>
          <p:nvPr/>
        </p:nvSpPr>
        <p:spPr>
          <a:xfrm>
            <a:off x="7497897" y="6041434"/>
            <a:ext cx="4273174" cy="29717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00" b="0">
                <a:solidFill>
                  <a:srgbClr val="0B1F3A"/>
                </a:solidFill>
                <a:latin typeface="Segoe UI"/>
              </a:rPr>
              <a:t>Semgrep, py_compile and the YAML checks run offline on this checkout; I ran them.</a:t>
            </a:r>
          </a:p>
        </p:txBody>
      </p:sp>
      <p:sp>
        <p:nvSpPr>
          <p:cNvPr id="15" name="Rounded Rectangle 14"/>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5A6F88"/>
                </a:solidFill>
                <a:latin typeface="Segoe UI"/>
              </a:rPr>
              <a:t>Method: fresh SQLite DB, dev-mode Flask on 127.0.0.1, Python 3.11, requests driven by a throwaway urllib harness with four role cookie-jars; timings are single-request latencies on loopback — not load tests.</a:t>
            </a:r>
          </a:p>
        </p:txBody>
      </p:sp>
      <p:sp>
        <p:nvSpPr>
          <p:cNvPr id="16" name="Rounded Rectangle 15"/>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14 · CHALLENGES &amp; ENGINEERING DECISIONS</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500" b="0">
                <a:solidFill>
                  <a:srgbClr val="062B57"/>
                </a:solidFill>
                <a:latin typeface="Segoe UI"/>
              </a:rPr>
              <a:t>Challenge → Decision → what it cost</a:t>
            </a:r>
          </a:p>
        </p:txBody>
      </p:sp>
      <p:sp>
        <p:nvSpPr>
          <p:cNvPr id="4" name="Rounded Rectangle 3"/>
          <p:cNvSpPr/>
          <p:nvPr/>
        </p:nvSpPr>
        <p:spPr>
          <a:xfrm>
            <a:off x="457200" y="1042416"/>
            <a:ext cx="3417362" cy="1124904"/>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5" name="Rounded Rectangle 4"/>
          <p:cNvSpPr/>
          <p:nvPr/>
        </p:nvSpPr>
        <p:spPr>
          <a:xfrm>
            <a:off x="585216" y="1133856"/>
            <a:ext cx="3179618" cy="19110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CHALLENGE</a:t>
            </a:r>
          </a:p>
        </p:txBody>
      </p:sp>
      <p:sp>
        <p:nvSpPr>
          <p:cNvPr id="6" name="Rounded Rectangle 5"/>
          <p:cNvSpPr/>
          <p:nvPr/>
        </p:nvSpPr>
        <p:spPr>
          <a:xfrm>
            <a:off x="585216" y="1378000"/>
            <a:ext cx="3179618"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One codebase, two databases</a:t>
            </a:r>
          </a:p>
        </p:txBody>
      </p:sp>
      <p:sp>
        <p:nvSpPr>
          <p:cNvPr id="7" name="Rounded Rectangle 6"/>
          <p:cNvSpPr/>
          <p:nvPr/>
        </p:nvSpPr>
        <p:spPr>
          <a:xfrm>
            <a:off x="585216" y="1603933"/>
            <a:ext cx="3179618" cy="49023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SQLite for a zero-setup demo, PostgreSQL for a real deploy — with different row types, placeholders and DDL keywords.</a:t>
            </a:r>
          </a:p>
        </p:txBody>
      </p:sp>
      <p:sp>
        <p:nvSpPr>
          <p:cNvPr id="8" name="Rounded Rectangle 7"/>
          <p:cNvSpPr/>
          <p:nvPr/>
        </p:nvSpPr>
        <p:spPr>
          <a:xfrm>
            <a:off x="4020866" y="1042416"/>
            <a:ext cx="3929966" cy="1124904"/>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9" name="Rounded Rectangle 8"/>
          <p:cNvSpPr/>
          <p:nvPr/>
        </p:nvSpPr>
        <p:spPr>
          <a:xfrm>
            <a:off x="4148882" y="1133856"/>
            <a:ext cx="3692222" cy="17048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40" b="0">
                <a:solidFill>
                  <a:srgbClr val="0B1F3A"/>
                </a:solidFill>
                <a:latin typeface="Segoe UI"/>
              </a:rPr>
              <a:t>DECISION</a:t>
            </a:r>
          </a:p>
        </p:txBody>
      </p:sp>
      <p:sp>
        <p:nvSpPr>
          <p:cNvPr id="10" name="Rounded Rectangle 9"/>
          <p:cNvSpPr/>
          <p:nvPr/>
        </p:nvSpPr>
        <p:spPr>
          <a:xfrm>
            <a:off x="4148882" y="1357376"/>
            <a:ext cx="3692222" cy="17068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040" b="0">
                <a:solidFill>
                  <a:srgbClr val="062B57"/>
                </a:solidFill>
                <a:latin typeface="Segoe UI"/>
              </a:rPr>
              <a:t>A 90-line adapter, not an ORM</a:t>
            </a:r>
          </a:p>
        </p:txBody>
      </p:sp>
      <p:sp>
        <p:nvSpPr>
          <p:cNvPr id="11" name="Rounded Rectangle 10"/>
          <p:cNvSpPr/>
          <p:nvPr/>
        </p:nvSpPr>
        <p:spPr>
          <a:xfrm>
            <a:off x="4148882" y="1564640"/>
            <a:ext cx="3692222" cy="52952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940" b="0">
                <a:solidFill>
                  <a:srgbClr val="056ECE"/>
                </a:solidFill>
                <a:latin typeface="Consolas"/>
              </a:rPr>
              <a:t>PostgresCursorWrapper</a:t>
            </a:r>
            <a:r>
              <a:rPr sz="940" b="0">
                <a:solidFill>
                  <a:srgbClr val="0B1F3A"/>
                </a:solidFill>
                <a:latin typeface="Segoe UI"/>
              </a:rPr>
              <a:t> rewrites </a:t>
            </a:r>
            <a:r>
              <a:rPr sz="940" b="0">
                <a:solidFill>
                  <a:srgbClr val="056ECE"/>
                </a:solidFill>
                <a:latin typeface="Consolas"/>
              </a:rPr>
              <a:t>?</a:t>
            </a:r>
            <a:r>
              <a:rPr sz="940" b="0">
                <a:solidFill>
                  <a:srgbClr val="0B1F3A"/>
                </a:solidFill>
                <a:latin typeface="Segoe UI"/>
              </a:rPr>
              <a:t>→</a:t>
            </a:r>
            <a:r>
              <a:rPr sz="940" b="0">
                <a:solidFill>
                  <a:srgbClr val="056ECE"/>
                </a:solidFill>
                <a:latin typeface="Consolas"/>
              </a:rPr>
              <a:t>%s</a:t>
            </a:r>
            <a:r>
              <a:rPr sz="940" b="0">
                <a:solidFill>
                  <a:srgbClr val="0B1F3A"/>
                </a:solidFill>
                <a:latin typeface="Segoe UI"/>
              </a:rPr>
              <a:t> and strips </a:t>
            </a:r>
            <a:r>
              <a:rPr sz="940" b="0">
                <a:solidFill>
                  <a:srgbClr val="056ECE"/>
                </a:solidFill>
                <a:latin typeface="Consolas"/>
              </a:rPr>
              <a:t>AUTOINCREMENT</a:t>
            </a:r>
            <a:r>
              <a:rPr sz="940" b="0">
                <a:solidFill>
                  <a:srgbClr val="0B1F3A"/>
                </a:solidFill>
                <a:latin typeface="Segoe UI"/>
              </a:rPr>
              <a:t>; </a:t>
            </a:r>
            <a:r>
              <a:rPr sz="940" b="0">
                <a:solidFill>
                  <a:srgbClr val="056ECE"/>
                </a:solidFill>
                <a:latin typeface="Consolas"/>
              </a:rPr>
              <a:t>PostgresRow(dict)</a:t>
            </a:r>
            <a:r>
              <a:rPr sz="940" b="0">
                <a:solidFill>
                  <a:srgbClr val="0B1F3A"/>
                </a:solidFill>
                <a:latin typeface="Segoe UI"/>
              </a:rPr>
              <a:t> adds </a:t>
            </a:r>
            <a:r>
              <a:rPr sz="940" b="0">
                <a:solidFill>
                  <a:srgbClr val="056ECE"/>
                </a:solidFill>
                <a:latin typeface="Consolas"/>
              </a:rPr>
              <a:t>__getitem__(int)</a:t>
            </a:r>
            <a:r>
              <a:rPr sz="940" b="0">
                <a:solidFill>
                  <a:srgbClr val="0B1F3A"/>
                </a:solidFill>
                <a:latin typeface="Segoe UI"/>
              </a:rPr>
              <a:t> so </a:t>
            </a:r>
            <a:r>
              <a:rPr sz="940" b="0">
                <a:solidFill>
                  <a:srgbClr val="056ECE"/>
                </a:solidFill>
                <a:latin typeface="Consolas"/>
              </a:rPr>
              <a:t>row[0]</a:t>
            </a:r>
            <a:r>
              <a:rPr sz="940" b="0">
                <a:solidFill>
                  <a:srgbClr val="0B1F3A"/>
                </a:solidFill>
                <a:latin typeface="Segoe UI"/>
              </a:rPr>
              <a:t> works; connection choice is one </a:t>
            </a:r>
            <a:r>
              <a:rPr sz="940" b="0">
                <a:solidFill>
                  <a:srgbClr val="056ECE"/>
                </a:solidFill>
                <a:latin typeface="Consolas"/>
              </a:rPr>
              <a:t>if</a:t>
            </a:r>
            <a:r>
              <a:rPr sz="940" b="0">
                <a:solidFill>
                  <a:srgbClr val="0B1F3A"/>
                </a:solidFill>
                <a:latin typeface="Segoe UI"/>
              </a:rPr>
              <a:t> on </a:t>
            </a:r>
            <a:r>
              <a:rPr sz="940" b="0">
                <a:solidFill>
                  <a:srgbClr val="056ECE"/>
                </a:solidFill>
                <a:latin typeface="Consolas"/>
              </a:rPr>
              <a:t>DATABASE_URL</a:t>
            </a:r>
            <a:r>
              <a:rPr sz="940" b="0">
                <a:solidFill>
                  <a:srgbClr val="0B1F3A"/>
                </a:solidFill>
                <a:latin typeface="Segoe UI"/>
              </a:rPr>
              <a:t>; a failure falls back to SQLite so a demo never dies.</a:t>
            </a:r>
          </a:p>
        </p:txBody>
      </p:sp>
      <p:sp>
        <p:nvSpPr>
          <p:cNvPr id="12" name="Rounded Rectangle 11"/>
          <p:cNvSpPr/>
          <p:nvPr/>
        </p:nvSpPr>
        <p:spPr>
          <a:xfrm>
            <a:off x="8097136" y="1042416"/>
            <a:ext cx="3929966" cy="1124904"/>
          </a:xfrm>
          <a:prstGeom prst="roundRect">
            <a:avLst>
              <a:gd name="adj" fmla="val 5500"/>
            </a:avLst>
          </a:prstGeom>
          <a:solidFill>
            <a:srgbClr val="FEF4E2"/>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3" name="Rounded Rectangle 12"/>
          <p:cNvSpPr/>
          <p:nvPr/>
        </p:nvSpPr>
        <p:spPr>
          <a:xfrm>
            <a:off x="8108109" y="1124712"/>
            <a:ext cx="41148" cy="960312"/>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5152" y="1133856"/>
            <a:ext cx="3692222" cy="155752"/>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40" b="0">
                <a:solidFill>
                  <a:srgbClr val="0B1F3A"/>
                </a:solidFill>
                <a:latin typeface="Segoe UI"/>
              </a:rPr>
              <a:t>COST</a:t>
            </a:r>
          </a:p>
        </p:txBody>
      </p:sp>
      <p:sp>
        <p:nvSpPr>
          <p:cNvPr id="15" name="Rounded Rectangle 14"/>
          <p:cNvSpPr/>
          <p:nvPr/>
        </p:nvSpPr>
        <p:spPr>
          <a:xfrm>
            <a:off x="8225152" y="1342644"/>
            <a:ext cx="3692222" cy="15735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940" b="0">
                <a:solidFill>
                  <a:srgbClr val="F59E0B"/>
                </a:solidFill>
                <a:latin typeface="Segoe UI"/>
              </a:rPr>
              <a:t>Naive rewriting + a dangerous fallback</a:t>
            </a:r>
          </a:p>
        </p:txBody>
      </p:sp>
      <p:sp>
        <p:nvSpPr>
          <p:cNvPr id="16" name="Rounded Rectangle 15"/>
          <p:cNvSpPr/>
          <p:nvPr/>
        </p:nvSpPr>
        <p:spPr>
          <a:xfrm>
            <a:off x="8225152" y="1536573"/>
            <a:ext cx="3692222" cy="52699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40" b="0">
                <a:solidFill>
                  <a:srgbClr val="0B1F3A"/>
                </a:solidFill>
                <a:latin typeface="Segoe UI"/>
              </a:rPr>
              <a:t>Text replacement is not a parser: it rewrites inside string literals too. The fallback can silently persist to a file instead of the production DB, and stripping </a:t>
            </a:r>
            <a:r>
              <a:rPr sz="840" b="0">
                <a:solidFill>
                  <a:srgbClr val="056ECE"/>
                </a:solidFill>
                <a:latin typeface="Consolas"/>
              </a:rPr>
              <a:t>AUTOINCREMENT</a:t>
            </a:r>
            <a:r>
              <a:rPr sz="840" b="0">
                <a:solidFill>
                  <a:srgbClr val="0B1F3A"/>
                </a:solidFill>
                <a:latin typeface="Segoe UI"/>
              </a:rPr>
              <a:t> leaves no sequence for </a:t>
            </a:r>
            <a:r>
              <a:rPr sz="840" b="0">
                <a:solidFill>
                  <a:srgbClr val="056ECE"/>
                </a:solidFill>
                <a:latin typeface="Consolas"/>
              </a:rPr>
              <a:t>history_id</a:t>
            </a:r>
            <a:r>
              <a:rPr sz="840" b="0">
                <a:solidFill>
                  <a:srgbClr val="0B1F3A"/>
                </a:solidFill>
                <a:latin typeface="Segoe UI"/>
              </a:rPr>
              <a:t>. Migrations: an idempotent </a:t>
            </a:r>
            <a:r>
              <a:rPr sz="840" b="0">
                <a:solidFill>
                  <a:srgbClr val="056ECE"/>
                </a:solidFill>
                <a:latin typeface="Consolas"/>
              </a:rPr>
              <a:t>ALTER TABLE</a:t>
            </a:r>
            <a:r>
              <a:rPr sz="840" b="0">
                <a:solidFill>
                  <a:srgbClr val="0B1F3A"/>
                </a:solidFill>
                <a:latin typeface="Segoe UI"/>
              </a:rPr>
              <a:t> inside </a:t>
            </a:r>
            <a:r>
              <a:rPr sz="840" b="0">
                <a:solidFill>
                  <a:srgbClr val="056ECE"/>
                </a:solidFill>
                <a:latin typeface="Consolas"/>
              </a:rPr>
              <a:t>except Exception: pass</a:t>
            </a:r>
            <a:r>
              <a:rPr sz="840" b="0">
                <a:solidFill>
                  <a:srgbClr val="0B1F3A"/>
                </a:solidFill>
                <a:latin typeface="Segoe UI"/>
              </a:rPr>
              <a:t>.</a:t>
            </a:r>
          </a:p>
        </p:txBody>
      </p:sp>
      <p:sp>
        <p:nvSpPr>
          <p:cNvPr id="17" name="Rounded Rectangle 16"/>
          <p:cNvSpPr/>
          <p:nvPr/>
        </p:nvSpPr>
        <p:spPr>
          <a:xfrm>
            <a:off x="457200" y="2313624"/>
            <a:ext cx="3417362" cy="9212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8" name="Rounded Rectangle 17"/>
          <p:cNvSpPr/>
          <p:nvPr/>
        </p:nvSpPr>
        <p:spPr>
          <a:xfrm>
            <a:off x="585216" y="2405064"/>
            <a:ext cx="3179618" cy="19110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CHALLENGE</a:t>
            </a:r>
          </a:p>
        </p:txBody>
      </p:sp>
      <p:sp>
        <p:nvSpPr>
          <p:cNvPr id="19" name="Rounded Rectangle 18"/>
          <p:cNvSpPr/>
          <p:nvPr/>
        </p:nvSpPr>
        <p:spPr>
          <a:xfrm>
            <a:off x="585216" y="2649209"/>
            <a:ext cx="3179618" cy="34671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Authorise 26 routes, 4 roles, and one object-ownership rule</a:t>
            </a:r>
          </a:p>
        </p:txBody>
      </p:sp>
      <p:sp>
        <p:nvSpPr>
          <p:cNvPr id="20" name="Rounded Rectangle 19"/>
          <p:cNvSpPr/>
          <p:nvPr/>
        </p:nvSpPr>
        <p:spPr>
          <a:xfrm>
            <a:off x="585216" y="3032495"/>
            <a:ext cx="3179618" cy="14630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Plus keep every denial visible in a log.</a:t>
            </a:r>
          </a:p>
        </p:txBody>
      </p:sp>
      <p:sp>
        <p:nvSpPr>
          <p:cNvPr id="21" name="Rounded Rectangle 20"/>
          <p:cNvSpPr/>
          <p:nvPr/>
        </p:nvSpPr>
        <p:spPr>
          <a:xfrm>
            <a:off x="4020866" y="2313624"/>
            <a:ext cx="3929966" cy="9212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2" name="Rounded Rectangle 21"/>
          <p:cNvSpPr/>
          <p:nvPr/>
        </p:nvSpPr>
        <p:spPr>
          <a:xfrm>
            <a:off x="4148882" y="2405064"/>
            <a:ext cx="3692222" cy="15869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60" b="0">
                <a:solidFill>
                  <a:srgbClr val="0B1F3A"/>
                </a:solidFill>
                <a:latin typeface="Segoe UI"/>
              </a:rPr>
              <a:t>DECISION</a:t>
            </a:r>
          </a:p>
        </p:txBody>
      </p:sp>
      <p:sp>
        <p:nvSpPr>
          <p:cNvPr id="23" name="Rounded Rectangle 22"/>
          <p:cNvSpPr/>
          <p:nvPr/>
        </p:nvSpPr>
        <p:spPr>
          <a:xfrm>
            <a:off x="4148882" y="2616799"/>
            <a:ext cx="3692222" cy="1600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960" b="0">
                <a:solidFill>
                  <a:srgbClr val="062B57"/>
                </a:solidFill>
                <a:latin typeface="Segoe UI"/>
              </a:rPr>
              <a:t>Sessions + two decorators, no JWT</a:t>
            </a:r>
          </a:p>
        </p:txBody>
      </p:sp>
      <p:sp>
        <p:nvSpPr>
          <p:cNvPr id="24" name="Rounded Rectangle 23"/>
          <p:cNvSpPr/>
          <p:nvPr/>
        </p:nvSpPr>
        <p:spPr>
          <a:xfrm>
            <a:off x="4148882" y="2813395"/>
            <a:ext cx="3692222" cy="34828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60" b="0">
                <a:solidFill>
                  <a:srgbClr val="0B1F3A"/>
                </a:solidFill>
                <a:latin typeface="Segoe UI"/>
              </a:rPr>
              <a:t>The browser is the only client, so a signed </a:t>
            </a:r>
            <a:r>
              <a:rPr sz="860" b="0">
                <a:solidFill>
                  <a:srgbClr val="056ECE"/>
                </a:solidFill>
                <a:latin typeface="Consolas"/>
              </a:rPr>
              <a:t>HttpOnly</a:t>
            </a:r>
            <a:r>
              <a:rPr sz="860" b="0">
                <a:solidFill>
                  <a:srgbClr val="0B1F3A"/>
                </a:solidFill>
                <a:latin typeface="Segoe UI"/>
              </a:rPr>
              <a:t> cookie beats a bearer token the page must store. Ownership is enforced twice on purpose — in the list query and again on the detail read.</a:t>
            </a:r>
          </a:p>
        </p:txBody>
      </p:sp>
      <p:sp>
        <p:nvSpPr>
          <p:cNvPr id="25" name="Rounded Rectangle 24"/>
          <p:cNvSpPr/>
          <p:nvPr/>
        </p:nvSpPr>
        <p:spPr>
          <a:xfrm>
            <a:off x="8097136" y="2313624"/>
            <a:ext cx="3929966" cy="921209"/>
          </a:xfrm>
          <a:prstGeom prst="roundRect">
            <a:avLst>
              <a:gd name="adj" fmla="val 5500"/>
            </a:avLst>
          </a:prstGeom>
          <a:solidFill>
            <a:srgbClr val="FEF4E2"/>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26" name="Rounded Rectangle 25"/>
          <p:cNvSpPr/>
          <p:nvPr/>
        </p:nvSpPr>
        <p:spPr>
          <a:xfrm>
            <a:off x="8108109" y="2395920"/>
            <a:ext cx="41148" cy="756617"/>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25152" y="2405064"/>
            <a:ext cx="3692222" cy="14986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00" b="0">
                <a:solidFill>
                  <a:srgbClr val="0B1F3A"/>
                </a:solidFill>
                <a:latin typeface="Segoe UI"/>
              </a:rPr>
              <a:t>COST</a:t>
            </a:r>
          </a:p>
        </p:txBody>
      </p:sp>
      <p:sp>
        <p:nvSpPr>
          <p:cNvPr id="28" name="Rounded Rectangle 27"/>
          <p:cNvSpPr/>
          <p:nvPr/>
        </p:nvSpPr>
        <p:spPr>
          <a:xfrm>
            <a:off x="8225152" y="2607959"/>
            <a:ext cx="3692222" cy="15201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900" b="0">
                <a:solidFill>
                  <a:srgbClr val="F59E0B"/>
                </a:solidFill>
                <a:latin typeface="Segoe UI"/>
              </a:rPr>
              <a:t>Same-origin lock-in + coverage by hand</a:t>
            </a:r>
          </a:p>
        </p:txBody>
      </p:sp>
      <p:sp>
        <p:nvSpPr>
          <p:cNvPr id="29" name="Rounded Rectangle 28"/>
          <p:cNvSpPr/>
          <p:nvPr/>
        </p:nvSpPr>
        <p:spPr>
          <a:xfrm>
            <a:off x="8225152" y="2796554"/>
            <a:ext cx="3692222" cy="36512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00" b="0">
                <a:solidFill>
                  <a:srgbClr val="0B1F3A"/>
                </a:solidFill>
                <a:latin typeface="Segoe UI"/>
              </a:rPr>
              <a:t>No token means no native client without rework; CSRF rests on </a:t>
            </a:r>
            <a:r>
              <a:rPr sz="800" b="0">
                <a:solidFill>
                  <a:srgbClr val="056ECE"/>
                </a:solidFill>
                <a:latin typeface="Consolas"/>
              </a:rPr>
              <a:t>SameSite=Lax</a:t>
            </a:r>
            <a:r>
              <a:rPr sz="800" b="0">
                <a:solidFill>
                  <a:srgbClr val="0B1F3A"/>
                </a:solidFill>
                <a:latin typeface="Segoe UI"/>
              </a:rPr>
              <a:t> alone; and per-route protection is only complete if someone decorates every new route — 25 of 26 today, with a Semgrep rule as the only backstop.</a:t>
            </a:r>
          </a:p>
        </p:txBody>
      </p:sp>
      <p:sp>
        <p:nvSpPr>
          <p:cNvPr id="30" name="Rounded Rectangle 29"/>
          <p:cNvSpPr/>
          <p:nvPr/>
        </p:nvSpPr>
        <p:spPr>
          <a:xfrm>
            <a:off x="457200" y="3381138"/>
            <a:ext cx="3417362" cy="9212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31" name="Rounded Rectangle 30"/>
          <p:cNvSpPr/>
          <p:nvPr/>
        </p:nvSpPr>
        <p:spPr>
          <a:xfrm>
            <a:off x="585216" y="3472578"/>
            <a:ext cx="3179618" cy="19110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CHALLENGE</a:t>
            </a:r>
          </a:p>
        </p:txBody>
      </p:sp>
      <p:sp>
        <p:nvSpPr>
          <p:cNvPr id="32" name="Rounded Rectangle 31"/>
          <p:cNvSpPr/>
          <p:nvPr/>
        </p:nvSpPr>
        <p:spPr>
          <a:xfrm>
            <a:off x="585216" y="3716723"/>
            <a:ext cx="3179618" cy="34671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“Real-time” tracking with no GPS, no map key, no socket server</a:t>
            </a:r>
          </a:p>
        </p:txBody>
      </p:sp>
      <p:sp>
        <p:nvSpPr>
          <p:cNvPr id="33" name="Rounded Rectangle 32"/>
          <p:cNvSpPr/>
          <p:nvPr/>
        </p:nvSpPr>
        <p:spPr>
          <a:xfrm>
            <a:off x="4020866" y="3381138"/>
            <a:ext cx="3929966" cy="9212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34" name="Rounded Rectangle 33"/>
          <p:cNvSpPr/>
          <p:nvPr/>
        </p:nvSpPr>
        <p:spPr>
          <a:xfrm>
            <a:off x="4148882" y="3472578"/>
            <a:ext cx="3692222" cy="15869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60" b="0">
                <a:solidFill>
                  <a:srgbClr val="0B1F3A"/>
                </a:solidFill>
                <a:latin typeface="Segoe UI"/>
              </a:rPr>
              <a:t>DECISION</a:t>
            </a:r>
          </a:p>
        </p:txBody>
      </p:sp>
      <p:sp>
        <p:nvSpPr>
          <p:cNvPr id="35" name="Rounded Rectangle 34"/>
          <p:cNvSpPr/>
          <p:nvPr/>
        </p:nvSpPr>
        <p:spPr>
          <a:xfrm>
            <a:off x="4148882" y="3684312"/>
            <a:ext cx="3692222" cy="1600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960" b="0">
                <a:solidFill>
                  <a:srgbClr val="062B57"/>
                </a:solidFill>
                <a:latin typeface="Segoe UI"/>
              </a:rPr>
              <a:t>Deterministic simulation + 4 s polling + </a:t>
            </a:r>
            <a:r>
              <a:rPr sz="960" b="0">
                <a:solidFill>
                  <a:srgbClr val="056ECE"/>
                </a:solidFill>
                <a:latin typeface="Consolas"/>
              </a:rPr>
              <a:t>&lt;canvas&gt;</a:t>
            </a:r>
          </a:p>
        </p:txBody>
      </p:sp>
      <p:sp>
        <p:nvSpPr>
          <p:cNvPr id="36" name="Rounded Rectangle 35"/>
          <p:cNvSpPr/>
          <p:nvPr/>
        </p:nvSpPr>
        <p:spPr>
          <a:xfrm>
            <a:off x="4148882" y="3880908"/>
            <a:ext cx="3692222" cy="34828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60" b="0">
                <a:solidFill>
                  <a:srgbClr val="0B1F3A"/>
                </a:solidFill>
                <a:latin typeface="Segoe UI"/>
              </a:rPr>
              <a:t>Position is interpolated between two city coordinates by a clock-derived factor; the client draws the route itself, so there is no tile provider, no API key quota and no WebSocket infrastructure to grade.</a:t>
            </a:r>
          </a:p>
        </p:txBody>
      </p:sp>
      <p:sp>
        <p:nvSpPr>
          <p:cNvPr id="37" name="Rounded Rectangle 36"/>
          <p:cNvSpPr/>
          <p:nvPr/>
        </p:nvSpPr>
        <p:spPr>
          <a:xfrm>
            <a:off x="8097136" y="3381138"/>
            <a:ext cx="3929966" cy="921209"/>
          </a:xfrm>
          <a:prstGeom prst="roundRect">
            <a:avLst>
              <a:gd name="adj" fmla="val 5500"/>
            </a:avLst>
          </a:prstGeom>
          <a:solidFill>
            <a:srgbClr val="FEF4E2"/>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38" name="Rounded Rectangle 37"/>
          <p:cNvSpPr/>
          <p:nvPr/>
        </p:nvSpPr>
        <p:spPr>
          <a:xfrm>
            <a:off x="8108109" y="3463434"/>
            <a:ext cx="41148" cy="756617"/>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225152" y="3472578"/>
            <a:ext cx="3692222" cy="14396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760" b="0">
                <a:solidFill>
                  <a:srgbClr val="0B1F3A"/>
                </a:solidFill>
                <a:latin typeface="Segoe UI"/>
              </a:rPr>
              <a:t>COST</a:t>
            </a:r>
          </a:p>
        </p:txBody>
      </p:sp>
      <p:sp>
        <p:nvSpPr>
          <p:cNvPr id="40" name="Rounded Rectangle 39"/>
          <p:cNvSpPr/>
          <p:nvPr/>
        </p:nvSpPr>
        <p:spPr>
          <a:xfrm>
            <a:off x="8225152" y="3669580"/>
            <a:ext cx="3692222" cy="14668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860" b="0">
                <a:solidFill>
                  <a:srgbClr val="F59E0B"/>
                </a:solidFill>
                <a:latin typeface="Segoe UI"/>
              </a:rPr>
              <a:t>A demo that cannot be mistaken for the real thing — yet</a:t>
            </a:r>
          </a:p>
        </p:txBody>
      </p:sp>
      <p:sp>
        <p:nvSpPr>
          <p:cNvPr id="41" name="Rounded Rectangle 40"/>
          <p:cNvSpPr/>
          <p:nvPr/>
        </p:nvSpPr>
        <p:spPr>
          <a:xfrm>
            <a:off x="8225152" y="3852841"/>
            <a:ext cx="3692222" cy="36789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760" b="0">
                <a:solidFill>
                  <a:srgbClr val="0B1F3A"/>
                </a:solidFill>
                <a:latin typeface="Segoe UI"/>
              </a:rPr>
              <a:t>All shipments share one clock (lockstep, rewinding every 100 s), the “no active shipment” case returns a fabricated row, and the fallback coordinate pretends any unknown city is Delhi. Honest only while the label says “simulation”.</a:t>
            </a:r>
          </a:p>
        </p:txBody>
      </p:sp>
      <p:sp>
        <p:nvSpPr>
          <p:cNvPr id="42" name="Rounded Rectangle 41"/>
          <p:cNvSpPr/>
          <p:nvPr/>
        </p:nvSpPr>
        <p:spPr>
          <a:xfrm>
            <a:off x="457200" y="4448652"/>
            <a:ext cx="3417362" cy="9212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43" name="Rounded Rectangle 42"/>
          <p:cNvSpPr/>
          <p:nvPr/>
        </p:nvSpPr>
        <p:spPr>
          <a:xfrm>
            <a:off x="585216" y="4540092"/>
            <a:ext cx="3179618" cy="19110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CHALLENGE</a:t>
            </a:r>
          </a:p>
        </p:txBody>
      </p:sp>
      <p:sp>
        <p:nvSpPr>
          <p:cNvPr id="44" name="Rounded Rectangle 43"/>
          <p:cNvSpPr/>
          <p:nvPr/>
        </p:nvSpPr>
        <p:spPr>
          <a:xfrm>
            <a:off x="585216" y="4784237"/>
            <a:ext cx="3179618" cy="34671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Money and status must never be client-set — with no framework to help</a:t>
            </a:r>
          </a:p>
        </p:txBody>
      </p:sp>
      <p:sp>
        <p:nvSpPr>
          <p:cNvPr id="45" name="Rounded Rectangle 44"/>
          <p:cNvSpPr/>
          <p:nvPr/>
        </p:nvSpPr>
        <p:spPr>
          <a:xfrm>
            <a:off x="4020866" y="4448652"/>
            <a:ext cx="3929966" cy="9212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46" name="Rounded Rectangle 45"/>
          <p:cNvSpPr/>
          <p:nvPr/>
        </p:nvSpPr>
        <p:spPr>
          <a:xfrm>
            <a:off x="4148882" y="4540092"/>
            <a:ext cx="3692222" cy="15869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60" b="0">
                <a:solidFill>
                  <a:srgbClr val="0B1F3A"/>
                </a:solidFill>
                <a:latin typeface="Segoe UI"/>
              </a:rPr>
              <a:t>DECISION</a:t>
            </a:r>
          </a:p>
        </p:txBody>
      </p:sp>
      <p:sp>
        <p:nvSpPr>
          <p:cNvPr id="47" name="Rounded Rectangle 46"/>
          <p:cNvSpPr/>
          <p:nvPr/>
        </p:nvSpPr>
        <p:spPr>
          <a:xfrm>
            <a:off x="4148882" y="4751826"/>
            <a:ext cx="3692222" cy="1600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960" b="0">
                <a:solidFill>
                  <a:srgbClr val="062B57"/>
                </a:solidFill>
                <a:latin typeface="Segoe UI"/>
              </a:rPr>
              <a:t>Explicit allowlist + constants + read-back</a:t>
            </a:r>
          </a:p>
        </p:txBody>
      </p:sp>
      <p:sp>
        <p:nvSpPr>
          <p:cNvPr id="48" name="Rounded Rectangle 47"/>
          <p:cNvSpPr/>
          <p:nvPr/>
        </p:nvSpPr>
        <p:spPr>
          <a:xfrm>
            <a:off x="4148882" y="4948422"/>
            <a:ext cx="3692222" cy="34828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60" b="0">
                <a:solidFill>
                  <a:srgbClr val="056ECE"/>
                </a:solidFill>
                <a:latin typeface="Consolas"/>
              </a:rPr>
              <a:t>safe = {k for k in ALLOWED}</a:t>
            </a:r>
            <a:r>
              <a:rPr sz="860" b="0">
                <a:solidFill>
                  <a:srgbClr val="0B1F3A"/>
                </a:solidFill>
                <a:latin typeface="Segoe UI"/>
              </a:rPr>
              <a:t>, then </a:t>
            </a:r>
            <a:r>
              <a:rPr sz="860" b="0">
                <a:solidFill>
                  <a:srgbClr val="056ECE"/>
                </a:solidFill>
                <a:latin typeface="Consolas"/>
              </a:rPr>
              <a:t>status='Booked'</a:t>
            </a:r>
            <a:r>
              <a:rPr sz="860" b="0">
                <a:solidFill>
                  <a:srgbClr val="0B1F3A"/>
                </a:solidFill>
                <a:latin typeface="Segoe UI"/>
              </a:rPr>
              <a:t> as a literal, and the response is re-read from the DB so the client sees what was stored, not what it asked for.</a:t>
            </a:r>
          </a:p>
        </p:txBody>
      </p:sp>
      <p:sp>
        <p:nvSpPr>
          <p:cNvPr id="49" name="Rounded Rectangle 48"/>
          <p:cNvSpPr/>
          <p:nvPr/>
        </p:nvSpPr>
        <p:spPr>
          <a:xfrm>
            <a:off x="8097136" y="4448652"/>
            <a:ext cx="3929966" cy="9212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50" name="Rounded Rectangle 49"/>
          <p:cNvSpPr/>
          <p:nvPr/>
        </p:nvSpPr>
        <p:spPr>
          <a:xfrm>
            <a:off x="8225152" y="4540092"/>
            <a:ext cx="3692222" cy="1410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740" b="0">
                <a:solidFill>
                  <a:srgbClr val="0B1F3A"/>
                </a:solidFill>
                <a:latin typeface="Segoe UI"/>
              </a:rPr>
              <a:t>COST</a:t>
            </a:r>
          </a:p>
        </p:txBody>
      </p:sp>
      <p:sp>
        <p:nvSpPr>
          <p:cNvPr id="51" name="Rounded Rectangle 50"/>
          <p:cNvSpPr/>
          <p:nvPr/>
        </p:nvSpPr>
        <p:spPr>
          <a:xfrm>
            <a:off x="8225152" y="4734148"/>
            <a:ext cx="3692222" cy="14401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840" b="0">
                <a:solidFill>
                  <a:srgbClr val="062B57"/>
                </a:solidFill>
                <a:latin typeface="Segoe UI"/>
              </a:rPr>
              <a:t>A hand-maintained list is a bug generator</a:t>
            </a:r>
          </a:p>
        </p:txBody>
      </p:sp>
      <p:sp>
        <p:nvSpPr>
          <p:cNvPr id="52" name="Rounded Rectangle 51"/>
          <p:cNvSpPr/>
          <p:nvPr/>
        </p:nvSpPr>
        <p:spPr>
          <a:xfrm>
            <a:off x="8225152" y="4914742"/>
            <a:ext cx="3692222" cy="38196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740" b="0">
                <a:solidFill>
                  <a:srgbClr val="0B1F3A"/>
                </a:solidFill>
                <a:latin typeface="Segoe UI"/>
              </a:rPr>
              <a:t>One field read from </a:t>
            </a:r>
            <a:r>
              <a:rPr sz="740" b="0">
                <a:solidFill>
                  <a:srgbClr val="056ECE"/>
                </a:solidFill>
                <a:latin typeface="Consolas"/>
              </a:rPr>
              <a:t>data</a:t>
            </a:r>
            <a:r>
              <a:rPr sz="740" b="0">
                <a:solidFill>
                  <a:srgbClr val="0B1F3A"/>
                </a:solidFill>
                <a:latin typeface="Segoe UI"/>
              </a:rPr>
              <a:t> instead of </a:t>
            </a:r>
            <a:r>
              <a:rPr sz="740" b="0">
                <a:solidFill>
                  <a:srgbClr val="056ECE"/>
                </a:solidFill>
                <a:latin typeface="Consolas"/>
              </a:rPr>
              <a:t>safe</a:t>
            </a:r>
            <a:r>
              <a:rPr sz="740" b="0">
                <a:solidFill>
                  <a:srgbClr val="0B1F3A"/>
                </a:solidFill>
                <a:latin typeface="Segoe UI"/>
              </a:rPr>
              <a:t> re-opened the hole I measured; two aliases (</a:t>
            </a:r>
            <a:r>
              <a:rPr sz="740" b="0">
                <a:solidFill>
                  <a:srgbClr val="056ECE"/>
                </a:solidFill>
                <a:latin typeface="Consolas"/>
              </a:rPr>
              <a:t>customer</a:t>
            </a:r>
            <a:r>
              <a:rPr sz="740" b="0">
                <a:solidFill>
                  <a:srgbClr val="0B1F3A"/>
                </a:solidFill>
                <a:latin typeface="Segoe UI"/>
              </a:rPr>
              <a:t>/</a:t>
            </a:r>
            <a:r>
              <a:rPr sz="740" b="0">
                <a:solidFill>
                  <a:srgbClr val="056ECE"/>
                </a:solidFill>
                <a:latin typeface="Consolas"/>
              </a:rPr>
              <a:t>pickup</a:t>
            </a:r>
            <a:r>
              <a:rPr sz="740" b="0">
                <a:solidFill>
                  <a:srgbClr val="0B1F3A"/>
                </a:solidFill>
                <a:latin typeface="Segoe UI"/>
              </a:rPr>
              <a:t>/</a:t>
            </a:r>
            <a:r>
              <a:rPr sz="740" b="0">
                <a:solidFill>
                  <a:srgbClr val="056ECE"/>
                </a:solidFill>
                <a:latin typeface="Consolas"/>
              </a:rPr>
              <a:t>weight</a:t>
            </a:r>
            <a:r>
              <a:rPr sz="740" b="0">
                <a:solidFill>
                  <a:srgbClr val="0B1F3A"/>
                </a:solidFill>
                <a:latin typeface="Segoe UI"/>
              </a:rPr>
              <a:t>) sit in the allowlist as UI conveniences; and the same payload shape is duplicated in 14 JS modules and 0 schema files. A Pydantic or JSON-Schema model would remove this entire class of mistake.</a:t>
            </a:r>
          </a:p>
        </p:txBody>
      </p:sp>
      <p:sp>
        <p:nvSpPr>
          <p:cNvPr id="53" name="Rounded Rectangle 52"/>
          <p:cNvSpPr/>
          <p:nvPr/>
        </p:nvSpPr>
        <p:spPr>
          <a:xfrm>
            <a:off x="457200" y="5516166"/>
            <a:ext cx="3417362" cy="9212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54" name="Rounded Rectangle 53"/>
          <p:cNvSpPr/>
          <p:nvPr/>
        </p:nvSpPr>
        <p:spPr>
          <a:xfrm>
            <a:off x="585216" y="5607606"/>
            <a:ext cx="3179618" cy="19110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CHALLENGE</a:t>
            </a:r>
          </a:p>
        </p:txBody>
      </p:sp>
      <p:sp>
        <p:nvSpPr>
          <p:cNvPr id="55" name="Rounded Rectangle 54"/>
          <p:cNvSpPr/>
          <p:nvPr/>
        </p:nvSpPr>
        <p:spPr>
          <a:xfrm>
            <a:off x="585216" y="5851750"/>
            <a:ext cx="3179618" cy="34671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“Works on my machine” deployments, with no budget for a staging environment</a:t>
            </a:r>
          </a:p>
        </p:txBody>
      </p:sp>
      <p:sp>
        <p:nvSpPr>
          <p:cNvPr id="56" name="Rounded Rectangle 55"/>
          <p:cNvSpPr/>
          <p:nvPr/>
        </p:nvSpPr>
        <p:spPr>
          <a:xfrm>
            <a:off x="4020866" y="5516166"/>
            <a:ext cx="3929966" cy="921209"/>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57" name="Rounded Rectangle 56"/>
          <p:cNvSpPr/>
          <p:nvPr/>
        </p:nvSpPr>
        <p:spPr>
          <a:xfrm>
            <a:off x="4148882" y="5607606"/>
            <a:ext cx="3692222" cy="15280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19" b="0">
                <a:solidFill>
                  <a:srgbClr val="0B1F3A"/>
                </a:solidFill>
                <a:latin typeface="Segoe UI"/>
              </a:rPr>
              <a:t>DECISION</a:t>
            </a:r>
          </a:p>
        </p:txBody>
      </p:sp>
      <p:sp>
        <p:nvSpPr>
          <p:cNvPr id="58" name="Rounded Rectangle 57"/>
          <p:cNvSpPr/>
          <p:nvPr/>
        </p:nvSpPr>
        <p:spPr>
          <a:xfrm>
            <a:off x="4148882" y="5813447"/>
            <a:ext cx="3692222" cy="15468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919" b="0">
                <a:solidFill>
                  <a:srgbClr val="062B57"/>
                </a:solidFill>
                <a:latin typeface="Segoe UI"/>
              </a:rPr>
              <a:t>Give CI read-only access to the platform and bound its authority</a:t>
            </a:r>
          </a:p>
        </p:txBody>
      </p:sp>
      <p:sp>
        <p:nvSpPr>
          <p:cNvPr id="59" name="Rounded Rectangle 58"/>
          <p:cNvSpPr/>
          <p:nvPr/>
        </p:nvSpPr>
        <p:spPr>
          <a:xfrm>
            <a:off x="4148882" y="6004709"/>
            <a:ext cx="3692222" cy="35951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19" b="0">
                <a:solidFill>
                  <a:srgbClr val="0B1F3A"/>
                </a:solidFill>
                <a:latin typeface="Segoe UI"/>
              </a:rPr>
              <a:t>Observe → classify → redact → (optionally) propose → escalate to a human; </a:t>
            </a:r>
            <a:r>
              <a:rPr sz="819" b="0">
                <a:solidFill>
                  <a:srgbClr val="056ECE"/>
                </a:solidFill>
                <a:latin typeface="Consolas"/>
              </a:rPr>
              <a:t>auth/*</a:t>
            </a:r>
            <a:r>
              <a:rPr sz="819" b="0">
                <a:solidFill>
                  <a:srgbClr val="0B1F3A"/>
                </a:solidFill>
                <a:latin typeface="Segoe UI"/>
              </a:rPr>
              <a:t> failures are never auto-fixed; the whole thing is stdlib </a:t>
            </a:r>
            <a:r>
              <a:rPr sz="819" b="0">
                <a:solidFill>
                  <a:srgbClr val="056ECE"/>
                </a:solidFill>
                <a:latin typeface="Consolas"/>
              </a:rPr>
              <a:t>urllib</a:t>
            </a:r>
            <a:r>
              <a:rPr sz="819" b="0">
                <a:solidFill>
                  <a:srgbClr val="0B1F3A"/>
                </a:solidFill>
                <a:latin typeface="Segoe UI"/>
              </a:rPr>
              <a:t> so CI needs no extra install step.</a:t>
            </a:r>
          </a:p>
        </p:txBody>
      </p:sp>
      <p:sp>
        <p:nvSpPr>
          <p:cNvPr id="60" name="Rounded Rectangle 59"/>
          <p:cNvSpPr/>
          <p:nvPr/>
        </p:nvSpPr>
        <p:spPr>
          <a:xfrm>
            <a:off x="8097136" y="5516166"/>
            <a:ext cx="3929966" cy="921209"/>
          </a:xfrm>
          <a:prstGeom prst="roundRect">
            <a:avLst>
              <a:gd name="adj" fmla="val 5500"/>
            </a:avLst>
          </a:prstGeom>
          <a:solidFill>
            <a:srgbClr val="FEF4E2"/>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61" name="Rounded Rectangle 60"/>
          <p:cNvSpPr/>
          <p:nvPr/>
        </p:nvSpPr>
        <p:spPr>
          <a:xfrm>
            <a:off x="8108109" y="5598462"/>
            <a:ext cx="41148" cy="756617"/>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8225152" y="5607606"/>
            <a:ext cx="3692222" cy="158699"/>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60" b="0">
                <a:solidFill>
                  <a:srgbClr val="0B1F3A"/>
                </a:solidFill>
                <a:latin typeface="Segoe UI"/>
              </a:rPr>
              <a:t>COST</a:t>
            </a:r>
          </a:p>
        </p:txBody>
      </p:sp>
      <p:sp>
        <p:nvSpPr>
          <p:cNvPr id="63" name="Rounded Rectangle 62"/>
          <p:cNvSpPr/>
          <p:nvPr/>
        </p:nvSpPr>
        <p:spPr>
          <a:xfrm>
            <a:off x="8225152" y="5819340"/>
            <a:ext cx="3692222" cy="1600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960" b="0">
                <a:solidFill>
                  <a:srgbClr val="F59E0B"/>
                </a:solidFill>
                <a:latin typeface="Segoe UI"/>
              </a:rPr>
              <a:t>Ceremony without a payoff yet</a:t>
            </a:r>
          </a:p>
        </p:txBody>
      </p:sp>
      <p:sp>
        <p:nvSpPr>
          <p:cNvPr id="64" name="Rounded Rectangle 63"/>
          <p:cNvSpPr/>
          <p:nvPr/>
        </p:nvSpPr>
        <p:spPr>
          <a:xfrm>
            <a:off x="8225152" y="6015936"/>
            <a:ext cx="3692222" cy="34828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860" b="0">
                <a:solidFill>
                  <a:srgbClr val="0B1F3A"/>
                </a:solidFill>
                <a:latin typeface="Segoe UI"/>
              </a:rPr>
              <a:t>Because the fix stage never mutates a file, today's agent buys faster diagnosis but no shorter MTTR — and its documented guarantees (“9 layers”, “adds the missing package”) overstate the implementation.</a:t>
            </a:r>
          </a:p>
        </p:txBody>
      </p:sp>
      <p:sp>
        <p:nvSpPr>
          <p:cNvPr id="65" name="Rounded Rectangle 64"/>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backend/database.py · PostgresConnWrapper</a:t>
            </a:r>
            <a:r>
              <a:rPr sz="830" b="0">
                <a:solidFill>
                  <a:srgbClr val="056ECE"/>
                </a:solidFill>
                <a:latin typeface="Consolas"/>
              </a:rPr>
              <a:t>   ·   backend/tracking.py</a:t>
            </a:r>
            <a:r>
              <a:rPr sz="830" b="0">
                <a:solidFill>
                  <a:srgbClr val="056ECE"/>
                </a:solidFill>
                <a:latin typeface="Consolas"/>
              </a:rPr>
              <a:t>   ·   backend/services.py · create_shipment</a:t>
            </a:r>
            <a:r>
              <a:rPr sz="830" b="0">
                <a:solidFill>
                  <a:srgbClr val="056ECE"/>
                </a:solidFill>
                <a:latin typeface="Consolas"/>
              </a:rPr>
              <a:t>   ·   scripts/render_*.py</a:t>
            </a:r>
            <a:r>
              <a:rPr sz="860" b="1">
                <a:solidFill>
                  <a:srgbClr val="F59E0B"/>
                </a:solidFill>
                <a:latin typeface="Segoe UI"/>
              </a:rPr>
              <a:t>   ·   Each “COST” cell is something I would change — and could justify changing</a:t>
            </a:r>
          </a:p>
        </p:txBody>
      </p:sp>
      <p:sp>
        <p:nvSpPr>
          <p:cNvPr id="66" name="Rounded Rectangle 65"/>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15 · LIMITATIONS</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500" b="0">
                <a:solidFill>
                  <a:srgbClr val="062B57"/>
                </a:solidFill>
                <a:latin typeface="Segoe UI"/>
              </a:rPr>
              <a:t>What this is not — gaps, each with a reproduction</a:t>
            </a:r>
          </a:p>
        </p:txBody>
      </p:sp>
      <p:sp>
        <p:nvSpPr>
          <p:cNvPr id="4" name="Rounded Rectangle 3"/>
          <p:cNvSpPr/>
          <p:nvPr/>
        </p:nvSpPr>
        <p:spPr>
          <a:xfrm>
            <a:off x="457200" y="1042416"/>
            <a:ext cx="5638647" cy="2639934"/>
          </a:xfrm>
          <a:prstGeom prst="roundRect">
            <a:avLst>
              <a:gd name="adj" fmla="val 5500"/>
            </a:avLst>
          </a:prstGeom>
          <a:solidFill>
            <a:srgbClr val="FEF4E2"/>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5" name="Rounded Rectangle 4"/>
          <p:cNvSpPr/>
          <p:nvPr/>
        </p:nvSpPr>
        <p:spPr>
          <a:xfrm>
            <a:off x="468172" y="1124712"/>
            <a:ext cx="41148" cy="2475342"/>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133856"/>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F59E0B"/>
                </a:solidFill>
                <a:latin typeface="Segoe UI"/>
              </a:rPr>
              <a:t>⚠</a:t>
            </a:r>
            <a:r>
              <a:rPr sz="1180" b="0">
                <a:solidFill>
                  <a:srgbClr val="F59E0B"/>
                </a:solidFill>
                <a:latin typeface="Segoe UI"/>
              </a:rPr>
              <a:t>Correctness &amp; data</a:t>
            </a:r>
          </a:p>
        </p:txBody>
      </p:sp>
      <p:sp>
        <p:nvSpPr>
          <p:cNvPr id="7" name="Rounded Rectangle 6"/>
          <p:cNvSpPr/>
          <p:nvPr/>
        </p:nvSpPr>
        <p:spPr>
          <a:xfrm>
            <a:off x="585216" y="1359789"/>
            <a:ext cx="5400903" cy="210037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Booking is </a:t>
            </a:r>
            <a:r>
              <a:rPr sz="1080" b="1">
                <a:solidFill>
                  <a:srgbClr val="0B1F3A"/>
                </a:solidFill>
                <a:latin typeface="Segoe UI"/>
              </a:rPr>
              <a:t>unusable for the CUSTOMER role</a:t>
            </a:r>
            <a:r>
              <a:rPr sz="1080" b="0">
                <a:solidFill>
                  <a:srgbClr val="0B1F3A"/>
                </a:solidFill>
                <a:latin typeface="Segoe UI"/>
              </a:rPr>
              <a:t>: </a:t>
            </a:r>
            <a:r>
              <a:rPr sz="1080" b="0">
                <a:solidFill>
                  <a:srgbClr val="056ECE"/>
                </a:solidFill>
                <a:latin typeface="Consolas"/>
              </a:rPr>
              <a:t>user_id</a:t>
            </a:r>
            <a:r>
              <a:rPr sz="1080" b="0">
                <a:solidFill>
                  <a:srgbClr val="0B1F3A"/>
                </a:solidFill>
                <a:latin typeface="Segoe UI"/>
              </a:rPr>
              <a:t> is written into </a:t>
            </a:r>
            <a:r>
              <a:rPr sz="1080" b="0">
                <a:solidFill>
                  <a:srgbClr val="056ECE"/>
                </a:solidFill>
                <a:latin typeface="Consolas"/>
              </a:rPr>
              <a:t>customer_id</a:t>
            </a:r>
            <a:r>
              <a:rPr sz="1080" b="0">
                <a:solidFill>
                  <a:srgbClr val="0B1F3A"/>
                </a:solidFill>
                <a:latin typeface="Segoe UI"/>
              </a:rPr>
              <a:t> with no user→customer mapping — measured HTTP 500 on the FK.</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A failed write </a:t>
            </a:r>
            <a:r>
              <a:rPr sz="1080" b="1">
                <a:solidFill>
                  <a:srgbClr val="0B1F3A"/>
                </a:solidFill>
                <a:latin typeface="Segoe UI"/>
              </a:rPr>
              <a:t>leaks the connection</a:t>
            </a:r>
            <a:r>
              <a:rPr sz="1080" b="0">
                <a:solidFill>
                  <a:srgbClr val="0B1F3A"/>
                </a:solidFill>
                <a:latin typeface="Segoe UI"/>
              </a:rPr>
              <a:t> and poisons every later write for the process’s lifetime.</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Freight cost is a salted hash</a:t>
            </a:r>
            <a:r>
              <a:rPr sz="1080" b="0">
                <a:solidFill>
                  <a:srgbClr val="0B1F3A"/>
                </a:solidFill>
                <a:latin typeface="Segoe UI"/>
              </a:rPr>
              <a:t>, so invoices are irreproducible; GST (18 %) is a literal.</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Distance, ETA and speed come from </a:t>
            </a:r>
            <a:r>
              <a:rPr sz="1080" b="1">
                <a:solidFill>
                  <a:srgbClr val="0B1F3A"/>
                </a:solidFill>
                <a:latin typeface="Segoe UI"/>
              </a:rPr>
              <a:t>string lengths and a clock</a:t>
            </a:r>
            <a:r>
              <a:rPr sz="1080" b="0">
                <a:solidFill>
                  <a:srgbClr val="0B1F3A"/>
                </a:solidFill>
                <a:latin typeface="Segoe UI"/>
              </a:rPr>
              <a:t>; 3 seeded deliveries still carry 4-digit OTPs.</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No state-machine validation; </a:t>
            </a:r>
            <a:r>
              <a:rPr sz="1080" b="1">
                <a:solidFill>
                  <a:srgbClr val="0B1F3A"/>
                </a:solidFill>
                <a:latin typeface="Segoe UI"/>
              </a:rPr>
              <a:t>no indexes</a:t>
            </a:r>
            <a:r>
              <a:rPr sz="1080" b="0">
                <a:solidFill>
                  <a:srgbClr val="0B1F3A"/>
                </a:solidFill>
                <a:latin typeface="Segoe UI"/>
              </a:rPr>
              <a:t> beyond PK/UNIQUE; no pagination on any list endpoint (the only </a:t>
            </a:r>
            <a:r>
              <a:rPr sz="1080" b="0">
                <a:solidFill>
                  <a:srgbClr val="056ECE"/>
                </a:solidFill>
                <a:latin typeface="Consolas"/>
              </a:rPr>
              <a:t>LIMIT</a:t>
            </a:r>
            <a:r>
              <a:rPr sz="1080" b="0">
                <a:solidFill>
                  <a:srgbClr val="0B1F3A"/>
                </a:solidFill>
                <a:latin typeface="Segoe UI"/>
              </a:rPr>
              <a:t>s in the backend are the two dashboard side-panels, </a:t>
            </a:r>
            <a:r>
              <a:rPr sz="1080" b="0">
                <a:solidFill>
                  <a:srgbClr val="056ECE"/>
                </a:solidFill>
                <a:latin typeface="Consolas"/>
              </a:rPr>
              <a:t>reports.py:35,39</a:t>
            </a:r>
            <a:r>
              <a:rPr sz="1080" b="0">
                <a:solidFill>
                  <a:srgbClr val="0B1F3A"/>
                </a:solidFill>
                <a:latin typeface="Segoe UI"/>
              </a:rPr>
              <a:t>), so </a:t>
            </a:r>
            <a:r>
              <a:rPr sz="1080" b="0">
                <a:solidFill>
                  <a:srgbClr val="056ECE"/>
                </a:solidFill>
                <a:latin typeface="Consolas"/>
              </a:rPr>
              <a:t>LIKE ’%x%’</a:t>
            </a:r>
            <a:r>
              <a:rPr sz="1080" b="0">
                <a:solidFill>
                  <a:srgbClr val="0B1F3A"/>
                </a:solidFill>
                <a:latin typeface="Segoe UI"/>
              </a:rPr>
              <a:t> scans grow linearly.</a:t>
            </a:r>
          </a:p>
          <a:p>
            <a:pPr algn="l">
              <a:lnSpc>
                <a:spcPct val="116000"/>
              </a:lnSpc>
              <a:spcBef>
                <a:spcPts val="0"/>
              </a:spcBef>
              <a:spcAft>
                <a:spcPts val="0"/>
              </a:spcAft>
            </a:pPr>
            <a:r>
              <a:rPr sz="1080" b="0">
                <a:solidFill>
                  <a:srgbClr val="056ECE"/>
                </a:solidFill>
                <a:latin typeface="Consolas"/>
              </a:rPr>
              <a:t>▸  </a:t>
            </a:r>
            <a:r>
              <a:rPr sz="1080" b="0">
                <a:solidFill>
                  <a:srgbClr val="056ECE"/>
                </a:solidFill>
                <a:latin typeface="Consolas"/>
              </a:rPr>
              <a:t>DELETE /api/shipments/:id</a:t>
            </a:r>
            <a:r>
              <a:rPr sz="1080" b="0">
                <a:solidFill>
                  <a:srgbClr val="0B1F3A"/>
                </a:solidFill>
                <a:latin typeface="Segoe UI"/>
              </a:rPr>
              <a:t> 500s whenever an invoice exists — the </a:t>
            </a:r>
            <a:r>
              <a:rPr sz="1080" b="0">
                <a:solidFill>
                  <a:srgbClr val="056ECE"/>
                </a:solidFill>
                <a:latin typeface="Consolas"/>
              </a:rPr>
              <a:t>payments</a:t>
            </a:r>
            <a:r>
              <a:rPr sz="1080" b="0">
                <a:solidFill>
                  <a:srgbClr val="0B1F3A"/>
                </a:solidFill>
                <a:latin typeface="Segoe UI"/>
              </a:rPr>
              <a:t> FK has no </a:t>
            </a:r>
            <a:r>
              <a:rPr sz="1080" b="0">
                <a:solidFill>
                  <a:srgbClr val="056ECE"/>
                </a:solidFill>
                <a:latin typeface="Consolas"/>
              </a:rPr>
              <a:t>ON DELETE CASCADE</a:t>
            </a:r>
            <a:r>
              <a:rPr sz="1080" b="0">
                <a:solidFill>
                  <a:srgbClr val="0B1F3A"/>
                </a:solidFill>
                <a:latin typeface="Segoe UI"/>
              </a:rPr>
              <a:t> (measured).</a:t>
            </a:r>
          </a:p>
        </p:txBody>
      </p:sp>
      <p:sp>
        <p:nvSpPr>
          <p:cNvPr id="8" name="Rounded Rectangle 7"/>
          <p:cNvSpPr/>
          <p:nvPr/>
        </p:nvSpPr>
        <p:spPr>
          <a:xfrm>
            <a:off x="457200" y="3828654"/>
            <a:ext cx="5638647" cy="2608721"/>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9" name="Rounded Rectangle 8"/>
          <p:cNvSpPr/>
          <p:nvPr/>
        </p:nvSpPr>
        <p:spPr>
          <a:xfrm>
            <a:off x="585216" y="3920094"/>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t>
            </a:r>
            <a:r>
              <a:rPr sz="1180" b="0">
                <a:solidFill>
                  <a:srgbClr val="062B57"/>
                </a:solidFill>
                <a:latin typeface="Segoe UI"/>
              </a:rPr>
              <a:t>Security, quality &amp; the client</a:t>
            </a:r>
          </a:p>
        </p:txBody>
      </p:sp>
      <p:sp>
        <p:nvSpPr>
          <p:cNvPr id="10" name="Rounded Rectangle 9"/>
          <p:cNvSpPr/>
          <p:nvPr/>
        </p:nvSpPr>
        <p:spPr>
          <a:xfrm>
            <a:off x="585216" y="4146027"/>
            <a:ext cx="5400903" cy="210037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0 tests.</a:t>
            </a:r>
            <a:r>
              <a:rPr sz="1080" b="0">
                <a:solidFill>
                  <a:srgbClr val="0B1F3A"/>
                </a:solidFill>
                <a:latin typeface="Segoe UI"/>
              </a:rPr>
              <a:t> Per-route rate limits inert. No CSRF token, no CSP / HSTS / X-Frame-Options, no password policy.</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24 client renderings</a:t>
            </a:r>
            <a:r>
              <a:rPr sz="1080" b="0">
                <a:solidFill>
                  <a:srgbClr val="0B1F3A"/>
                </a:solidFill>
                <a:latin typeface="Segoe UI"/>
              </a:rPr>
              <a:t> put server strings into </a:t>
            </a:r>
            <a:r>
              <a:rPr sz="1080" b="0">
                <a:solidFill>
                  <a:srgbClr val="056ECE"/>
                </a:solidFill>
                <a:latin typeface="Consolas"/>
              </a:rPr>
              <a:t>innerHTML</a:t>
            </a:r>
            <a:r>
              <a:rPr sz="1080" b="0">
                <a:solidFill>
                  <a:srgbClr val="0B1F3A"/>
                </a:solidFill>
                <a:latin typeface="Segoe UI"/>
              </a:rPr>
              <a:t> with no escaping helper and no backend sanitisation. I confirmed the payload is stored and returned raw; I </a:t>
            </a:r>
            <a:r>
              <a:rPr sz="1080" b="1">
                <a:solidFill>
                  <a:srgbClr val="0B1F3A"/>
                </a:solidFill>
                <a:latin typeface="Segoe UI"/>
              </a:rPr>
              <a:t>could not execute it</a:t>
            </a:r>
            <a:r>
              <a:rPr sz="1080" b="0">
                <a:solidFill>
                  <a:srgbClr val="0B1F3A"/>
                </a:solidFill>
                <a:latin typeface="Segoe UI"/>
              </a:rPr>
              <a:t> — no browser here, and I will not claim a result I did not observe.</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OTP plaintext and compared with </a:t>
            </a:r>
            <a:r>
              <a:rPr sz="1080" b="0">
                <a:solidFill>
                  <a:srgbClr val="056ECE"/>
                </a:solidFill>
                <a:latin typeface="Consolas"/>
              </a:rPr>
              <a:t>!=</a:t>
            </a:r>
            <a:r>
              <a:rPr sz="1080" b="0">
                <a:solidFill>
                  <a:srgbClr val="0B1F3A"/>
                </a:solidFill>
                <a:latin typeface="Segoe UI"/>
              </a:rPr>
              <a:t>; the Deliveries page renders the </a:t>
            </a:r>
            <a:r>
              <a:rPr sz="1080" b="0">
                <a:solidFill>
                  <a:srgbClr val="056ECE"/>
                </a:solidFill>
                <a:latin typeface="Consolas"/>
              </a:rPr>
              <a:t>otp_code</a:t>
            </a:r>
            <a:r>
              <a:rPr sz="1080" b="0">
                <a:solidFill>
                  <a:srgbClr val="0B1F3A"/>
                </a:solidFill>
                <a:latin typeface="Segoe UI"/>
              </a:rPr>
              <a:t> field F-05 removed, so operators see </a:t>
            </a:r>
            <a:r>
              <a:rPr sz="1080" b="1">
                <a:solidFill>
                  <a:srgbClr val="0B1F3A"/>
                </a:solidFill>
                <a:latin typeface="Segoe UI"/>
              </a:rPr>
              <a:t>undefined</a:t>
            </a:r>
            <a:r>
              <a:rPr sz="1080" b="0">
                <a:solidFill>
                  <a:srgbClr val="0B1F3A"/>
                </a:solidFill>
                <a:latin typeface="Segoe UI"/>
              </a:rPr>
              <a:t>. </a:t>
            </a:r>
            <a:r>
              <a:rPr sz="1080" b="0">
                <a:solidFill>
                  <a:srgbClr val="056ECE"/>
                </a:solidFill>
                <a:latin typeface="Consolas"/>
              </a:rPr>
              <a:t>/deliveries</a:t>
            </a:r>
            <a:r>
              <a:rPr sz="1080" b="0">
                <a:solidFill>
                  <a:srgbClr val="0B1F3A"/>
                </a:solidFill>
                <a:latin typeface="Segoe UI"/>
              </a:rPr>
              <a:t> and </a:t>
            </a:r>
            <a:r>
              <a:rPr sz="1080" b="0">
                <a:solidFill>
                  <a:srgbClr val="056ECE"/>
                </a:solidFill>
                <a:latin typeface="Consolas"/>
              </a:rPr>
              <a:t>/notifications</a:t>
            </a:r>
            <a:r>
              <a:rPr sz="1080" b="0">
                <a:solidFill>
                  <a:srgbClr val="0B1F3A"/>
                </a:solidFill>
                <a:latin typeface="Segoe UI"/>
              </a:rPr>
              <a:t> are not role-scoped.</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Debug 500 pages echo SQL errors to the client; </a:t>
            </a:r>
            <a:r>
              <a:rPr sz="1080" b="0">
                <a:solidFill>
                  <a:srgbClr val="056ECE"/>
                </a:solidFill>
                <a:latin typeface="Consolas"/>
              </a:rPr>
              <a:t>data/*.json</a:t>
            </a:r>
            <a:r>
              <a:rPr sz="1080" b="0">
                <a:solidFill>
                  <a:srgbClr val="0B1F3A"/>
                </a:solidFill>
                <a:latin typeface="Segoe UI"/>
              </a:rPr>
              <a:t> is read by nothing; the login page hardcodes demo passwords in </a:t>
            </a:r>
            <a:r>
              <a:rPr sz="1080" b="0">
                <a:solidFill>
                  <a:srgbClr val="056ECE"/>
                </a:solidFill>
                <a:latin typeface="Consolas"/>
              </a:rPr>
              <a:t>onclick</a:t>
            </a:r>
            <a:r>
              <a:rPr sz="1080" b="0">
                <a:solidFill>
                  <a:srgbClr val="0B1F3A"/>
                </a:solidFill>
                <a:latin typeface="Segoe UI"/>
              </a:rPr>
              <a:t>. Docs claim an MIT </a:t>
            </a:r>
            <a:r>
              <a:rPr sz="1080" b="0">
                <a:solidFill>
                  <a:srgbClr val="056ECE"/>
                </a:solidFill>
                <a:latin typeface="Consolas"/>
              </a:rPr>
              <a:t>LICENSE</a:t>
            </a:r>
            <a:r>
              <a:rPr sz="1080" b="0">
                <a:solidFill>
                  <a:srgbClr val="0B1F3A"/>
                </a:solidFill>
                <a:latin typeface="Segoe UI"/>
              </a:rPr>
              <a:t> that is not in the tree, 6 Semgrep rules where 7 exist, and “9-layer” sanitisation where 3 layers exist.</a:t>
            </a:r>
          </a:p>
        </p:txBody>
      </p:sp>
      <p:sp>
        <p:nvSpPr>
          <p:cNvPr id="11" name="Rounded Rectangle 10"/>
          <p:cNvSpPr/>
          <p:nvPr/>
        </p:nvSpPr>
        <p:spPr>
          <a:xfrm>
            <a:off x="6242151" y="1042416"/>
            <a:ext cx="5638647" cy="2296565"/>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2" name="Rounded Rectangle 11"/>
          <p:cNvSpPr/>
          <p:nvPr/>
        </p:nvSpPr>
        <p:spPr>
          <a:xfrm>
            <a:off x="6370167" y="1133856"/>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t>
            </a:r>
            <a:r>
              <a:rPr sz="1180" b="0">
                <a:solidFill>
                  <a:srgbClr val="062B57"/>
                </a:solidFill>
                <a:latin typeface="Segoe UI"/>
              </a:rPr>
              <a:t>Scale &amp; ops limits</a:t>
            </a:r>
          </a:p>
        </p:txBody>
      </p:sp>
      <p:sp>
        <p:nvSpPr>
          <p:cNvPr id="13" name="Rounded Rectangle 12"/>
          <p:cNvSpPr/>
          <p:nvPr/>
        </p:nvSpPr>
        <p:spPr>
          <a:xfrm>
            <a:off x="6370167" y="1359789"/>
            <a:ext cx="5400903" cy="130484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One-process assumptions everywhere: in-memory limiter (per worker), no Redis unless </a:t>
            </a:r>
            <a:r>
              <a:rPr sz="1080" b="0">
                <a:solidFill>
                  <a:srgbClr val="056ECE"/>
                </a:solidFill>
                <a:latin typeface="Consolas"/>
              </a:rPr>
              <a:t>REDIS_URL</a:t>
            </a:r>
            <a:r>
              <a:rPr sz="1080" b="0">
                <a:solidFill>
                  <a:srgbClr val="0B1F3A"/>
                </a:solidFill>
                <a:latin typeface="Segoe UI"/>
              </a:rPr>
              <a:t> is set.</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One connection per service call, no pool, no shared transaction across the 5 writes.</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Single Render web service; </a:t>
            </a:r>
            <a:r>
              <a:rPr sz="1080" b="0">
                <a:solidFill>
                  <a:srgbClr val="056ECE"/>
                </a:solidFill>
                <a:latin typeface="Consolas"/>
              </a:rPr>
              <a:t>healthCheckPath: /</a:t>
            </a:r>
            <a:r>
              <a:rPr sz="1080" b="0">
                <a:solidFill>
                  <a:srgbClr val="0B1F3A"/>
                </a:solidFill>
                <a:latin typeface="Segoe UI"/>
              </a:rPr>
              <a:t> only proves Flask serves HTML, not that the DB answers.</a:t>
            </a:r>
          </a:p>
          <a:p>
            <a:pPr algn="l">
              <a:lnSpc>
                <a:spcPct val="116000"/>
              </a:lnSpc>
              <a:spcBef>
                <a:spcPts val="0"/>
              </a:spcBef>
              <a:spcAft>
                <a:spcPts val="0"/>
              </a:spcAft>
            </a:pPr>
            <a:r>
              <a:rPr sz="1080" b="0">
                <a:solidFill>
                  <a:srgbClr val="056ECE"/>
                </a:solidFill>
                <a:latin typeface="Consolas"/>
              </a:rPr>
              <a:t>▸  </a:t>
            </a:r>
            <a:r>
              <a:rPr sz="1080" b="0">
                <a:solidFill>
                  <a:srgbClr val="0B1F3A"/>
                </a:solidFill>
                <a:latin typeface="Segoe UI"/>
              </a:rPr>
              <a:t>No container image, no lockfile — </a:t>
            </a:r>
            <a:r>
              <a:rPr sz="1080" b="0">
                <a:solidFill>
                  <a:srgbClr val="056ECE"/>
                </a:solidFill>
                <a:latin typeface="Consolas"/>
              </a:rPr>
              <a:t>requirements.txt</a:t>
            </a:r>
            <a:r>
              <a:rPr sz="1080" b="0">
                <a:solidFill>
                  <a:srgbClr val="0B1F3A"/>
                </a:solidFill>
                <a:latin typeface="Segoe UI"/>
              </a:rPr>
              <a:t> is range-pinned, so builds are not reproducible.</a:t>
            </a:r>
          </a:p>
        </p:txBody>
      </p:sp>
      <p:sp>
        <p:nvSpPr>
          <p:cNvPr id="14" name="Rounded Rectangle 13"/>
          <p:cNvSpPr/>
          <p:nvPr/>
        </p:nvSpPr>
        <p:spPr>
          <a:xfrm>
            <a:off x="6242151" y="3485285"/>
            <a:ext cx="5638647" cy="2952090"/>
          </a:xfrm>
          <a:prstGeom prst="roundRect">
            <a:avLst>
              <a:gd name="adj" fmla="val 5500"/>
            </a:avLst>
          </a:prstGeom>
          <a:solidFill>
            <a:srgbClr val="EFEBFD"/>
          </a:solidFill>
          <a:ln w="9525">
            <a:solidFill>
              <a:srgbClr val="6946D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5" name="Rounded Rectangle 14"/>
          <p:cNvSpPr/>
          <p:nvPr/>
        </p:nvSpPr>
        <p:spPr>
          <a:xfrm>
            <a:off x="6253124" y="3567581"/>
            <a:ext cx="41148" cy="2787498"/>
          </a:xfrm>
          <a:prstGeom prst="roundRect">
            <a:avLst>
              <a:gd name="adj" fmla="val 50000"/>
            </a:avLst>
          </a:prstGeom>
          <a:solidFill>
            <a:srgbClr val="694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70167" y="3576725"/>
            <a:ext cx="5400903"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6946D8"/>
                </a:solidFill>
                <a:latin typeface="Segoe UI"/>
              </a:rPr>
              <a:t>✦</a:t>
            </a:r>
            <a:r>
              <a:rPr sz="1180" b="0">
                <a:solidFill>
                  <a:srgbClr val="6946D8"/>
                </a:solidFill>
                <a:latin typeface="Segoe UI"/>
              </a:rPr>
              <a:t>Deliberate scope decisions — not defects</a:t>
            </a:r>
          </a:p>
        </p:txBody>
      </p:sp>
      <p:sp>
        <p:nvSpPr>
          <p:cNvPr id="17" name="Rounded Rectangle 16"/>
          <p:cNvSpPr/>
          <p:nvPr/>
        </p:nvSpPr>
        <p:spPr>
          <a:xfrm>
            <a:off x="6370167" y="3802658"/>
            <a:ext cx="5400903" cy="146395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Simulated telemetry and pricing formulas</a:t>
            </a:r>
            <a:r>
              <a:rPr sz="1080" b="0">
                <a:solidFill>
                  <a:srgbClr val="0B1F3A"/>
                </a:solidFill>
                <a:latin typeface="Segoe UI"/>
              </a:rPr>
              <a:t>: the interesting engineering was the API contract and the security layer, not GPS plumbing — so they are labelled, not hidden.</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No ORM.</a:t>
            </a:r>
            <a:r>
              <a:rPr sz="1080" b="0">
                <a:solidFill>
                  <a:srgbClr val="0B1F3A"/>
                </a:solidFill>
                <a:latin typeface="Segoe UI"/>
              </a:rPr>
              <a:t> 1,914 lines of explicit SQL, every statement parameterised, integrity declared in the schema.</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No JS framework or bundler.</a:t>
            </a:r>
            <a:r>
              <a:rPr sz="1080" b="0">
                <a:solidFill>
                  <a:srgbClr val="0B1F3A"/>
                </a:solidFill>
                <a:latin typeface="Segoe UI"/>
              </a:rPr>
              <a:t> </a:t>
            </a:r>
            <a:r>
              <a:rPr sz="1080" b="0">
                <a:solidFill>
                  <a:srgbClr val="056ECE"/>
                </a:solidFill>
                <a:latin typeface="Consolas"/>
              </a:rPr>
              <a:t>pip install -r requirements.txt &amp;&amp; python3 backend/app.py</a:t>
            </a:r>
            <a:r>
              <a:rPr sz="1080" b="0">
                <a:solidFill>
                  <a:srgbClr val="0B1F3A"/>
                </a:solidFill>
                <a:latin typeface="Segoe UI"/>
              </a:rPr>
              <a:t> is the whole setup a reviewer needs.</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Read-only ops automation.</a:t>
            </a:r>
            <a:r>
              <a:rPr sz="1080" b="0">
                <a:solidFill>
                  <a:srgbClr val="0B1F3A"/>
                </a:solidFill>
                <a:latin typeface="Segoe UI"/>
              </a:rPr>
              <a:t> It cannot merge, cannot push to </a:t>
            </a:r>
            <a:r>
              <a:rPr sz="1080" b="0">
                <a:solidFill>
                  <a:srgbClr val="056ECE"/>
                </a:solidFill>
                <a:latin typeface="Consolas"/>
              </a:rPr>
              <a:t>main</a:t>
            </a:r>
            <a:r>
              <a:rPr sz="1080" b="0">
                <a:solidFill>
                  <a:srgbClr val="0B1F3A"/>
                </a:solidFill>
                <a:latin typeface="Segoe UI"/>
              </a:rPr>
              <a:t>, cannot touch </a:t>
            </a:r>
            <a:r>
              <a:rPr sz="1080" b="0">
                <a:solidFill>
                  <a:srgbClr val="056ECE"/>
                </a:solidFill>
                <a:latin typeface="Consolas"/>
              </a:rPr>
              <a:t>auth/*</a:t>
            </a:r>
            <a:r>
              <a:rPr sz="1080" b="0">
                <a:solidFill>
                  <a:srgbClr val="0B1F3A"/>
                </a:solidFill>
                <a:latin typeface="Segoe UI"/>
              </a:rPr>
              <a:t>.</a:t>
            </a:r>
          </a:p>
        </p:txBody>
      </p:sp>
      <p:sp>
        <p:nvSpPr>
          <p:cNvPr id="18" name="Rounded Rectangle 17"/>
          <p:cNvSpPr/>
          <p:nvPr/>
        </p:nvSpPr>
        <p:spPr>
          <a:xfrm>
            <a:off x="6370167" y="5319648"/>
            <a:ext cx="5400903" cy="35021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I list these because a limitation and a scope decision look identical in a feature list and behave very differently in a review.</a:t>
            </a:r>
          </a:p>
        </p:txBody>
      </p:sp>
      <p:sp>
        <p:nvSpPr>
          <p:cNvPr id="19" name="Rounded Rectangle 18"/>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backend/services.py · create_shipment / delete_shipment</a:t>
            </a:r>
            <a:r>
              <a:rPr sz="830" b="0">
                <a:solidFill>
                  <a:srgbClr val="056ECE"/>
                </a:solidFill>
                <a:latin typeface="Consolas"/>
              </a:rPr>
              <a:t>   ·   frontend/js/*.js · 24 innerHTML sites</a:t>
            </a:r>
            <a:r>
              <a:rPr sz="830" b="0">
                <a:solidFill>
                  <a:srgbClr val="056ECE"/>
                </a:solidFill>
                <a:latin typeface="Consolas"/>
              </a:rPr>
              <a:t>   ·   .github/workflows/ci.yml · test-sqlite</a:t>
            </a:r>
            <a:r>
              <a:rPr sz="830" b="0">
                <a:solidFill>
                  <a:srgbClr val="056ECE"/>
                </a:solidFill>
                <a:latin typeface="Consolas"/>
              </a:rPr>
              <a:t>   ·   docs/PRESENTATION-NOTES.md § 8 · claim → line → command</a:t>
            </a:r>
          </a:p>
        </p:txBody>
      </p:sp>
      <p:sp>
        <p:nvSpPr>
          <p:cNvPr id="20" name="Rounded Rectangle 19"/>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056ECE"/>
                </a:solidFill>
                <a:latin typeface="Segoe UI"/>
              </a:rPr>
              <a:t>16 · FUTURE IMPROVEMENTS</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500" b="0">
                <a:solidFill>
                  <a:srgbClr val="062B57"/>
                </a:solidFill>
                <a:latin typeface="Segoe UI"/>
              </a:rPr>
              <a:t>The next six changes, in the order I would do them</a:t>
            </a:r>
          </a:p>
        </p:txBody>
      </p:sp>
      <p:sp>
        <p:nvSpPr>
          <p:cNvPr id="4" name="Rounded Rectangle 3"/>
          <p:cNvSpPr/>
          <p:nvPr/>
        </p:nvSpPr>
        <p:spPr>
          <a:xfrm>
            <a:off x="457200" y="1042416"/>
            <a:ext cx="6712675" cy="4139938"/>
          </a:xfrm>
          <a:prstGeom prst="roundRect">
            <a:avLst>
              <a:gd name="adj" fmla="val 5500"/>
            </a:avLst>
          </a:prstGeom>
          <a:solidFill>
            <a:srgbClr val="E5F8EE"/>
          </a:solidFill>
          <a:ln w="9525">
            <a:solidFill>
              <a:srgbClr val="08A75A"/>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5" name="Rounded Rectangle 4"/>
          <p:cNvSpPr/>
          <p:nvPr/>
        </p:nvSpPr>
        <p:spPr>
          <a:xfrm>
            <a:off x="468172" y="1124712"/>
            <a:ext cx="41148" cy="3975346"/>
          </a:xfrm>
          <a:prstGeom prst="roundRect">
            <a:avLst>
              <a:gd name="adj" fmla="val 50000"/>
            </a:avLst>
          </a:prstGeom>
          <a:solidFill>
            <a:srgbClr val="08A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133856"/>
            <a:ext cx="6474931"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8A75A"/>
                </a:solidFill>
                <a:latin typeface="Segoe UI"/>
              </a:rPr>
              <a:t>⇢</a:t>
            </a:r>
            <a:r>
              <a:rPr sz="1180" b="0">
                <a:solidFill>
                  <a:srgbClr val="08A75A"/>
                </a:solidFill>
                <a:latin typeface="Segoe UI"/>
              </a:rPr>
              <a:t>Ordered plan — each item deletes a bullet from the previous slide</a:t>
            </a:r>
          </a:p>
        </p:txBody>
      </p:sp>
      <p:sp>
        <p:nvSpPr>
          <p:cNvPr id="7" name="Rounded Rectangle 6"/>
          <p:cNvSpPr/>
          <p:nvPr/>
        </p:nvSpPr>
        <p:spPr>
          <a:xfrm>
            <a:off x="585216" y="1359789"/>
            <a:ext cx="6474931" cy="241858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1.  </a:t>
            </a:r>
            <a:r>
              <a:rPr sz="1080" b="1">
                <a:solidFill>
                  <a:srgbClr val="0B1F3A"/>
                </a:solidFill>
                <a:latin typeface="Segoe UI"/>
              </a:rPr>
              <a:t>Correctness — ≈1 day.</a:t>
            </a:r>
            <a:r>
              <a:rPr sz="1080" b="0">
                <a:solidFill>
                  <a:srgbClr val="0B1F3A"/>
                </a:solidFill>
                <a:latin typeface="Segoe UI"/>
              </a:rPr>
              <a:t> </a:t>
            </a:r>
            <a:r>
              <a:rPr sz="1080" b="0">
                <a:solidFill>
                  <a:srgbClr val="056ECE"/>
                </a:solidFill>
                <a:latin typeface="Consolas"/>
              </a:rPr>
              <a:t>safe.get('customer_id')</a:t>
            </a:r>
            <a:r>
              <a:rPr sz="1080" b="0">
                <a:solidFill>
                  <a:srgbClr val="0B1F3A"/>
                </a:solidFill>
                <a:latin typeface="Segoe UI"/>
              </a:rPr>
              <a:t> plus a real user→customer mapping; a </a:t>
            </a:r>
            <a:r>
              <a:rPr sz="1080" b="0">
                <a:solidFill>
                  <a:srgbClr val="056ECE"/>
                </a:solidFill>
                <a:latin typeface="Consolas"/>
              </a:rPr>
              <a:t>@contextmanager</a:t>
            </a:r>
            <a:r>
              <a:rPr sz="1080" b="0">
                <a:solidFill>
                  <a:srgbClr val="0B1F3A"/>
                </a:solidFill>
                <a:latin typeface="Segoe UI"/>
              </a:rPr>
              <a:t> around connections; a city-pair distance table replacing </a:t>
            </a:r>
            <a:r>
              <a:rPr sz="1080" b="0">
                <a:solidFill>
                  <a:srgbClr val="056ECE"/>
                </a:solidFill>
                <a:latin typeface="Consolas"/>
              </a:rPr>
              <a:t>hash()</a:t>
            </a:r>
            <a:r>
              <a:rPr sz="1080" b="0">
                <a:solidFill>
                  <a:srgbClr val="0B1F3A"/>
                </a:solidFill>
                <a:latin typeface="Segoe UI"/>
              </a:rPr>
              <a:t>.</a:t>
            </a:r>
          </a:p>
          <a:p>
            <a:pPr algn="l">
              <a:lnSpc>
                <a:spcPct val="116000"/>
              </a:lnSpc>
              <a:spcBef>
                <a:spcPts val="0"/>
              </a:spcBef>
              <a:spcAft>
                <a:spcPts val="0"/>
              </a:spcAft>
            </a:pPr>
            <a:r>
              <a:rPr sz="1080" b="0">
                <a:solidFill>
                  <a:srgbClr val="056ECE"/>
                </a:solidFill>
                <a:latin typeface="Consolas"/>
              </a:rPr>
              <a:t>2.  </a:t>
            </a:r>
            <a:r>
              <a:rPr sz="1080" b="1">
                <a:solidFill>
                  <a:srgbClr val="0B1F3A"/>
                </a:solidFill>
                <a:latin typeface="Segoe UI"/>
              </a:rPr>
              <a:t>Make the gates real — ≈2 days.</a:t>
            </a:r>
            <a:r>
              <a:rPr sz="1080" b="0">
                <a:solidFill>
                  <a:srgbClr val="0B1F3A"/>
                </a:solidFill>
                <a:latin typeface="Segoe UI"/>
              </a:rPr>
              <a:t> Commit the harness I probed with as </a:t>
            </a:r>
            <a:r>
              <a:rPr sz="1080" b="0">
                <a:solidFill>
                  <a:srgbClr val="056ECE"/>
                </a:solidFill>
                <a:latin typeface="Consolas"/>
              </a:rPr>
              <a:t>tests/test_api.py</a:t>
            </a:r>
            <a:r>
              <a:rPr sz="1080" b="0">
                <a:solidFill>
                  <a:srgbClr val="0B1F3A"/>
                </a:solidFill>
                <a:latin typeface="Segoe UI"/>
              </a:rPr>
              <a:t>; attach limits at route definition; let </a:t>
            </a:r>
            <a:r>
              <a:rPr sz="1080" b="0">
                <a:solidFill>
                  <a:srgbClr val="056ECE"/>
                </a:solidFill>
                <a:latin typeface="Consolas"/>
              </a:rPr>
              <a:t>test-sqlite</a:t>
            </a:r>
            <a:r>
              <a:rPr sz="1080" b="0">
                <a:solidFill>
                  <a:srgbClr val="0B1F3A"/>
                </a:solidFill>
                <a:latin typeface="Segoe UI"/>
              </a:rPr>
              <a:t> fail when </a:t>
            </a:r>
            <a:r>
              <a:rPr sz="1080" b="0">
                <a:solidFill>
                  <a:srgbClr val="056ECE"/>
                </a:solidFill>
                <a:latin typeface="Consolas"/>
              </a:rPr>
              <a:t>tests/</a:t>
            </a:r>
            <a:r>
              <a:rPr sz="1080" b="0">
                <a:solidFill>
                  <a:srgbClr val="0B1F3A"/>
                </a:solidFill>
                <a:latin typeface="Segoe UI"/>
              </a:rPr>
              <a:t> is absent.</a:t>
            </a:r>
          </a:p>
          <a:p>
            <a:pPr algn="l">
              <a:lnSpc>
                <a:spcPct val="116000"/>
              </a:lnSpc>
              <a:spcBef>
                <a:spcPts val="0"/>
              </a:spcBef>
              <a:spcAft>
                <a:spcPts val="0"/>
              </a:spcAft>
            </a:pPr>
            <a:r>
              <a:rPr sz="1080" b="0">
                <a:solidFill>
                  <a:srgbClr val="056ECE"/>
                </a:solidFill>
                <a:latin typeface="Consolas"/>
              </a:rPr>
              <a:t>3.  </a:t>
            </a:r>
            <a:r>
              <a:rPr sz="1080" b="1">
                <a:solidFill>
                  <a:srgbClr val="0B1F3A"/>
                </a:solidFill>
                <a:latin typeface="Segoe UI"/>
              </a:rPr>
              <a:t>Close the obvious holes — ≈2 days.</a:t>
            </a:r>
            <a:r>
              <a:rPr sz="1080" b="0">
                <a:solidFill>
                  <a:srgbClr val="0B1F3A"/>
                </a:solidFill>
                <a:latin typeface="Segoe UI"/>
              </a:rPr>
              <a:t> </a:t>
            </a:r>
            <a:r>
              <a:rPr sz="1080" b="0">
                <a:solidFill>
                  <a:srgbClr val="056ECE"/>
                </a:solidFill>
                <a:latin typeface="Consolas"/>
              </a:rPr>
              <a:t>errorhandler(Exception)</a:t>
            </a:r>
            <a:r>
              <a:rPr sz="1080" b="0">
                <a:solidFill>
                  <a:srgbClr val="0B1F3A"/>
                </a:solidFill>
                <a:latin typeface="Segoe UI"/>
              </a:rPr>
              <a:t> so clients stop seeing SQL text; an </a:t>
            </a:r>
            <a:r>
              <a:rPr sz="1080" b="0">
                <a:solidFill>
                  <a:srgbClr val="056ECE"/>
                </a:solidFill>
                <a:latin typeface="Consolas"/>
              </a:rPr>
              <a:t>escapeHtml()</a:t>
            </a:r>
            <a:r>
              <a:rPr sz="1080" b="0">
                <a:solidFill>
                  <a:srgbClr val="0B1F3A"/>
                </a:solidFill>
                <a:latin typeface="Segoe UI"/>
              </a:rPr>
              <a:t> helper or </a:t>
            </a:r>
            <a:r>
              <a:rPr sz="1080" b="0">
                <a:solidFill>
                  <a:srgbClr val="056ECE"/>
                </a:solidFill>
                <a:latin typeface="Consolas"/>
              </a:rPr>
              <a:t>textContent</a:t>
            </a:r>
            <a:r>
              <a:rPr sz="1080" b="0">
                <a:solidFill>
                  <a:srgbClr val="0B1F3A"/>
                </a:solidFill>
                <a:latin typeface="Segoe UI"/>
              </a:rPr>
              <a:t> in the client; role-scope </a:t>
            </a:r>
            <a:r>
              <a:rPr sz="1080" b="0">
                <a:solidFill>
                  <a:srgbClr val="056ECE"/>
                </a:solidFill>
                <a:latin typeface="Consolas"/>
              </a:rPr>
              <a:t>/deliveries</a:t>
            </a:r>
            <a:r>
              <a:rPr sz="1080" b="0">
                <a:solidFill>
                  <a:srgbClr val="0B1F3A"/>
                </a:solidFill>
                <a:latin typeface="Segoe UI"/>
              </a:rPr>
              <a:t> and </a:t>
            </a:r>
            <a:r>
              <a:rPr sz="1080" b="0">
                <a:solidFill>
                  <a:srgbClr val="056ECE"/>
                </a:solidFill>
                <a:latin typeface="Consolas"/>
              </a:rPr>
              <a:t>/notifications</a:t>
            </a:r>
            <a:r>
              <a:rPr sz="1080" b="0">
                <a:solidFill>
                  <a:srgbClr val="0B1F3A"/>
                </a:solidFill>
                <a:latin typeface="Segoe UI"/>
              </a:rPr>
              <a:t>; CSP + HSTS + </a:t>
            </a:r>
            <a:r>
              <a:rPr sz="1080" b="0">
                <a:solidFill>
                  <a:srgbClr val="056ECE"/>
                </a:solidFill>
                <a:latin typeface="Consolas"/>
              </a:rPr>
              <a:t>ProxyFix</a:t>
            </a:r>
            <a:r>
              <a:rPr sz="1080" b="0">
                <a:solidFill>
                  <a:srgbClr val="0B1F3A"/>
                </a:solidFill>
                <a:latin typeface="Segoe UI"/>
              </a:rPr>
              <a:t>.</a:t>
            </a:r>
          </a:p>
          <a:p>
            <a:pPr algn="l">
              <a:lnSpc>
                <a:spcPct val="116000"/>
              </a:lnSpc>
              <a:spcBef>
                <a:spcPts val="0"/>
              </a:spcBef>
              <a:spcAft>
                <a:spcPts val="0"/>
              </a:spcAft>
            </a:pPr>
            <a:r>
              <a:rPr sz="1080" b="0">
                <a:solidFill>
                  <a:srgbClr val="056ECE"/>
                </a:solidFill>
                <a:latin typeface="Consolas"/>
              </a:rPr>
              <a:t>4.  </a:t>
            </a:r>
            <a:r>
              <a:rPr sz="1080" b="1">
                <a:solidFill>
                  <a:srgbClr val="0B1F3A"/>
                </a:solidFill>
                <a:latin typeface="Segoe UI"/>
              </a:rPr>
              <a:t>Make the domain honest — ≈1 week.</a:t>
            </a:r>
            <a:r>
              <a:rPr sz="1080" b="0">
                <a:solidFill>
                  <a:srgbClr val="0B1F3A"/>
                </a:solidFill>
                <a:latin typeface="Segoe UI"/>
              </a:rPr>
              <a:t> A transition table for the 10 states; one serialiser (Pydantic or JSON-Schema) shared with the client; OTP hashed at rest with </a:t>
            </a:r>
            <a:r>
              <a:rPr sz="1080" b="0">
                <a:solidFill>
                  <a:srgbClr val="056ECE"/>
                </a:solidFill>
                <a:latin typeface="Consolas"/>
              </a:rPr>
              <a:t>secrets.compare_digest</a:t>
            </a:r>
            <a:r>
              <a:rPr sz="1080" b="0">
                <a:solidFill>
                  <a:srgbClr val="0B1F3A"/>
                </a:solidFill>
                <a:latin typeface="Segoe UI"/>
              </a:rPr>
              <a:t>, a re-issue endpoint and a real delivery channel.</a:t>
            </a:r>
          </a:p>
          <a:p>
            <a:pPr algn="l">
              <a:lnSpc>
                <a:spcPct val="116000"/>
              </a:lnSpc>
              <a:spcBef>
                <a:spcPts val="0"/>
              </a:spcBef>
              <a:spcAft>
                <a:spcPts val="0"/>
              </a:spcAft>
            </a:pPr>
            <a:r>
              <a:rPr sz="1080" b="0">
                <a:solidFill>
                  <a:srgbClr val="056ECE"/>
                </a:solidFill>
                <a:latin typeface="Consolas"/>
              </a:rPr>
              <a:t>5.  </a:t>
            </a:r>
            <a:r>
              <a:rPr sz="1080" b="1">
                <a:solidFill>
                  <a:srgbClr val="0B1F3A"/>
                </a:solidFill>
                <a:latin typeface="Segoe UI"/>
              </a:rPr>
              <a:t>Then scale and ops — ≈1 week.</a:t>
            </a:r>
            <a:r>
              <a:rPr sz="1080" b="0">
                <a:solidFill>
                  <a:srgbClr val="0B1F3A"/>
                </a:solidFill>
                <a:latin typeface="Segoe UI"/>
              </a:rPr>
              <a:t> Indexes + pagination; Redis for the limiter store; Alembic migrations; a lockfile and a container image; a </a:t>
            </a:r>
            <a:r>
              <a:rPr sz="1080" b="0">
                <a:solidFill>
                  <a:srgbClr val="056ECE"/>
                </a:solidFill>
                <a:latin typeface="Consolas"/>
              </a:rPr>
              <a:t>/healthz</a:t>
            </a:r>
            <a:r>
              <a:rPr sz="1080" b="0">
                <a:solidFill>
                  <a:srgbClr val="0B1F3A"/>
                </a:solidFill>
                <a:latin typeface="Segoe UI"/>
              </a:rPr>
              <a:t> that actually queries the DB.</a:t>
            </a:r>
          </a:p>
          <a:p>
            <a:pPr algn="l">
              <a:lnSpc>
                <a:spcPct val="116000"/>
              </a:lnSpc>
              <a:spcBef>
                <a:spcPts val="0"/>
              </a:spcBef>
              <a:spcAft>
                <a:spcPts val="0"/>
              </a:spcAft>
            </a:pPr>
            <a:r>
              <a:rPr sz="1080" b="0">
                <a:solidFill>
                  <a:srgbClr val="056ECE"/>
                </a:solidFill>
                <a:latin typeface="Consolas"/>
              </a:rPr>
              <a:t>6.  </a:t>
            </a:r>
            <a:r>
              <a:rPr sz="1080" b="1">
                <a:solidFill>
                  <a:srgbClr val="0B1F3A"/>
                </a:solidFill>
                <a:latin typeface="Segoe UI"/>
              </a:rPr>
              <a:t>Finish the agent — ≈2 days.</a:t>
            </a:r>
            <a:r>
              <a:rPr sz="1080" b="0">
                <a:solidFill>
                  <a:srgbClr val="0B1F3A"/>
                </a:solidFill>
                <a:latin typeface="Segoe UI"/>
              </a:rPr>
              <a:t> Let </a:t>
            </a:r>
            <a:r>
              <a:rPr sz="1080" b="0">
                <a:solidFill>
                  <a:srgbClr val="056ECE"/>
                </a:solidFill>
                <a:latin typeface="Consolas"/>
              </a:rPr>
              <a:t>render_fix.py</a:t>
            </a:r>
            <a:r>
              <a:rPr sz="1080" b="0">
                <a:solidFill>
                  <a:srgbClr val="0B1F3A"/>
                </a:solidFill>
                <a:latin typeface="Segoe UI"/>
              </a:rPr>
              <a:t> write the one fix it can safely write (a missing dependency line), so </a:t>
            </a:r>
            <a:r>
              <a:rPr sz="1080" b="0">
                <a:solidFill>
                  <a:srgbClr val="056ECE"/>
                </a:solidFill>
                <a:latin typeface="Consolas"/>
              </a:rPr>
              <a:t>result == 0</a:t>
            </a:r>
            <a:r>
              <a:rPr sz="1080" b="0">
                <a:solidFill>
                  <a:srgbClr val="0B1F3A"/>
                </a:solidFill>
                <a:latin typeface="Segoe UI"/>
              </a:rPr>
              <a:t> becomes reachable and its PR path stops being dead code — or delete the stage and call it a diagnosis agent.</a:t>
            </a:r>
          </a:p>
        </p:txBody>
      </p:sp>
      <p:sp>
        <p:nvSpPr>
          <p:cNvPr id="8" name="Rounded Rectangle 7"/>
          <p:cNvSpPr/>
          <p:nvPr/>
        </p:nvSpPr>
        <p:spPr>
          <a:xfrm>
            <a:off x="457200" y="5328658"/>
            <a:ext cx="6712675" cy="1108717"/>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9" name="Rounded Rectangle 8"/>
          <p:cNvSpPr/>
          <p:nvPr/>
        </p:nvSpPr>
        <p:spPr>
          <a:xfrm>
            <a:off x="585216" y="5420098"/>
            <a:ext cx="6474931" cy="509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1">
                <a:solidFill>
                  <a:srgbClr val="0B1F3A"/>
                </a:solidFill>
                <a:latin typeface="Segoe UI"/>
              </a:rPr>
              <a:t>Ranked by user-visible breakage first, not by how interesting the fix is.</a:t>
            </a:r>
            <a:r>
              <a:rPr sz="1080" b="0">
                <a:solidFill>
                  <a:srgbClr val="0B1F3A"/>
                </a:solidFill>
                <a:latin typeface="Segoe UI"/>
              </a:rPr>
              <a:t> Items 1 and 2 exist because a broken booking and an unverifiable claim are the two failures a reviewer cannot work around; hardening and scale can wait a week.</a:t>
            </a:r>
          </a:p>
        </p:txBody>
      </p:sp>
      <p:sp>
        <p:nvSpPr>
          <p:cNvPr id="10" name="Rounded Rectangle 9"/>
          <p:cNvSpPr/>
          <p:nvPr/>
        </p:nvSpPr>
        <p:spPr>
          <a:xfrm>
            <a:off x="7316179" y="1042416"/>
            <a:ext cx="4564619" cy="3359784"/>
          </a:xfrm>
          <a:prstGeom prst="roundRect">
            <a:avLst>
              <a:gd name="adj" fmla="val 5500"/>
            </a:avLst>
          </a:prstGeom>
          <a:solidFill>
            <a:srgbClr val="EFEBFD"/>
          </a:solidFill>
          <a:ln w="9525">
            <a:solidFill>
              <a:srgbClr val="6946D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1" name="Rounded Rectangle 10"/>
          <p:cNvSpPr/>
          <p:nvPr/>
        </p:nvSpPr>
        <p:spPr>
          <a:xfrm>
            <a:off x="7327152" y="1124712"/>
            <a:ext cx="41148" cy="3195192"/>
          </a:xfrm>
          <a:prstGeom prst="roundRect">
            <a:avLst>
              <a:gd name="adj" fmla="val 50000"/>
            </a:avLst>
          </a:prstGeom>
          <a:solidFill>
            <a:srgbClr val="694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44195" y="1133856"/>
            <a:ext cx="4326875"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6946D8"/>
                </a:solidFill>
                <a:latin typeface="Segoe UI"/>
              </a:rPr>
              <a:t>∞</a:t>
            </a:r>
            <a:r>
              <a:rPr sz="1180" b="0">
                <a:solidFill>
                  <a:srgbClr val="6946D8"/>
                </a:solidFill>
                <a:latin typeface="Segoe UI"/>
              </a:rPr>
              <a:t>Research directions I would like to pursue</a:t>
            </a:r>
          </a:p>
        </p:txBody>
      </p:sp>
      <p:sp>
        <p:nvSpPr>
          <p:cNvPr id="13" name="Rounded Rectangle 12"/>
          <p:cNvSpPr/>
          <p:nvPr/>
        </p:nvSpPr>
        <p:spPr>
          <a:xfrm>
            <a:off x="7444195" y="1359789"/>
            <a:ext cx="4326875" cy="146395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Real telemetry ingestion:</a:t>
            </a:r>
            <a:r>
              <a:rPr sz="1080" b="0">
                <a:solidFill>
                  <a:srgbClr val="0B1F3A"/>
                </a:solidFill>
                <a:latin typeface="Segoe UI"/>
              </a:rPr>
              <a:t> an append-only position table, ETA from remaining distance and traffic rather than a clock.</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Route computation:</a:t>
            </a:r>
            <a:r>
              <a:rPr sz="1080" b="0">
                <a:solidFill>
                  <a:srgbClr val="0B1F3A"/>
                </a:solidFill>
                <a:latin typeface="Segoe UI"/>
              </a:rPr>
              <a:t> OSRM or Valhalla behind a cache, with the </a:t>
            </a:r>
            <a:r>
              <a:rPr sz="1080" b="0">
                <a:solidFill>
                  <a:srgbClr val="056ECE"/>
                </a:solidFill>
                <a:latin typeface="Consolas"/>
              </a:rPr>
              <a:t>routes</a:t>
            </a:r>
            <a:r>
              <a:rPr sz="1080" b="0">
                <a:solidFill>
                  <a:srgbClr val="0B1F3A"/>
                </a:solidFill>
                <a:latin typeface="Segoe UI"/>
              </a:rPr>
              <a:t> table kept as the warm tier.</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Multi-tenant authorisation</a:t>
            </a:r>
            <a:r>
              <a:rPr sz="1080" b="0">
                <a:solidFill>
                  <a:srgbClr val="0B1F3A"/>
                </a:solidFill>
                <a:latin typeface="Segoe UI"/>
              </a:rPr>
              <a:t> as one policy object evaluated per request, replacing scattered role </a:t>
            </a:r>
            <a:r>
              <a:rPr sz="1080" b="0">
                <a:solidFill>
                  <a:srgbClr val="056ECE"/>
                </a:solidFill>
                <a:latin typeface="Consolas"/>
              </a:rPr>
              <a:t>if</a:t>
            </a:r>
            <a:r>
              <a:rPr sz="1080" b="0">
                <a:solidFill>
                  <a:srgbClr val="0B1F3A"/>
                </a:solidFill>
                <a:latin typeface="Segoe UI"/>
              </a:rPr>
              <a:t>s.</a:t>
            </a:r>
          </a:p>
          <a:p>
            <a:pPr algn="l">
              <a:lnSpc>
                <a:spcPct val="116000"/>
              </a:lnSpc>
              <a:spcBef>
                <a:spcPts val="0"/>
              </a:spcBef>
              <a:spcAft>
                <a:spcPts val="0"/>
              </a:spcAft>
            </a:pPr>
            <a:r>
              <a:rPr sz="1080" b="0">
                <a:solidFill>
                  <a:srgbClr val="056ECE"/>
                </a:solidFill>
                <a:latin typeface="Consolas"/>
              </a:rPr>
              <a:t>▸  </a:t>
            </a:r>
            <a:r>
              <a:rPr sz="1080" b="1">
                <a:solidFill>
                  <a:srgbClr val="0B1F3A"/>
                </a:solidFill>
                <a:latin typeface="Segoe UI"/>
              </a:rPr>
              <a:t>Property-based tests</a:t>
            </a:r>
            <a:r>
              <a:rPr sz="1080" b="0">
                <a:solidFill>
                  <a:srgbClr val="0B1F3A"/>
                </a:solidFill>
                <a:latin typeface="Segoe UI"/>
              </a:rPr>
              <a:t> (Hypothesis) over the shipment state machine — the tool that would have found the missing edge rules for free.</a:t>
            </a:r>
          </a:p>
        </p:txBody>
      </p:sp>
      <p:sp>
        <p:nvSpPr>
          <p:cNvPr id="14" name="Rounded Rectangle 13"/>
          <p:cNvSpPr/>
          <p:nvPr/>
        </p:nvSpPr>
        <p:spPr>
          <a:xfrm>
            <a:off x="7444195" y="2876778"/>
            <a:ext cx="4326875" cy="350215"/>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Each is a seminar-length project on its own; I would rather name them than imply they are one sprint away.</a:t>
            </a:r>
          </a:p>
        </p:txBody>
      </p:sp>
      <p:sp>
        <p:nvSpPr>
          <p:cNvPr id="15" name="Rounded Rectangle 14"/>
          <p:cNvSpPr/>
          <p:nvPr/>
        </p:nvSpPr>
        <p:spPr>
          <a:xfrm>
            <a:off x="7316179" y="4548504"/>
            <a:ext cx="4564619" cy="1888871"/>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6" name="Rounded Rectangle 15"/>
          <p:cNvSpPr/>
          <p:nvPr/>
        </p:nvSpPr>
        <p:spPr>
          <a:xfrm>
            <a:off x="7444195" y="4639944"/>
            <a:ext cx="4326875"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a:t>
            </a:r>
            <a:r>
              <a:rPr sz="1180" b="0">
                <a:solidFill>
                  <a:srgbClr val="062B57"/>
                </a:solidFill>
                <a:latin typeface="Segoe UI"/>
              </a:rPr>
              <a:t>What I would keep unchanged</a:t>
            </a:r>
          </a:p>
        </p:txBody>
      </p:sp>
      <p:sp>
        <p:nvSpPr>
          <p:cNvPr id="17" name="Rounded Rectangle 16"/>
          <p:cNvSpPr/>
          <p:nvPr/>
        </p:nvSpPr>
        <p:spPr>
          <a:xfrm>
            <a:off x="7444195" y="4865877"/>
            <a:ext cx="4326875" cy="82753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Decorator-based authorisation, server-owned money fields, the CSPRNG OTP with a persisted attempt counter, the append-only status history, three-layer redaction before any artefact leaves CI, and the rule that the ops agent can read logs but never read its own credential.</a:t>
            </a:r>
          </a:p>
        </p:txBody>
      </p:sp>
      <p:sp>
        <p:nvSpPr>
          <p:cNvPr id="18" name="Rounded Rectangle 17"/>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056ECE"/>
                </a:solidFill>
                <a:latin typeface="Consolas"/>
              </a:rPr>
              <a:t>backend/services.py · the one-word fix</a:t>
            </a:r>
            <a:r>
              <a:rPr sz="830" b="0">
                <a:solidFill>
                  <a:srgbClr val="056ECE"/>
                </a:solidFill>
                <a:latin typeface="Consolas"/>
              </a:rPr>
              <a:t>   ·   .github/workflows/ci.yml · test-sqlite</a:t>
            </a:r>
            <a:r>
              <a:rPr sz="830" b="0">
                <a:solidFill>
                  <a:srgbClr val="056ECE"/>
                </a:solidFill>
                <a:latin typeface="Consolas"/>
              </a:rPr>
              <a:t>   ·   scripts/render_fix.py · unreachable success path</a:t>
            </a:r>
            <a:r>
              <a:rPr sz="830" b="0">
                <a:solidFill>
                  <a:srgbClr val="056ECE"/>
                </a:solidFill>
                <a:latin typeface="Consolas"/>
              </a:rPr>
              <a:t>   ·   docs/PRESENTATION-NOTES.md § 5 · answers 17–20</a:t>
            </a:r>
          </a:p>
        </p:txBody>
      </p:sp>
      <p:sp>
        <p:nvSpPr>
          <p:cNvPr id="19" name="Rounded Rectangle 18"/>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E99B6"/>
                </a:solidFill>
                <a:latin typeface="Consolas"/>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31B39"/>
        </a:solidFill>
        <a:effectLst/>
      </p:bgPr>
    </p:bg>
    <p:spTree>
      <p:nvGrpSpPr>
        <p:cNvPr id="1" name=""/>
        <p:cNvGrpSpPr/>
        <p:nvPr/>
      </p:nvGrpSpPr>
      <p:grpSpPr/>
      <p:sp>
        <p:nvSpPr>
          <p:cNvPr id="2" name="Rounded Rectangle 1"/>
          <p:cNvSpPr/>
          <p:nvPr/>
        </p:nvSpPr>
        <p:spPr>
          <a:xfrm>
            <a:off x="457200" y="274320"/>
            <a:ext cx="11277295" cy="219456"/>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l">
              <a:lnSpc>
                <a:spcPct val="100000"/>
              </a:lnSpc>
              <a:spcBef>
                <a:spcPts val="0"/>
              </a:spcBef>
              <a:spcAft>
                <a:spcPts val="0"/>
              </a:spcAft>
            </a:pPr>
            <a:r>
              <a:rPr sz="950" b="0">
                <a:solidFill>
                  <a:srgbClr val="8FC4F5"/>
                </a:solidFill>
                <a:latin typeface="Segoe UI"/>
              </a:rPr>
              <a:t>17 · CONCLUSION</a:t>
            </a:r>
          </a:p>
        </p:txBody>
      </p:sp>
      <p:sp>
        <p:nvSpPr>
          <p:cNvPr id="3" name="Rounded Rectangle 2"/>
          <p:cNvSpPr/>
          <p:nvPr/>
        </p:nvSpPr>
        <p:spPr>
          <a:xfrm>
            <a:off x="457200" y="512064"/>
            <a:ext cx="11277295" cy="5029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54864"/>
          <a:lstStyle/>
          <a:p>
            <a:pPr algn="l">
              <a:lnSpc>
                <a:spcPct val="98000"/>
              </a:lnSpc>
              <a:spcBef>
                <a:spcPts val="0"/>
              </a:spcBef>
              <a:spcAft>
                <a:spcPts val="0"/>
              </a:spcAft>
            </a:pPr>
            <a:r>
              <a:rPr sz="2250" b="0">
                <a:solidFill>
                  <a:srgbClr val="FFFFFF"/>
                </a:solidFill>
                <a:latin typeface="Segoe UI"/>
              </a:rPr>
              <a:t>A logistics app is easy. Proving what it actually does is the project.</a:t>
            </a:r>
          </a:p>
        </p:txBody>
      </p:sp>
      <p:sp>
        <p:nvSpPr>
          <p:cNvPr id="4" name="Rounded Rectangle 3"/>
          <p:cNvSpPr/>
          <p:nvPr/>
        </p:nvSpPr>
        <p:spPr>
          <a:xfrm>
            <a:off x="457200" y="1042416"/>
            <a:ext cx="5638647" cy="5311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5000"/>
              </a:lnSpc>
              <a:spcBef>
                <a:spcPts val="0"/>
              </a:spcBef>
              <a:spcAft>
                <a:spcPts val="0"/>
              </a:spcAft>
            </a:pPr>
            <a:r>
              <a:rPr sz="1120" b="0">
                <a:solidFill>
                  <a:srgbClr val="0B1F3A"/>
                </a:solidFill>
                <a:latin typeface="Segoe UI"/>
              </a:rPr>
              <a:t>17 · Conclusion</a:t>
            </a:r>
          </a:p>
        </p:txBody>
      </p:sp>
      <p:sp>
        <p:nvSpPr>
          <p:cNvPr id="5" name="Rounded Rectangle 4"/>
          <p:cNvSpPr/>
          <p:nvPr/>
        </p:nvSpPr>
        <p:spPr>
          <a:xfrm>
            <a:off x="6242151" y="1042416"/>
            <a:ext cx="5638647" cy="5311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5000"/>
              </a:lnSpc>
              <a:spcBef>
                <a:spcPts val="0"/>
              </a:spcBef>
              <a:spcAft>
                <a:spcPts val="0"/>
              </a:spcAft>
            </a:pPr>
            <a:r>
              <a:rPr sz="1120" b="1">
                <a:solidFill>
                  <a:srgbClr val="0B1F3A"/>
                </a:solidFill>
                <a:latin typeface="Segoe UI"/>
              </a:rPr>
              <a:t>A logistics app is easy. Proving what it actually does is the project.</a:t>
            </a:r>
          </a:p>
        </p:txBody>
      </p:sp>
      <p:sp>
        <p:nvSpPr>
          <p:cNvPr id="6" name="Rounded Rectangle 5"/>
          <p:cNvSpPr/>
          <p:nvPr/>
        </p:nvSpPr>
        <p:spPr>
          <a:xfrm>
            <a:off x="457200" y="1719864"/>
            <a:ext cx="2819323" cy="2178875"/>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7" name="Rounded Rectangle 6"/>
          <p:cNvSpPr/>
          <p:nvPr/>
        </p:nvSpPr>
        <p:spPr>
          <a:xfrm>
            <a:off x="585216" y="1811304"/>
            <a:ext cx="2581579"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Problem → Solution</a:t>
            </a:r>
          </a:p>
        </p:txBody>
      </p:sp>
      <p:sp>
        <p:nvSpPr>
          <p:cNvPr id="8" name="Rounded Rectangle 7"/>
          <p:cNvSpPr/>
          <p:nvPr/>
        </p:nvSpPr>
        <p:spPr>
          <a:xfrm>
            <a:off x="585216" y="2037237"/>
            <a:ext cx="2581579" cy="1145743"/>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Fragmented shipment status, no proof of delivery, drifting fleet compliance. APEX FLOW answers with one API that binds a booking to an audit trail, an OTP-gated delivery event and an invoice — 26 endpoints, 12 tables, 15 pages, 4 roles.</a:t>
            </a:r>
          </a:p>
        </p:txBody>
      </p:sp>
      <p:sp>
        <p:nvSpPr>
          <p:cNvPr id="9" name="Rounded Rectangle 8"/>
          <p:cNvSpPr/>
          <p:nvPr/>
        </p:nvSpPr>
        <p:spPr>
          <a:xfrm>
            <a:off x="3422827" y="1719864"/>
            <a:ext cx="2819323" cy="2178875"/>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0" name="Rounded Rectangle 9"/>
          <p:cNvSpPr/>
          <p:nvPr/>
        </p:nvSpPr>
        <p:spPr>
          <a:xfrm>
            <a:off x="3550843" y="1811304"/>
            <a:ext cx="2581579"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Key technical achievement</a:t>
            </a:r>
          </a:p>
        </p:txBody>
      </p:sp>
      <p:sp>
        <p:nvSpPr>
          <p:cNvPr id="11" name="Rounded Rectangle 10"/>
          <p:cNvSpPr/>
          <p:nvPr/>
        </p:nvSpPr>
        <p:spPr>
          <a:xfrm>
            <a:off x="3550843" y="2037237"/>
            <a:ext cx="2581579" cy="130484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The security layer is not bolted on: 15 audited findings closed with decorators, allowlists, CSPRNG OTPs, hardened cookies, a PII-redacting structured logger, 7 SAST rules and a deployment agent that cannot leak a token — and I can name the file and function for each.</a:t>
            </a:r>
          </a:p>
        </p:txBody>
      </p:sp>
      <p:sp>
        <p:nvSpPr>
          <p:cNvPr id="12" name="Rounded Rectangle 11"/>
          <p:cNvSpPr/>
          <p:nvPr/>
        </p:nvSpPr>
        <p:spPr>
          <a:xfrm>
            <a:off x="457200" y="4045043"/>
            <a:ext cx="2819323" cy="2392332"/>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3" name="Rounded Rectangle 12"/>
          <p:cNvSpPr/>
          <p:nvPr/>
        </p:nvSpPr>
        <p:spPr>
          <a:xfrm>
            <a:off x="585216" y="4136483"/>
            <a:ext cx="2581579"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What the measurements bought</a:t>
            </a:r>
          </a:p>
        </p:txBody>
      </p:sp>
      <p:sp>
        <p:nvSpPr>
          <p:cNvPr id="14" name="Rounded Rectangle 13"/>
          <p:cNvSpPr/>
          <p:nvPr/>
        </p:nvSpPr>
        <p:spPr>
          <a:xfrm>
            <a:off x="585216" y="4362416"/>
            <a:ext cx="2581579" cy="1304848"/>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They turned a confident feature list into three real bugs — a broken customer booking, an inert rate limit, and a write path that locks itself after one failure — plus proof that the parts that matter (IDOR, mass assignment, OTP lockout, SQL parameterisation) genuinely work.</a:t>
            </a:r>
          </a:p>
        </p:txBody>
      </p:sp>
      <p:sp>
        <p:nvSpPr>
          <p:cNvPr id="15" name="Rounded Rectangle 14"/>
          <p:cNvSpPr/>
          <p:nvPr/>
        </p:nvSpPr>
        <p:spPr>
          <a:xfrm>
            <a:off x="3422827" y="4045043"/>
            <a:ext cx="2819323" cy="2392332"/>
          </a:xfrm>
          <a:prstGeom prst="roundRect">
            <a:avLst>
              <a:gd name="adj" fmla="val 5500"/>
            </a:avLst>
          </a:prstGeom>
          <a:solidFill>
            <a:srgbClr val="FFFFFF"/>
          </a:solidFill>
          <a:ln w="9525">
            <a:solidFill>
              <a:srgbClr val="D5E2E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p:txBody>
      </p:sp>
      <p:sp>
        <p:nvSpPr>
          <p:cNvPr id="16" name="Rounded Rectangle 15"/>
          <p:cNvSpPr/>
          <p:nvPr/>
        </p:nvSpPr>
        <p:spPr>
          <a:xfrm>
            <a:off x="3550843" y="4136483"/>
            <a:ext cx="2581579" cy="18935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05000"/>
              </a:lnSpc>
              <a:spcBef>
                <a:spcPts val="0"/>
              </a:spcBef>
              <a:spcAft>
                <a:spcPts val="0"/>
              </a:spcAft>
            </a:pPr>
            <a:r>
              <a:rPr sz="1180" b="0">
                <a:solidFill>
                  <a:srgbClr val="062B57"/>
                </a:solidFill>
                <a:latin typeface="Segoe UI"/>
              </a:rPr>
              <a:t>What I learned</a:t>
            </a:r>
          </a:p>
        </p:txBody>
      </p:sp>
      <p:sp>
        <p:nvSpPr>
          <p:cNvPr id="17" name="Rounded Rectangle 16"/>
          <p:cNvSpPr/>
          <p:nvPr/>
        </p:nvSpPr>
        <p:spPr>
          <a:xfrm>
            <a:off x="3550843" y="4362416"/>
            <a:ext cx="2581579" cy="986637"/>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6000"/>
              </a:lnSpc>
              <a:spcBef>
                <a:spcPts val="0"/>
              </a:spcBef>
              <a:spcAft>
                <a:spcPts val="0"/>
              </a:spcAft>
            </a:pPr>
            <a:r>
              <a:rPr sz="1080" b="0">
                <a:solidFill>
                  <a:srgbClr val="0B1F3A"/>
                </a:solidFill>
                <a:latin typeface="Segoe UI"/>
              </a:rPr>
              <a:t>Documentation is not enforcement: the audit says a control exists, the code says whether it fires. A single connection written without a </a:t>
            </a:r>
            <a:r>
              <a:rPr sz="1080" b="0">
                <a:solidFill>
                  <a:srgbClr val="056ECE"/>
                </a:solidFill>
                <a:latin typeface="Consolas"/>
              </a:rPr>
              <a:t>finally</a:t>
            </a:r>
            <a:r>
              <a:rPr sz="1080" b="0">
                <a:solidFill>
                  <a:srgbClr val="0B1F3A"/>
                </a:solidFill>
                <a:latin typeface="Segoe UI"/>
              </a:rPr>
              <a:t> is an outage. And a simulation must be labelled, or it becomes a claim.</a:t>
            </a:r>
          </a:p>
        </p:txBody>
      </p:sp>
      <p:sp>
        <p:nvSpPr>
          <p:cNvPr id="18" name="Rounded Rectangle 17"/>
          <p:cNvSpPr/>
          <p:nvPr/>
        </p:nvSpPr>
        <p:spPr>
          <a:xfrm>
            <a:off x="6242151" y="1719864"/>
            <a:ext cx="2819323" cy="471751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2000"/>
              </a:lnSpc>
              <a:spcBef>
                <a:spcPts val="0"/>
              </a:spcBef>
              <a:spcAft>
                <a:spcPts val="0"/>
              </a:spcAft>
            </a:pPr>
            <a:r>
              <a:rPr sz="980" b="0">
                <a:solidFill>
                  <a:srgbClr val="5A6F88"/>
                </a:solidFill>
                <a:latin typeface="Segoe UI"/>
              </a:rPr>
              <a:t>Direction: correctness → tests that run in CI → closed authorisation gaps → real telemetry and routing. Not new pages: the system's surface area is already wider than its verification.</a:t>
            </a:r>
          </a:p>
        </p:txBody>
      </p:sp>
      <p:sp>
        <p:nvSpPr>
          <p:cNvPr id="19" name="Rounded Rectangle 18"/>
          <p:cNvSpPr/>
          <p:nvPr/>
        </p:nvSpPr>
        <p:spPr>
          <a:xfrm>
            <a:off x="9207779" y="1719864"/>
            <a:ext cx="1409661" cy="471751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5000"/>
              </a:lnSpc>
              <a:spcBef>
                <a:spcPts val="0"/>
              </a:spcBef>
              <a:spcAft>
                <a:spcPts val="0"/>
              </a:spcAft>
            </a:pPr>
            <a:r>
              <a:rPr sz="1120" b="0">
                <a:solidFill>
                  <a:srgbClr val="056ECE"/>
                </a:solidFill>
                <a:latin typeface="Consolas"/>
              </a:rPr>
              <a:t>nandan503/Apex-Flow</a:t>
            </a:r>
          </a:p>
        </p:txBody>
      </p:sp>
      <p:sp>
        <p:nvSpPr>
          <p:cNvPr id="20" name="Rounded Rectangle 19"/>
          <p:cNvSpPr/>
          <p:nvPr/>
        </p:nvSpPr>
        <p:spPr>
          <a:xfrm>
            <a:off x="10763745" y="1719864"/>
            <a:ext cx="1409661" cy="4717511"/>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15000"/>
              </a:lnSpc>
              <a:spcBef>
                <a:spcPts val="0"/>
              </a:spcBef>
              <a:spcAft>
                <a:spcPts val="0"/>
              </a:spcAft>
            </a:pPr>
            <a:r>
              <a:rPr sz="1120" b="0">
                <a:solidFill>
                  <a:srgbClr val="0B1F3A"/>
                </a:solidFill>
                <a:latin typeface="Segoe UI"/>
              </a:rPr>
              <a:t>Flask · vanilla JS · SQLite/PostgreSQL · GitHub Actions · Render · README claims an MIT LICENSE that is not in the tree</a:t>
            </a:r>
          </a:p>
        </p:txBody>
      </p:sp>
      <p:sp>
        <p:nvSpPr>
          <p:cNvPr id="21" name="Rounded Rectangle 20"/>
          <p:cNvSpPr/>
          <p:nvPr/>
        </p:nvSpPr>
        <p:spPr>
          <a:xfrm>
            <a:off x="457200" y="6492240"/>
            <a:ext cx="11277295" cy="274320"/>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82296" tIns="18288"/>
          <a:lstStyle/>
          <a:p>
            <a:pPr algn="ctr">
              <a:lnSpc>
                <a:spcPct val="100000"/>
              </a:lnSpc>
            </a:pPr>
            <a:r>
              <a:rPr sz="830" b="0">
                <a:solidFill>
                  <a:srgbClr val="9BB6D2"/>
                </a:solidFill>
                <a:latin typeface="Segoe UI"/>
              </a:rPr>
              <a:t>Slides generated from the repository at commit 47d7308; runtime claims reproduced on a live instance of this checkout on 2026-09-12. Companion document: docs/PRESENTATION-NOTES.md (30 s / 2 min pitches, Q&amp;A, claim→file evidence map, known weak points).</a:t>
            </a:r>
          </a:p>
        </p:txBody>
      </p:sp>
      <p:sp>
        <p:nvSpPr>
          <p:cNvPr id="22" name="Rounded Rectangle 21"/>
          <p:cNvSpPr/>
          <p:nvPr/>
        </p:nvSpPr>
        <p:spPr>
          <a:xfrm>
            <a:off x="11140135" y="6492240"/>
            <a:ext cx="685800" cy="237744"/>
          </a:xfrm>
          <a:prstGeom prst="roundRect">
            <a:avLst>
              <a:gd name="adj" fmla="val 55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54864"/>
          <a:lstStyle/>
          <a:p>
            <a:pPr algn="r"/>
            <a:r>
              <a:rPr sz="850">
                <a:solidFill>
                  <a:srgbClr val="7493B4"/>
                </a:solidFill>
                <a:latin typeface="Consolas"/>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Flow — technical defence</dc:title>
  <dc:subject/>
  <dc:creator>nandan503</dc:creator>
  <cp:keywords/>
  <dc:description>Generated from presentation/index.html by presentation/build_pptx.py. All claims trace to files in this repository; see docs/PRESENTATION-NOTES.md §8.</dc:description>
  <cp:lastModifiedBy>Steve Canny</cp:lastModifiedBy>
  <cp:revision>1</cp:revision>
  <dcterms:created xsi:type="dcterms:W3CDTF">2013-01-27T09:14:16Z</dcterms:created>
  <dcterms:modified xsi:type="dcterms:W3CDTF">2013-01-27T09:15:58Z</dcterms:modified>
  <cp:category/>
</cp:coreProperties>
</file>